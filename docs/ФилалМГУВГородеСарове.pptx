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74" r:id="rId2"/>
  </p:sldMasterIdLst>
  <p:notesMasterIdLst>
    <p:notesMasterId r:id="rId3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90" r:id="rId12"/>
    <p:sldId id="265" r:id="rId13"/>
    <p:sldId id="266" r:id="rId14"/>
    <p:sldId id="267" r:id="rId15"/>
    <p:sldId id="269" r:id="rId16"/>
    <p:sldId id="270" r:id="rId17"/>
    <p:sldId id="271" r:id="rId18"/>
    <p:sldId id="272" r:id="rId19"/>
    <p:sldId id="273" r:id="rId20"/>
    <p:sldId id="292" r:id="rId21"/>
    <p:sldId id="275" r:id="rId22"/>
    <p:sldId id="291" r:id="rId23"/>
    <p:sldId id="277" r:id="rId24"/>
    <p:sldId id="280" r:id="rId25"/>
    <p:sldId id="281" r:id="rId26"/>
    <p:sldId id="282" r:id="rId27"/>
    <p:sldId id="283" r:id="rId28"/>
    <p:sldId id="293" r:id="rId29"/>
    <p:sldId id="294" r:id="rId30"/>
    <p:sldId id="285" r:id="rId31"/>
    <p:sldId id="287" r:id="rId32"/>
    <p:sldId id="288" r:id="rId33"/>
    <p:sldId id="289" r:id="rId3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Proxima Nova" panose="02000506030000020004" pitchFamily="2" charset="0"/>
      <p:regular r:id="rId41"/>
      <p:bold r:id="rId42"/>
      <p:italic r:id="rId43"/>
      <p:boldItalic r:id="rId44"/>
    </p:embeddedFont>
    <p:embeddedFont>
      <p:font typeface="Sora" pitchFamily="2" charset="0"/>
      <p:regular r:id="rId45"/>
      <p:bold r:id="rId46"/>
    </p:embeddedFont>
  </p:embeddedFontLst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C280C17-D1D7-412A-8E92-77597EBAD8E0}">
  <a:tblStyle styleId="{9C280C17-D1D7-412A-8E92-77597EBAD8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03E4CCF-C7AC-4CC9-B811-BF38D1B8462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8"/>
  </p:normalViewPr>
  <p:slideViewPr>
    <p:cSldViewPr snapToGrid="0">
      <p:cViewPr>
        <p:scale>
          <a:sx n="97" d="100"/>
          <a:sy n="97" d="100"/>
        </p:scale>
        <p:origin x="1664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командный блокнот pinn_eos_colab_ipynb, сохранённые код и выводы. Ноутбук не запускался при подготовке презентации.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командный блокнот pinn_eos_colab_ipynb, сохранённые код и выводы. Ноутбук не запускался при подготовке презентации.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командный блокнот pinn_eos_colab_ipynb, сохранённые код и выводы. Ноутбук не запускался при подготовке презентации.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командный блокнот pinn_eos_colab_ipynb, сохранённые код и выводы. Ноутбук не запускался при подготовке презентации.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командный блокнот pinn_eos_colab_ipynb, сохранённые код и выводы. Ноутбук не запускался при подготовке презентации.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командный блокнот pinn_eos_colab_ipynb, сохранённые код и выводы. Ноутбук не запускался при подготовке презентации.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командный блокнот pinn_eos_colab_ipynb, сохранённые код и выводы. Ноутбук не запускался при подготовке презентации.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блокнот «Копия_Копия_Копия_блокнота__pinn_eos_colab_ipynb_ (1).ipynb», ячейка 15–16 (индекс с нуля). Использованы сохранённые код и выводы; при подготовке презентации код ноутбука не запускался.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блокнот «Копия_Копия_Копия_блокнота__pinn_eos_colab_ipynb_ (1).ipynb», ячейка 13, 15–16 (индекс с нуля). Использованы сохранённые код и выводы; при подготовке презентации код ноутбука не запускался.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командный блокнот pinn_eos_colab_ipynb, сохранённые код и выводы. Ноутбук не запускался при подготовке презентации.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блокнот «Копия_Копия_Копия_блокнота__pinn_eos_colab_ipynb_ (1).ipynb», ячейка 22 (индекс с нуля). Использованы сохранённые код и выводы; при подготовке презентации код ноутбука не запускался.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командный блокнот pinn_eos_colab_ipynb, сохранённые код и выводы. Ноутбук не запускался при подготовке презентации.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командный блокнот pinn_eos_colab_ipynb, сохранённые код и выводы. Ноутбук не запускался при подготовке презентации.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командный блокнот pinn_eos_colab_ipynb, сохранённые код и выводы. Ноутбук не запускался при подготовке презентации.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блокнот «Копия_Копия_Копия_блокнота__pinn_eos_colab_ipynb_ (1).ipynb», ячейка 38 (индекс с нуля). Использованы сохранённые код и выводы; при подготовке презентации код ноутбука не запускался.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блокнот «Копия_Копия_Копия_блокнота__pinn_eos_colab_ipynb_ (1).ipynb», ячейка 39 (индекс с нуля). Использованы сохранённые код и выводы; при подготовке презентации код ноутбука не запускался.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командный блокнот pinn_eos_colab (разделы 3–4, код и комментарии). Выводы ячеек с численными результатами PINN в присланном файле не сохранены, поэтому числа PINN на слайдах не приводятся. Состав функции потерь — по комментарию к ячейке 3.1 (CFG: lam mono_rho, mono_T, sound).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A6D07-936E-7620-8AE7-90ADE3553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E084DD-EE67-A2E8-D90A-E48CF41CF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A1D83-B26E-4430-9077-69BF3EE8F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командный блокнот pinn_eos_colab (разделы 3–4, код и комментарии). Выводы ячеек с численными результатами PINN в присланном файле не сохранены, поэтому числа PINN на слайдах не приводятся. Отношение 0,5 — из комментария к ячейке 3.1 (pn.table_consistency).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333FA-6CA2-4A3C-C3EF-53D43935EC0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10210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блокнот «Копия_Копия_Копия_блокнота__pinn_eos_colab_ipynb_ (1).ipynb», ячейка 44 (индекс с нуля). Использованы сохранённые код и выводы; при подготовке презентации код ноутбука не запускался.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блокнот «Копия_Копия_Копия_блокнота__pinn_eos_colab_ipynb_ (1).ipynb», ячейка 46 (индекс с нуля). Использованы сохранённые код и выводы; при подготовке презентации код ноутбука не запускался.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командный блокнот pinn_eos_colab (разделы 3–4, код и комментарии). Выводы ячеек с численными результатами PINN в присланном файле не сохранены, поэтому числа PINN на слайдах не приводятся. Варианты сжатия — ячейка 4.4 (save_fp16, compress_int8_weights, compress_int8).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блокнот «Копия_Копия_Копия_блокнота__pinn_eos_colab_ipynb_ (3).ipynb», раздел 5.4, ячейка 68 (индекс с нуля), сохранённые выводы. Ранг 64: медиана ошибки P до дообучения 17,6529%, нарушения механической/термической устойчивости 11,5529% / 6,1533%. Первые 64 сингулярных числа сохраняют 89,5%, 85,3%, 87,1% энергии матриц. После: P 0,3329%, E 0,3993%, p99 P 2,5333%; нарушений механической, термической устойчивости и скорости звука на проверенной выборке 0%. Файл float16 0,1962 МиБ, 100354 параметра; CPU ONNX 0,4012 с на 100000 запросов. Ранг 32: файл 0,1024 МиБ, ошибки P/E 0,4322%/0,5019%; нарушения 0%/0,0071%/0,0001%. Сравнение CPU с исходной ONNX 0,5371 с из раздела 5.3. Нулевые доли относятся к выполненным проверкам и не являются доказательством для всего непрерывного домена. Ноутбук при подготовке слайда не запускался.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итоговая таблица блокнота (ячейка 4.5, metrics_final.csv). Ошибки PINN — во float64, нарушения Vanilla — во float32 (часть из них — шум округления).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блокнот «Копия_Копия_Копия_блокнота__pinn_eos_colab_ipynb_ (1).ipynb», ячейка 48 (индекс с нуля). Использованы сохранённые код и выводы; при подготовке презентации код ноутбука не запускался.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BA83E-1E0F-5256-725F-5830E68B2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9D579-84B2-38B3-2B52-A8084B880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C967D-C03F-6FD9-A9C8-7CFD04795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блокнот «Копия_Копия_Копия_блокнота__pinn_eos_colab_ipynb_ (1).ipynb», ячейка 48 (индекс с нуля). Использованы сохранённые код и выводы; при подготовке презентации код ноутбука не запускался.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5ED25-7BDA-A472-2E16-29A905C2663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73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5F2E4-67C0-80D5-16DD-A3D1D9EE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BEE1F-C603-9F2E-5EB8-B3907E72D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09A98-72A7-E137-1E88-F4E92C6CD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блокнот «Копия_Копия_Копия_блокнота__pinn_eos_colab_ipynb_ (1).ipynb», ячейка 48 (индекс с нуля). Использованы сохранённые код и выводы; при подготовке презентации код ноутбука не запускался.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9B864-E586-2DFB-6835-9BD4EBC9C76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23172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Итоговая таблица блокнота (ячейка 4.5). Baseline считается только на CPU; время Vanilla на CPU не измерялось. Время float16 совпадает с PINN: после загрузки веса переводятся в рабочую точность.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блокнот «Копия_Копия_Копия_блокнота__pinn_eos_colab_ipynb_ (1).ipynb», ячейка 66 (индекс с нуля). Использованы сохранённые код и выводы; при подготовке презентации код ноутбука не запускался.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Числа — из итоговой таблицы (слайд 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приложенный командный блокнот pinn_eos_colab_ipynb, сохранённые код и выводы. Ноутбук не запускался при подготовке презентации.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>
            <a:extLst>
              <a:ext uri="{FF2B5EF4-FFF2-40B4-BE49-F238E27FC236}">
                <a16:creationId xmlns:a16="http://schemas.microsoft.com/office/drawing/2014/main" id="{4182C739-BD82-47E8-A122-7AC11FA6C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00" y="1360775"/>
            <a:ext cx="4906200" cy="16812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A611B68D-6E9B-443D-B299-906751911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00" y="3274276"/>
            <a:ext cx="4906200" cy="405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B25E3934-ED69-4F33-AA0E-44BC6C56AFEB}"/>
              </a:ext>
            </a:extLst>
          </p:cNvPr>
          <p:cNvSpPr>
            <a:spLocks noGrp="1"/>
          </p:cNvSpPr>
          <p:nvPr/>
        </p:nvSpPr>
        <p:spPr>
          <a:xfrm rot="-7951736" flipH="1">
            <a:off x="3529926" y="-1809034"/>
            <a:ext cx="7047570" cy="5408002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>
            <a:extLst>
              <a:ext uri="{FF2B5EF4-FFF2-40B4-BE49-F238E27FC236}">
                <a16:creationId xmlns:a16="http://schemas.microsoft.com/office/drawing/2014/main" id="{93E7E1F1-B75A-4089-86D6-B8CAB523178D}"/>
              </a:ext>
            </a:extLst>
          </p:cNvPr>
          <p:cNvSpPr>
            <a:spLocks noGrp="1"/>
          </p:cNvSpPr>
          <p:nvPr/>
        </p:nvSpPr>
        <p:spPr>
          <a:xfrm flipH="1">
            <a:off x="62" y="4240596"/>
            <a:ext cx="9143876" cy="1028740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>
            <a:extLst>
              <a:ext uri="{FF2B5EF4-FFF2-40B4-BE49-F238E27FC236}">
                <a16:creationId xmlns:a16="http://schemas.microsoft.com/office/drawing/2014/main" id="{21CC853C-03CA-4928-BB70-C2754ADBCCD6}"/>
              </a:ext>
            </a:extLst>
          </p:cNvPr>
          <p:cNvSpPr>
            <a:spLocks noGrp="1"/>
          </p:cNvSpPr>
          <p:nvPr/>
        </p:nvSpPr>
        <p:spPr>
          <a:xfrm>
            <a:off x="62" y="4240596"/>
            <a:ext cx="9143876" cy="1028740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A914FCBB-B656-4044-AEAE-1BF0D0516201}"/>
              </a:ext>
            </a:extLst>
          </p:cNvPr>
          <p:cNvSpPr>
            <a:spLocks noGrp="1"/>
          </p:cNvSpPr>
          <p:nvPr/>
        </p:nvSpPr>
        <p:spPr>
          <a:xfrm rot="10800000" flipH="1">
            <a:off x="62" y="-4"/>
            <a:ext cx="9143876" cy="1028740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639DA9DD-A4BD-42FE-BE98-3423C97CBF7C}"/>
              </a:ext>
            </a:extLst>
          </p:cNvPr>
          <p:cNvSpPr>
            <a:spLocks noGrp="1"/>
          </p:cNvSpPr>
          <p:nvPr/>
        </p:nvSpPr>
        <p:spPr>
          <a:xfrm rot="10800000">
            <a:off x="62" y="-4"/>
            <a:ext cx="9143876" cy="1028740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27977428-D394-42EA-BB66-D2A03C58F0CA}"/>
              </a:ext>
            </a:extLst>
          </p:cNvPr>
          <p:cNvSpPr>
            <a:spLocks noGrp="1"/>
          </p:cNvSpPr>
          <p:nvPr/>
        </p:nvSpPr>
        <p:spPr>
          <a:xfrm rot="2991695" flipH="1">
            <a:off x="-1739643" y="2268050"/>
            <a:ext cx="7047826" cy="5408198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>
            <a:extLst>
              <a:ext uri="{FF2B5EF4-FFF2-40B4-BE49-F238E27FC236}">
                <a16:creationId xmlns:a16="http://schemas.microsoft.com/office/drawing/2014/main" id="{E69FD1A7-606E-4A52-9793-95C640495B16}"/>
              </a:ext>
            </a:extLst>
          </p:cNvPr>
          <p:cNvSpPr>
            <a:spLocks noGrp="1"/>
          </p:cNvSpPr>
          <p:nvPr/>
        </p:nvSpPr>
        <p:spPr>
          <a:xfrm rot="-1203209" flipH="1">
            <a:off x="3937413" y="2268118"/>
            <a:ext cx="7047648" cy="5408061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F0A48B90-A5AD-46BD-A177-2B480C38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250" y="2510783"/>
            <a:ext cx="3943500" cy="949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09B74621-27DF-4DF6-B2EC-CF72ECE2B93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4013250" y="1440383"/>
            <a:ext cx="1117500" cy="841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>
            <a:extLst>
              <a:ext uri="{FF2B5EF4-FFF2-40B4-BE49-F238E27FC236}">
                <a16:creationId xmlns:a16="http://schemas.microsoft.com/office/drawing/2014/main" id="{A53A91E7-A572-4EDC-AC29-8D5B34DCC1F2}"/>
              </a:ext>
            </a:extLst>
          </p:cNvPr>
          <p:cNvSpPr>
            <a:spLocks noGrp="1"/>
          </p:cNvSpPr>
          <p:nvPr/>
        </p:nvSpPr>
        <p:spPr>
          <a:xfrm rot="-5400000">
            <a:off x="-532920" y="2211056"/>
            <a:ext cx="16972364" cy="721385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>
            <a:extLst>
              <a:ext uri="{FF2B5EF4-FFF2-40B4-BE49-F238E27FC236}">
                <a16:creationId xmlns:a16="http://schemas.microsoft.com/office/drawing/2014/main" id="{C3F78B5D-0FC1-40FD-A38F-55C900D7F100}"/>
              </a:ext>
            </a:extLst>
          </p:cNvPr>
          <p:cNvSpPr>
            <a:spLocks noGrp="1"/>
          </p:cNvSpPr>
          <p:nvPr/>
        </p:nvSpPr>
        <p:spPr>
          <a:xfrm rot="-5400000" flipH="1">
            <a:off x="-191288" y="2314638"/>
            <a:ext cx="16972364" cy="514421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>
            <a:extLst>
              <a:ext uri="{FF2B5EF4-FFF2-40B4-BE49-F238E27FC236}">
                <a16:creationId xmlns:a16="http://schemas.microsoft.com/office/drawing/2014/main" id="{FDE74C4E-C492-4138-9A4F-53FAD9D6548D}"/>
              </a:ext>
            </a:extLst>
          </p:cNvPr>
          <p:cNvSpPr>
            <a:spLocks noGrp="1"/>
          </p:cNvSpPr>
          <p:nvPr/>
        </p:nvSpPr>
        <p:spPr>
          <a:xfrm rot="8100000" flipH="1">
            <a:off x="-3366161" y="-1648851"/>
            <a:ext cx="7047622" cy="5408042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>
            <a:extLst>
              <a:ext uri="{FF2B5EF4-FFF2-40B4-BE49-F238E27FC236}">
                <a16:creationId xmlns:a16="http://schemas.microsoft.com/office/drawing/2014/main" id="{88A76DC1-6D74-4113-BDB0-0E9A86A8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57633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>
            <a:extLst>
              <a:ext uri="{FF2B5EF4-FFF2-40B4-BE49-F238E27FC236}">
                <a16:creationId xmlns:a16="http://schemas.microsoft.com/office/drawing/2014/main" id="{91B97374-2400-4D6A-BE0B-215369EB9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52475"/>
            <a:ext cx="57633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rgbClr val="434343"/>
                </a:solidFill>
              </a:defRPr>
            </a:lvl1pPr>
            <a:lvl2pPr marL="9144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>
            <a:extLst>
              <a:ext uri="{FF2B5EF4-FFF2-40B4-BE49-F238E27FC236}">
                <a16:creationId xmlns:a16="http://schemas.microsoft.com/office/drawing/2014/main" id="{BE6BF8A8-1A64-4933-8950-2316A7B9BDBA}"/>
              </a:ext>
            </a:extLst>
          </p:cNvPr>
          <p:cNvSpPr>
            <a:spLocks noGrp="1"/>
          </p:cNvSpPr>
          <p:nvPr/>
        </p:nvSpPr>
        <p:spPr>
          <a:xfrm rot="-5400000">
            <a:off x="4655318" y="2211056"/>
            <a:ext cx="7872328" cy="721385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>
            <a:extLst>
              <a:ext uri="{FF2B5EF4-FFF2-40B4-BE49-F238E27FC236}">
                <a16:creationId xmlns:a16="http://schemas.microsoft.com/office/drawing/2014/main" id="{A8F3618E-AD87-446E-8C27-64BB5B729576}"/>
              </a:ext>
            </a:extLst>
          </p:cNvPr>
          <p:cNvSpPr>
            <a:spLocks noGrp="1"/>
          </p:cNvSpPr>
          <p:nvPr/>
        </p:nvSpPr>
        <p:spPr>
          <a:xfrm rot="-5400000" flipH="1">
            <a:off x="4839413" y="2331420"/>
            <a:ext cx="7872328" cy="480857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>
            <a:extLst>
              <a:ext uri="{FF2B5EF4-FFF2-40B4-BE49-F238E27FC236}">
                <a16:creationId xmlns:a16="http://schemas.microsoft.com/office/drawing/2014/main" id="{52724A12-8068-427B-BB4A-E173F5CC6968}"/>
              </a:ext>
            </a:extLst>
          </p:cNvPr>
          <p:cNvSpPr>
            <a:spLocks noGrp="1"/>
          </p:cNvSpPr>
          <p:nvPr/>
        </p:nvSpPr>
        <p:spPr>
          <a:xfrm rot="5400000" flipH="1">
            <a:off x="-3328197" y="595553"/>
            <a:ext cx="7047571" cy="5408003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>
            <a:extLst>
              <a:ext uri="{FF2B5EF4-FFF2-40B4-BE49-F238E27FC236}">
                <a16:creationId xmlns:a16="http://schemas.microsoft.com/office/drawing/2014/main" id="{8C535D22-9538-4EBF-9221-96A954EC2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>
            <a:endParaRPr/>
          </a:p>
        </p:txBody>
      </p:sp>
      <p:sp>
        <p:nvSpPr>
          <p:cNvPr id="37" name="Google Shape;37;p5">
            <a:extLst>
              <a:ext uri="{FF2B5EF4-FFF2-40B4-BE49-F238E27FC236}">
                <a16:creationId xmlns:a16="http://schemas.microsoft.com/office/drawing/2014/main" id="{55296316-EB37-4EBE-B522-B8DDE04F3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6578" y="2345558"/>
            <a:ext cx="2673000" cy="1445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>
            <a:extLst>
              <a:ext uri="{FF2B5EF4-FFF2-40B4-BE49-F238E27FC236}">
                <a16:creationId xmlns:a16="http://schemas.microsoft.com/office/drawing/2014/main" id="{046D9475-12FD-4277-876B-589DBFBF1C97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524422" y="2345557"/>
            <a:ext cx="2673000" cy="1445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>
            <a:extLst>
              <a:ext uri="{FF2B5EF4-FFF2-40B4-BE49-F238E27FC236}">
                <a16:creationId xmlns:a16="http://schemas.microsoft.com/office/drawing/2014/main" id="{9C9198C8-1ED3-4F5E-8207-1F4533190FB8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524422" y="1695700"/>
            <a:ext cx="2673000" cy="558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40" name="Google Shape;40;p5">
            <a:extLst>
              <a:ext uri="{FF2B5EF4-FFF2-40B4-BE49-F238E27FC236}">
                <a16:creationId xmlns:a16="http://schemas.microsoft.com/office/drawing/2014/main" id="{2F9AB6CA-E018-46EF-8EAA-FD68C1D3412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946578" y="1695700"/>
            <a:ext cx="2673000" cy="558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>
            <a:extLst>
              <a:ext uri="{FF2B5EF4-FFF2-40B4-BE49-F238E27FC236}">
                <a16:creationId xmlns:a16="http://schemas.microsoft.com/office/drawing/2014/main" id="{F8691362-5985-429A-810D-8A1F4AB6B0B5}"/>
              </a:ext>
            </a:extLst>
          </p:cNvPr>
          <p:cNvSpPr>
            <a:spLocks noGrp="1"/>
          </p:cNvSpPr>
          <p:nvPr/>
        </p:nvSpPr>
        <p:spPr>
          <a:xfrm flipH="1">
            <a:off x="62" y="4240596"/>
            <a:ext cx="9143876" cy="1028740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7">
            <a:extLst>
              <a:ext uri="{FF2B5EF4-FFF2-40B4-BE49-F238E27FC236}">
                <a16:creationId xmlns:a16="http://schemas.microsoft.com/office/drawing/2014/main" id="{7EE9BD1B-70D0-418A-A41F-1B50953D1E8A}"/>
              </a:ext>
            </a:extLst>
          </p:cNvPr>
          <p:cNvSpPr>
            <a:spLocks noGrp="1"/>
          </p:cNvSpPr>
          <p:nvPr/>
        </p:nvSpPr>
        <p:spPr>
          <a:xfrm>
            <a:off x="62" y="4240596"/>
            <a:ext cx="9143876" cy="1028740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7">
            <a:extLst>
              <a:ext uri="{FF2B5EF4-FFF2-40B4-BE49-F238E27FC236}">
                <a16:creationId xmlns:a16="http://schemas.microsoft.com/office/drawing/2014/main" id="{81DD4E1B-76D0-499F-B36F-92CE754143C2}"/>
              </a:ext>
            </a:extLst>
          </p:cNvPr>
          <p:cNvSpPr>
            <a:spLocks noGrp="1"/>
          </p:cNvSpPr>
          <p:nvPr/>
        </p:nvSpPr>
        <p:spPr>
          <a:xfrm rot="-10320869" flipH="1">
            <a:off x="-1556381" y="-2799617"/>
            <a:ext cx="7047645" cy="5408059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>
            <a:extLst>
              <a:ext uri="{FF2B5EF4-FFF2-40B4-BE49-F238E27FC236}">
                <a16:creationId xmlns:a16="http://schemas.microsoft.com/office/drawing/2014/main" id="{43A1B418-940B-45FF-8BD8-E9FF40B86797}"/>
              </a:ext>
            </a:extLst>
          </p:cNvPr>
          <p:cNvSpPr>
            <a:spLocks noGrp="1"/>
          </p:cNvSpPr>
          <p:nvPr/>
        </p:nvSpPr>
        <p:spPr>
          <a:xfrm rot="-6177391" flipH="1">
            <a:off x="5734195" y="-1117063"/>
            <a:ext cx="7047715" cy="5408112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7">
            <a:extLst>
              <a:ext uri="{FF2B5EF4-FFF2-40B4-BE49-F238E27FC236}">
                <a16:creationId xmlns:a16="http://schemas.microsoft.com/office/drawing/2014/main" id="{E7A542A2-166D-4752-9CAA-47EBDAE71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826" y="1072050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>
            <a:extLst>
              <a:ext uri="{FF2B5EF4-FFF2-40B4-BE49-F238E27FC236}">
                <a16:creationId xmlns:a16="http://schemas.microsoft.com/office/drawing/2014/main" id="{8563AA9F-14FA-4E36-9E00-EAA488DB1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826" y="1644750"/>
            <a:ext cx="3852000" cy="2426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7">
            <a:extLst>
              <a:ext uri="{FF2B5EF4-FFF2-40B4-BE49-F238E27FC236}">
                <a16:creationId xmlns:a16="http://schemas.microsoft.com/office/drawing/2014/main" id="{98D83993-E2B0-489F-AA50-1B0C0C981C5A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551375" y="1119587"/>
            <a:ext cx="2399700" cy="2904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>
            <a:extLst>
              <a:ext uri="{FF2B5EF4-FFF2-40B4-BE49-F238E27FC236}">
                <a16:creationId xmlns:a16="http://schemas.microsoft.com/office/drawing/2014/main" id="{B2FDD624-B2BA-4891-B901-987EE1E762FB}"/>
              </a:ext>
            </a:extLst>
          </p:cNvPr>
          <p:cNvSpPr>
            <a:spLocks noGrp="1"/>
          </p:cNvSpPr>
          <p:nvPr/>
        </p:nvSpPr>
        <p:spPr>
          <a:xfrm rot="-2848264">
            <a:off x="3529876" y="1720616"/>
            <a:ext cx="7047570" cy="5408002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1DAD4EA3-B7D9-49C7-9FAA-463AA8A806C8}"/>
              </a:ext>
            </a:extLst>
          </p:cNvPr>
          <p:cNvSpPr>
            <a:spLocks noGrp="1"/>
          </p:cNvSpPr>
          <p:nvPr/>
        </p:nvSpPr>
        <p:spPr>
          <a:xfrm>
            <a:off x="-112" y="50247"/>
            <a:ext cx="9143876" cy="1028740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>
            <a:extLst>
              <a:ext uri="{FF2B5EF4-FFF2-40B4-BE49-F238E27FC236}">
                <a16:creationId xmlns:a16="http://schemas.microsoft.com/office/drawing/2014/main" id="{E12B27CB-2E1C-41CF-9743-FCF35A3CDDE7}"/>
              </a:ext>
            </a:extLst>
          </p:cNvPr>
          <p:cNvSpPr>
            <a:spLocks noGrp="1"/>
          </p:cNvSpPr>
          <p:nvPr/>
        </p:nvSpPr>
        <p:spPr>
          <a:xfrm flipH="1">
            <a:off x="-112" y="50247"/>
            <a:ext cx="9143876" cy="1028740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>
            <a:extLst>
              <a:ext uri="{FF2B5EF4-FFF2-40B4-BE49-F238E27FC236}">
                <a16:creationId xmlns:a16="http://schemas.microsoft.com/office/drawing/2014/main" id="{2B674ACA-6722-41EE-883D-D898730E8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>
            <a:extLst>
              <a:ext uri="{FF2B5EF4-FFF2-40B4-BE49-F238E27FC236}">
                <a16:creationId xmlns:a16="http://schemas.microsoft.com/office/drawing/2014/main" id="{67F82D23-A921-4FB6-B99B-A0C9CCD5F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8CFC4536-7542-4BB7-B19A-BB2F6A586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>
            <a:extLst>
              <a:ext uri="{FF2B5EF4-FFF2-40B4-BE49-F238E27FC236}">
                <a16:creationId xmlns:a16="http://schemas.microsoft.com/office/drawing/2014/main" id="{15BFDF10-B9D1-4828-8362-9A325F2498AE}"/>
              </a:ext>
            </a:extLst>
          </p:cNvPr>
          <p:cNvSpPr>
            <a:spLocks noGrp="1"/>
          </p:cNvSpPr>
          <p:nvPr/>
        </p:nvSpPr>
        <p:spPr>
          <a:xfrm rot="-5400000" flipH="1">
            <a:off x="-14634233" y="2211006"/>
            <a:ext cx="5143297" cy="721385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>
            <a:extLst>
              <a:ext uri="{FF2B5EF4-FFF2-40B4-BE49-F238E27FC236}">
                <a16:creationId xmlns:a16="http://schemas.microsoft.com/office/drawing/2014/main" id="{D0CFD9A5-2A91-48EC-B6B0-D80320BED7B3}"/>
              </a:ext>
            </a:extLst>
          </p:cNvPr>
          <p:cNvSpPr>
            <a:spLocks noGrp="1"/>
          </p:cNvSpPr>
          <p:nvPr/>
        </p:nvSpPr>
        <p:spPr>
          <a:xfrm rot="-5400000">
            <a:off x="-14757685" y="2334607"/>
            <a:ext cx="5143297" cy="474383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9">
            <a:extLst>
              <a:ext uri="{FF2B5EF4-FFF2-40B4-BE49-F238E27FC236}">
                <a16:creationId xmlns:a16="http://schemas.microsoft.com/office/drawing/2014/main" id="{B2014937-75D4-447B-9557-06BBDB7A97BF}"/>
              </a:ext>
            </a:extLst>
          </p:cNvPr>
          <p:cNvSpPr>
            <a:spLocks noGrp="1"/>
          </p:cNvSpPr>
          <p:nvPr/>
        </p:nvSpPr>
        <p:spPr>
          <a:xfrm rot="-7199932">
            <a:off x="5862782" y="-1602105"/>
            <a:ext cx="7047454" cy="5407913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>
            <a:extLst>
              <a:ext uri="{FF2B5EF4-FFF2-40B4-BE49-F238E27FC236}">
                <a16:creationId xmlns:a16="http://schemas.microsoft.com/office/drawing/2014/main" id="{D73F4CFD-DB1F-450B-8C2E-BB13CCE70C6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>
            <a:extLst>
              <a:ext uri="{FF2B5EF4-FFF2-40B4-BE49-F238E27FC236}">
                <a16:creationId xmlns:a16="http://schemas.microsoft.com/office/drawing/2014/main" id="{68F92A86-AC2E-4294-B5D6-79AF168AA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>
            <a:extLst>
              <a:ext uri="{FF2B5EF4-FFF2-40B4-BE49-F238E27FC236}">
                <a16:creationId xmlns:a16="http://schemas.microsoft.com/office/drawing/2014/main" id="{B3427F74-29E2-470D-AC5F-A0855882AD60}"/>
              </a:ext>
            </a:extLst>
          </p:cNvPr>
          <p:cNvSpPr>
            <a:spLocks noGrp="1"/>
          </p:cNvSpPr>
          <p:nvPr/>
        </p:nvSpPr>
        <p:spPr>
          <a:xfrm rot="5400000">
            <a:off x="1947863" y="3474937"/>
            <a:ext cx="5267252" cy="2602940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1">
            <a:extLst>
              <a:ext uri="{FF2B5EF4-FFF2-40B4-BE49-F238E27FC236}">
                <a16:creationId xmlns:a16="http://schemas.microsoft.com/office/drawing/2014/main" id="{38800FBF-3DDC-472E-9ACA-1D6DEFB91ED5}"/>
              </a:ext>
            </a:extLst>
          </p:cNvPr>
          <p:cNvSpPr>
            <a:spLocks noGrp="1"/>
          </p:cNvSpPr>
          <p:nvPr/>
        </p:nvSpPr>
        <p:spPr>
          <a:xfrm rot="5400000" flipH="1">
            <a:off x="1681038" y="3938943"/>
            <a:ext cx="5267252" cy="1674611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1">
            <a:extLst>
              <a:ext uri="{FF2B5EF4-FFF2-40B4-BE49-F238E27FC236}">
                <a16:creationId xmlns:a16="http://schemas.microsoft.com/office/drawing/2014/main" id="{47A827A4-7D45-40D5-A0B7-F1FE65F9ACC7}"/>
              </a:ext>
            </a:extLst>
          </p:cNvPr>
          <p:cNvSpPr>
            <a:spLocks noGrp="1"/>
          </p:cNvSpPr>
          <p:nvPr/>
        </p:nvSpPr>
        <p:spPr>
          <a:xfrm rot="-8674605" flipH="1">
            <a:off x="2767888" y="-2601252"/>
            <a:ext cx="7047518" cy="5407962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1">
            <a:extLst>
              <a:ext uri="{FF2B5EF4-FFF2-40B4-BE49-F238E27FC236}">
                <a16:creationId xmlns:a16="http://schemas.microsoft.com/office/drawing/2014/main" id="{5A70F665-FE56-4552-8900-689B2CFD2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4000" y="1581975"/>
            <a:ext cx="6576000" cy="9627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9" name="Google Shape;79;p11">
            <a:extLst>
              <a:ext uri="{FF2B5EF4-FFF2-40B4-BE49-F238E27FC236}">
                <a16:creationId xmlns:a16="http://schemas.microsoft.com/office/drawing/2014/main" id="{95D59C6B-B545-497B-B4E0-278470707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4000" y="26195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>
            <a:extLst>
              <a:ext uri="{FF2B5EF4-FFF2-40B4-BE49-F238E27FC236}">
                <a16:creationId xmlns:a16="http://schemas.microsoft.com/office/drawing/2014/main" id="{C73DCD8B-DC02-42E8-A98F-BF265C5DE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3921" y="1328475"/>
            <a:ext cx="844500" cy="447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9pPr>
          </a:lstStyle>
          <a:p>
            <a:r>
              <a:t>xx%</a:t>
            </a:r>
          </a:p>
        </p:txBody>
      </p:sp>
      <p:sp>
        <p:nvSpPr>
          <p:cNvPr id="83" name="Google Shape;83;p13">
            <a:extLst>
              <a:ext uri="{FF2B5EF4-FFF2-40B4-BE49-F238E27FC236}">
                <a16:creationId xmlns:a16="http://schemas.microsoft.com/office/drawing/2014/main" id="{B3EAB08C-DD3F-4478-925E-D680D33F75B3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2673921" y="3581349"/>
            <a:ext cx="844500" cy="447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9pPr>
          </a:lstStyle>
          <a:p>
            <a:r>
              <a:t>xx%</a:t>
            </a:r>
          </a:p>
        </p:txBody>
      </p:sp>
      <p:sp>
        <p:nvSpPr>
          <p:cNvPr id="84" name="Google Shape;84;p13">
            <a:extLst>
              <a:ext uri="{FF2B5EF4-FFF2-40B4-BE49-F238E27FC236}">
                <a16:creationId xmlns:a16="http://schemas.microsoft.com/office/drawing/2014/main" id="{9F938E13-D0B4-4AFD-979A-551D824B5885}"/>
              </a:ext>
            </a:extLst>
          </p:cNvPr>
          <p:cNvSpPr>
            <a:spLocks noGrp="1"/>
          </p:cNvSpPr>
          <p:nvPr>
            <p:ph type="title" idx="3" hasCustomPrompt="1"/>
          </p:nvPr>
        </p:nvSpPr>
        <p:spPr>
          <a:xfrm>
            <a:off x="2673921" y="2454908"/>
            <a:ext cx="844500" cy="447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9pPr>
          </a:lstStyle>
          <a:p>
            <a:r>
              <a:t>xx%</a:t>
            </a:r>
          </a:p>
        </p:txBody>
      </p:sp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8698EC18-FA61-477C-AEF9-76E8FDBCB38A}"/>
              </a:ext>
            </a:extLst>
          </p:cNvPr>
          <p:cNvSpPr>
            <a:spLocks noGrp="1"/>
          </p:cNvSpPr>
          <p:nvPr>
            <p:ph type="title" idx="4" hasCustomPrompt="1"/>
          </p:nvPr>
        </p:nvSpPr>
        <p:spPr>
          <a:xfrm>
            <a:off x="5625733" y="2460704"/>
            <a:ext cx="844500" cy="447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9pPr>
          </a:lstStyle>
          <a:p>
            <a:r>
              <a:t>xx%</a:t>
            </a:r>
          </a:p>
        </p:txBody>
      </p:sp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EC85C76B-E06E-44E8-B5F6-619B53EA0834}"/>
              </a:ext>
            </a:extLst>
          </p:cNvPr>
          <p:cNvSpPr>
            <a:spLocks noGrp="1"/>
          </p:cNvSpPr>
          <p:nvPr>
            <p:ph type="title" idx="5" hasCustomPrompt="1"/>
          </p:nvPr>
        </p:nvSpPr>
        <p:spPr>
          <a:xfrm>
            <a:off x="5625733" y="1328475"/>
            <a:ext cx="844500" cy="447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9pPr>
          </a:lstStyle>
          <a:p>
            <a:r>
              <a:t>xx%</a:t>
            </a:r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AA6E7EC9-CEDB-4BB2-A843-A6881E478C9C}"/>
              </a:ext>
            </a:extLst>
          </p:cNvPr>
          <p:cNvSpPr>
            <a:spLocks noGrp="1"/>
          </p:cNvSpPr>
          <p:nvPr>
            <p:ph type="title" idx="6" hasCustomPrompt="1"/>
          </p:nvPr>
        </p:nvSpPr>
        <p:spPr>
          <a:xfrm>
            <a:off x="5625733" y="3581349"/>
            <a:ext cx="844500" cy="447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9pPr>
          </a:lstStyle>
          <a:p>
            <a:r>
              <a:t>xx%</a:t>
            </a:r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2D30D4F6-CF37-413B-B24D-F7BEAB100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1894" y="1827973"/>
            <a:ext cx="2588400" cy="447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0C0CD0C0-E3AC-46CC-B3F3-13FD97B98221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1801894" y="2954437"/>
            <a:ext cx="2588400" cy="447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19AC3C5A-466D-4F2B-8EE2-8900FD4AC1DF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1801894" y="4080902"/>
            <a:ext cx="2588400" cy="447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9D6D5EC2-BB7C-4D2D-931F-317910CF6561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4753706" y="2960256"/>
            <a:ext cx="2588400" cy="447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2B7993BD-A3F4-4830-96CF-49A4F3321651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753706" y="4080902"/>
            <a:ext cx="2588400" cy="447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93" name="Google Shape;93;p13">
            <a:extLst>
              <a:ext uri="{FF2B5EF4-FFF2-40B4-BE49-F238E27FC236}">
                <a16:creationId xmlns:a16="http://schemas.microsoft.com/office/drawing/2014/main" id="{0ECD9235-F65E-4D8B-A3D4-49427A1BA26E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753706" y="1839586"/>
            <a:ext cx="2588400" cy="447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95" name="Google Shape;95;p13">
            <a:extLst>
              <a:ext uri="{FF2B5EF4-FFF2-40B4-BE49-F238E27FC236}">
                <a16:creationId xmlns:a16="http://schemas.microsoft.com/office/drawing/2014/main" id="{83714D48-8153-4F25-964D-EEC1888BAA63}"/>
              </a:ext>
            </a:extLst>
          </p:cNvPr>
          <p:cNvSpPr>
            <a:spLocks noGrp="1"/>
          </p:cNvSpPr>
          <p:nvPr/>
        </p:nvSpPr>
        <p:spPr>
          <a:xfrm rot="5400000">
            <a:off x="-1781053" y="1781241"/>
            <a:ext cx="5143297" cy="1581110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3">
            <a:extLst>
              <a:ext uri="{FF2B5EF4-FFF2-40B4-BE49-F238E27FC236}">
                <a16:creationId xmlns:a16="http://schemas.microsoft.com/office/drawing/2014/main" id="{DBE36228-098D-474A-A2EC-D21A6473E4BB}"/>
              </a:ext>
            </a:extLst>
          </p:cNvPr>
          <p:cNvSpPr>
            <a:spLocks noGrp="1"/>
          </p:cNvSpPr>
          <p:nvPr/>
        </p:nvSpPr>
        <p:spPr>
          <a:xfrm rot="5400000" flipH="1">
            <a:off x="-2070474" y="2070527"/>
            <a:ext cx="5143297" cy="1002349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>
            <a:extLst>
              <a:ext uri="{FF2B5EF4-FFF2-40B4-BE49-F238E27FC236}">
                <a16:creationId xmlns:a16="http://schemas.microsoft.com/office/drawing/2014/main" id="{9D4ACB30-E384-4EDB-A2CC-B4652BD56BDC}"/>
              </a:ext>
            </a:extLst>
          </p:cNvPr>
          <p:cNvSpPr>
            <a:spLocks noGrp="1"/>
          </p:cNvSpPr>
          <p:nvPr/>
        </p:nvSpPr>
        <p:spPr>
          <a:xfrm rot="-5793611">
            <a:off x="5108914" y="667251"/>
            <a:ext cx="7047727" cy="5408122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>
            <a:extLst>
              <a:ext uri="{FF2B5EF4-FFF2-40B4-BE49-F238E27FC236}">
                <a16:creationId xmlns:a16="http://schemas.microsoft.com/office/drawing/2014/main" id="{58226827-9455-4311-A79C-26FFC6A0DB47}"/>
              </a:ext>
            </a:extLst>
          </p:cNvPr>
          <p:cNvSpPr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163B88B7-9426-49E2-8F0F-05737CA4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FAA5B94C-4C83-43D3-AEEE-23B5A681585F}"/>
              </a:ext>
            </a:extLst>
          </p:cNvPr>
          <p:cNvSpPr>
            <a:spLocks noGrp="1"/>
          </p:cNvSpPr>
          <p:nvPr/>
        </p:nvSpPr>
        <p:spPr>
          <a:xfrm flipH="1">
            <a:off x="50" y="4819621"/>
            <a:ext cx="9143876" cy="449868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18EDABCD-F032-41B5-881F-4E0F3C1931C7}"/>
              </a:ext>
            </a:extLst>
          </p:cNvPr>
          <p:cNvSpPr>
            <a:spLocks noGrp="1"/>
          </p:cNvSpPr>
          <p:nvPr/>
        </p:nvSpPr>
        <p:spPr>
          <a:xfrm>
            <a:off x="50" y="4819621"/>
            <a:ext cx="9143876" cy="449868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4">
            <a:extLst>
              <a:ext uri="{FF2B5EF4-FFF2-40B4-BE49-F238E27FC236}">
                <a16:creationId xmlns:a16="http://schemas.microsoft.com/office/drawing/2014/main" id="{7EEFDC7B-89A3-4630-B787-4CF72F071547}"/>
              </a:ext>
            </a:extLst>
          </p:cNvPr>
          <p:cNvSpPr>
            <a:spLocks noGrp="1"/>
          </p:cNvSpPr>
          <p:nvPr/>
        </p:nvSpPr>
        <p:spPr>
          <a:xfrm rot="9424676" flipH="1">
            <a:off x="-2604885" y="-2229434"/>
            <a:ext cx="7047918" cy="5408269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F9D92565-0BC9-405C-B4BA-35291830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>
            <a:extLst>
              <a:ext uri="{FF2B5EF4-FFF2-40B4-BE49-F238E27FC236}">
                <a16:creationId xmlns:a16="http://schemas.microsoft.com/office/drawing/2014/main" id="{A14CBCBB-F6BB-4651-98A4-2CD48BC3D650}"/>
              </a:ext>
            </a:extLst>
          </p:cNvPr>
          <p:cNvSpPr>
            <a:spLocks noGrp="1"/>
          </p:cNvSpPr>
          <p:nvPr/>
        </p:nvSpPr>
        <p:spPr>
          <a:xfrm rot="5400000">
            <a:off x="-429016" y="1781235"/>
            <a:ext cx="1239018" cy="1581110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>
            <a:extLst>
              <a:ext uri="{FF2B5EF4-FFF2-40B4-BE49-F238E27FC236}">
                <a16:creationId xmlns:a16="http://schemas.microsoft.com/office/drawing/2014/main" id="{BEBF96D7-5B7F-4769-BA0E-DFF38DDE17ED}"/>
              </a:ext>
            </a:extLst>
          </p:cNvPr>
          <p:cNvSpPr>
            <a:spLocks noGrp="1"/>
          </p:cNvSpPr>
          <p:nvPr/>
        </p:nvSpPr>
        <p:spPr>
          <a:xfrm rot="5400000" flipH="1">
            <a:off x="-429016" y="1781143"/>
            <a:ext cx="1239018" cy="1581110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5">
            <a:extLst>
              <a:ext uri="{FF2B5EF4-FFF2-40B4-BE49-F238E27FC236}">
                <a16:creationId xmlns:a16="http://schemas.microsoft.com/office/drawing/2014/main" id="{5DFD24C3-3A52-4C52-BDB3-F1A8750A53B5}"/>
              </a:ext>
            </a:extLst>
          </p:cNvPr>
          <p:cNvSpPr>
            <a:spLocks noGrp="1"/>
          </p:cNvSpPr>
          <p:nvPr/>
        </p:nvSpPr>
        <p:spPr>
          <a:xfrm rot="-1761608" flipH="1">
            <a:off x="4904819" y="1482620"/>
            <a:ext cx="7048168" cy="5408460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>
            <a:extLst>
              <a:ext uri="{FF2B5EF4-FFF2-40B4-BE49-F238E27FC236}">
                <a16:creationId xmlns:a16="http://schemas.microsoft.com/office/drawing/2014/main" id="{B1436831-34C2-4F96-9D3E-7A7A7368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6">
            <a:extLst>
              <a:ext uri="{FF2B5EF4-FFF2-40B4-BE49-F238E27FC236}">
                <a16:creationId xmlns:a16="http://schemas.microsoft.com/office/drawing/2014/main" id="{8C6CC5AA-5CAB-4A2A-A365-29AF91BF3A75}"/>
              </a:ext>
            </a:extLst>
          </p:cNvPr>
          <p:cNvSpPr>
            <a:spLocks noGrp="1"/>
          </p:cNvSpPr>
          <p:nvPr/>
        </p:nvSpPr>
        <p:spPr>
          <a:xfrm rot="10800000" flipH="1">
            <a:off x="50" y="-2"/>
            <a:ext cx="9143876" cy="525892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6">
            <a:extLst>
              <a:ext uri="{FF2B5EF4-FFF2-40B4-BE49-F238E27FC236}">
                <a16:creationId xmlns:a16="http://schemas.microsoft.com/office/drawing/2014/main" id="{D2F9995A-5414-404C-9932-65CA469E7022}"/>
              </a:ext>
            </a:extLst>
          </p:cNvPr>
          <p:cNvSpPr>
            <a:spLocks noGrp="1"/>
          </p:cNvSpPr>
          <p:nvPr/>
        </p:nvSpPr>
        <p:spPr>
          <a:xfrm rot="10800000">
            <a:off x="50" y="-2"/>
            <a:ext cx="9143876" cy="525892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6">
            <a:extLst>
              <a:ext uri="{FF2B5EF4-FFF2-40B4-BE49-F238E27FC236}">
                <a16:creationId xmlns:a16="http://schemas.microsoft.com/office/drawing/2014/main" id="{3E896A4D-8E75-4C81-860F-A8F20B333ABF}"/>
              </a:ext>
            </a:extLst>
          </p:cNvPr>
          <p:cNvSpPr>
            <a:spLocks noGrp="1"/>
          </p:cNvSpPr>
          <p:nvPr/>
        </p:nvSpPr>
        <p:spPr>
          <a:xfrm rot="1909010" flipH="1">
            <a:off x="-1153076" y="2930738"/>
            <a:ext cx="7048160" cy="5408454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EB59EAB6-037B-4CE5-B3C5-B8638F48E7B3}"/>
              </a:ext>
            </a:extLst>
          </p:cNvPr>
          <p:cNvSpPr>
            <a:spLocks noGrp="1"/>
          </p:cNvSpPr>
          <p:nvPr/>
        </p:nvSpPr>
        <p:spPr>
          <a:xfrm rot="-5400000">
            <a:off x="-532916" y="2211056"/>
            <a:ext cx="16972356" cy="721385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7">
            <a:extLst>
              <a:ext uri="{FF2B5EF4-FFF2-40B4-BE49-F238E27FC236}">
                <a16:creationId xmlns:a16="http://schemas.microsoft.com/office/drawing/2014/main" id="{628A2BD9-3EF8-412B-9095-E9074440EC9F}"/>
              </a:ext>
            </a:extLst>
          </p:cNvPr>
          <p:cNvSpPr>
            <a:spLocks noGrp="1"/>
          </p:cNvSpPr>
          <p:nvPr/>
        </p:nvSpPr>
        <p:spPr>
          <a:xfrm rot="-5400000" flipH="1">
            <a:off x="-170921" y="2320863"/>
            <a:ext cx="16972356" cy="501971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7">
            <a:extLst>
              <a:ext uri="{FF2B5EF4-FFF2-40B4-BE49-F238E27FC236}">
                <a16:creationId xmlns:a16="http://schemas.microsoft.com/office/drawing/2014/main" id="{79DC1384-8E96-453B-8B31-F62558086715}"/>
              </a:ext>
            </a:extLst>
          </p:cNvPr>
          <p:cNvSpPr>
            <a:spLocks noGrp="1"/>
          </p:cNvSpPr>
          <p:nvPr/>
        </p:nvSpPr>
        <p:spPr>
          <a:xfrm rot="7154954" flipH="1">
            <a:off x="-2585066" y="-810543"/>
            <a:ext cx="7047515" cy="5407959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>
            <a:extLst>
              <a:ext uri="{FF2B5EF4-FFF2-40B4-BE49-F238E27FC236}">
                <a16:creationId xmlns:a16="http://schemas.microsoft.com/office/drawing/2014/main" id="{45BF1E13-206E-49B9-9BED-08A4265E47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2838" y="2013157"/>
            <a:ext cx="3492600" cy="76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17">
            <a:extLst>
              <a:ext uri="{FF2B5EF4-FFF2-40B4-BE49-F238E27FC236}">
                <a16:creationId xmlns:a16="http://schemas.microsoft.com/office/drawing/2014/main" id="{C00198AD-4762-4726-8CCA-FA0E0D8CF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2850" y="2772075"/>
            <a:ext cx="3492600" cy="35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17">
            <a:extLst>
              <a:ext uri="{FF2B5EF4-FFF2-40B4-BE49-F238E27FC236}">
                <a16:creationId xmlns:a16="http://schemas.microsoft.com/office/drawing/2014/main" id="{38DE4625-FFC9-4590-B0E1-BF9781E5BBCF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2112850" y="534989"/>
            <a:ext cx="3492600" cy="76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17">
            <a:extLst>
              <a:ext uri="{FF2B5EF4-FFF2-40B4-BE49-F238E27FC236}">
                <a16:creationId xmlns:a16="http://schemas.microsoft.com/office/drawing/2014/main" id="{2F28175A-651D-4B30-A533-1C88F3FC6F41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112850" y="1293901"/>
            <a:ext cx="3492600" cy="35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17">
            <a:extLst>
              <a:ext uri="{FF2B5EF4-FFF2-40B4-BE49-F238E27FC236}">
                <a16:creationId xmlns:a16="http://schemas.microsoft.com/office/drawing/2014/main" id="{767EA6F0-8E25-44DC-8DF4-A5038ACACED3}"/>
              </a:ext>
            </a:extLst>
          </p:cNvPr>
          <p:cNvSpPr>
            <a:spLocks noGrp="1"/>
          </p:cNvSpPr>
          <p:nvPr>
            <p:ph type="title" idx="4" hasCustomPrompt="1"/>
          </p:nvPr>
        </p:nvSpPr>
        <p:spPr>
          <a:xfrm>
            <a:off x="2112838" y="3491325"/>
            <a:ext cx="3492600" cy="76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7">
            <a:extLst>
              <a:ext uri="{FF2B5EF4-FFF2-40B4-BE49-F238E27FC236}">
                <a16:creationId xmlns:a16="http://schemas.microsoft.com/office/drawing/2014/main" id="{02FF939B-28E9-43AF-AAFF-B145402A498C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2112850" y="4250249"/>
            <a:ext cx="3492600" cy="35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DDFF9450-12A4-4C2D-90AF-6C6E661A11F9}"/>
              </a:ext>
            </a:extLst>
          </p:cNvPr>
          <p:cNvSpPr>
            <a:spLocks noGrp="1"/>
          </p:cNvSpPr>
          <p:nvPr/>
        </p:nvSpPr>
        <p:spPr>
          <a:xfrm rot="5400000">
            <a:off x="-810887" y="1781236"/>
            <a:ext cx="2341745" cy="1581110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>
            <a:extLst>
              <a:ext uri="{FF2B5EF4-FFF2-40B4-BE49-F238E27FC236}">
                <a16:creationId xmlns:a16="http://schemas.microsoft.com/office/drawing/2014/main" id="{6497403F-734E-4636-ADEE-12D8DEF5FCE8}"/>
              </a:ext>
            </a:extLst>
          </p:cNvPr>
          <p:cNvSpPr>
            <a:spLocks noGrp="1"/>
          </p:cNvSpPr>
          <p:nvPr/>
        </p:nvSpPr>
        <p:spPr>
          <a:xfrm rot="5400000" flipH="1">
            <a:off x="-950937" y="2088804"/>
            <a:ext cx="2341745" cy="965797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>
            <a:extLst>
              <a:ext uri="{FF2B5EF4-FFF2-40B4-BE49-F238E27FC236}">
                <a16:creationId xmlns:a16="http://schemas.microsoft.com/office/drawing/2014/main" id="{718EE4BB-24D2-42D0-B2A5-834EF4A6A341}"/>
              </a:ext>
            </a:extLst>
          </p:cNvPr>
          <p:cNvSpPr>
            <a:spLocks noGrp="1"/>
          </p:cNvSpPr>
          <p:nvPr/>
        </p:nvSpPr>
        <p:spPr>
          <a:xfrm rot="-4541674" flipH="1">
            <a:off x="5405027" y="-1096746"/>
            <a:ext cx="7048022" cy="5408349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8">
            <a:extLst>
              <a:ext uri="{FF2B5EF4-FFF2-40B4-BE49-F238E27FC236}">
                <a16:creationId xmlns:a16="http://schemas.microsoft.com/office/drawing/2014/main" id="{B0816886-EFAA-49C0-872F-EE5C5C75A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838" y="568825"/>
            <a:ext cx="3123900" cy="1045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8">
            <a:extLst>
              <a:ext uri="{FF2B5EF4-FFF2-40B4-BE49-F238E27FC236}">
                <a16:creationId xmlns:a16="http://schemas.microsoft.com/office/drawing/2014/main" id="{561F6A1E-61D3-4816-A9E4-DBA0BD9505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838" y="1669975"/>
            <a:ext cx="3123900" cy="895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8">
            <a:extLst>
              <a:ext uri="{FF2B5EF4-FFF2-40B4-BE49-F238E27FC236}">
                <a16:creationId xmlns:a16="http://schemas.microsoft.com/office/drawing/2014/main" id="{73109A53-5A37-4964-AD0D-39A724DCBC6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6318861" y="535000"/>
            <a:ext cx="2109900" cy="41040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8">
            <a:extLst>
              <a:ext uri="{FF2B5EF4-FFF2-40B4-BE49-F238E27FC236}">
                <a16:creationId xmlns:a16="http://schemas.microsoft.com/office/drawing/2014/main" id="{DDBE20F6-55A8-4AF5-8716-1C80B9882965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086775" y="2701799"/>
            <a:ext cx="2418600" cy="19371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8">
            <a:extLst>
              <a:ext uri="{FF2B5EF4-FFF2-40B4-BE49-F238E27FC236}">
                <a16:creationId xmlns:a16="http://schemas.microsoft.com/office/drawing/2014/main" id="{455E3761-770D-4945-BDC2-163C0BA53B81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3590956" y="2701774"/>
            <a:ext cx="2642400" cy="19371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8">
            <a:extLst>
              <a:ext uri="{FF2B5EF4-FFF2-40B4-BE49-F238E27FC236}">
                <a16:creationId xmlns:a16="http://schemas.microsoft.com/office/drawing/2014/main" id="{0DD37A35-3118-4FB2-A21A-01C4D5E99225}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4581654" y="535000"/>
            <a:ext cx="1651500" cy="2064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36DFF1D2-83D6-4FF8-B76A-8A758238BB7E}"/>
              </a:ext>
            </a:extLst>
          </p:cNvPr>
          <p:cNvSpPr>
            <a:spLocks noGrp="1"/>
          </p:cNvSpPr>
          <p:nvPr/>
        </p:nvSpPr>
        <p:spPr>
          <a:xfrm rot="10800000" flipH="1">
            <a:off x="50" y="3"/>
            <a:ext cx="9143876" cy="1314420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9">
            <a:extLst>
              <a:ext uri="{FF2B5EF4-FFF2-40B4-BE49-F238E27FC236}">
                <a16:creationId xmlns:a16="http://schemas.microsoft.com/office/drawing/2014/main" id="{DEDF5A3F-7B22-4E56-BCA5-336ACEE4FB97}"/>
              </a:ext>
            </a:extLst>
          </p:cNvPr>
          <p:cNvSpPr>
            <a:spLocks noGrp="1"/>
          </p:cNvSpPr>
          <p:nvPr/>
        </p:nvSpPr>
        <p:spPr>
          <a:xfrm rot="10800000">
            <a:off x="49" y="-13"/>
            <a:ext cx="9143876" cy="1104663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A75BECE8-ABFB-458F-A5E5-117819D36C5F}"/>
              </a:ext>
            </a:extLst>
          </p:cNvPr>
          <p:cNvSpPr>
            <a:spLocks noGrp="1"/>
          </p:cNvSpPr>
          <p:nvPr/>
        </p:nvSpPr>
        <p:spPr>
          <a:xfrm rot="2551994" flipH="1">
            <a:off x="-1671388" y="2383929"/>
            <a:ext cx="7048056" cy="5408375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9">
            <a:extLst>
              <a:ext uri="{FF2B5EF4-FFF2-40B4-BE49-F238E27FC236}">
                <a16:creationId xmlns:a16="http://schemas.microsoft.com/office/drawing/2014/main" id="{4ECED868-48BF-4A25-8F0B-21500D488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657350"/>
            <a:ext cx="3833100" cy="1077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9">
            <a:extLst>
              <a:ext uri="{FF2B5EF4-FFF2-40B4-BE49-F238E27FC236}">
                <a16:creationId xmlns:a16="http://schemas.microsoft.com/office/drawing/2014/main" id="{433EC5BE-73B9-48B7-99DF-22325CA80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2790975"/>
            <a:ext cx="3833100" cy="952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9">
            <a:extLst>
              <a:ext uri="{FF2B5EF4-FFF2-40B4-BE49-F238E27FC236}">
                <a16:creationId xmlns:a16="http://schemas.microsoft.com/office/drawing/2014/main" id="{5F6E461E-A7FA-4EBB-B989-AC6E96931E6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551375" y="1348187"/>
            <a:ext cx="2399700" cy="2904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>
            <a:extLst>
              <a:ext uri="{FF2B5EF4-FFF2-40B4-BE49-F238E27FC236}">
                <a16:creationId xmlns:a16="http://schemas.microsoft.com/office/drawing/2014/main" id="{1582B14D-19EC-441F-B67C-42F8472B1EDE}"/>
              </a:ext>
            </a:extLst>
          </p:cNvPr>
          <p:cNvSpPr>
            <a:spLocks noGrp="1"/>
          </p:cNvSpPr>
          <p:nvPr/>
        </p:nvSpPr>
        <p:spPr>
          <a:xfrm flipH="1">
            <a:off x="50" y="4608659"/>
            <a:ext cx="9143876" cy="660863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0">
            <a:extLst>
              <a:ext uri="{FF2B5EF4-FFF2-40B4-BE49-F238E27FC236}">
                <a16:creationId xmlns:a16="http://schemas.microsoft.com/office/drawing/2014/main" id="{46915D7E-190C-499A-A74C-43C230029D03}"/>
              </a:ext>
            </a:extLst>
          </p:cNvPr>
          <p:cNvSpPr>
            <a:spLocks noGrp="1"/>
          </p:cNvSpPr>
          <p:nvPr/>
        </p:nvSpPr>
        <p:spPr>
          <a:xfrm>
            <a:off x="50" y="4608659"/>
            <a:ext cx="9143876" cy="660863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0">
            <a:extLst>
              <a:ext uri="{FF2B5EF4-FFF2-40B4-BE49-F238E27FC236}">
                <a16:creationId xmlns:a16="http://schemas.microsoft.com/office/drawing/2014/main" id="{90D09437-AA00-4419-AA54-7F4A71204702}"/>
              </a:ext>
            </a:extLst>
          </p:cNvPr>
          <p:cNvSpPr>
            <a:spLocks noGrp="1"/>
          </p:cNvSpPr>
          <p:nvPr/>
        </p:nvSpPr>
        <p:spPr>
          <a:xfrm rot="-7871057" flipH="1">
            <a:off x="4406151" y="-2410729"/>
            <a:ext cx="7047493" cy="5407943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>
            <a:extLst>
              <a:ext uri="{FF2B5EF4-FFF2-40B4-BE49-F238E27FC236}">
                <a16:creationId xmlns:a16="http://schemas.microsoft.com/office/drawing/2014/main" id="{5F37C97A-A725-4DF9-9E36-CE36864E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0">
            <a:extLst>
              <a:ext uri="{FF2B5EF4-FFF2-40B4-BE49-F238E27FC236}">
                <a16:creationId xmlns:a16="http://schemas.microsoft.com/office/drawing/2014/main" id="{AAB836D8-1AE1-4FF6-A78E-9000FE865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52475"/>
            <a:ext cx="7704000" cy="74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>
                <a:solidFill>
                  <a:srgbClr val="434343"/>
                </a:solidFill>
              </a:defRPr>
            </a:lvl1pPr>
            <a:lvl2pPr marL="9144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E9597444-F6E8-4700-96F7-584F1EC4F99D}"/>
              </a:ext>
            </a:extLst>
          </p:cNvPr>
          <p:cNvSpPr>
            <a:spLocks noGrp="1"/>
          </p:cNvSpPr>
          <p:nvPr/>
        </p:nvSpPr>
        <p:spPr>
          <a:xfrm flipH="1">
            <a:off x="50" y="4636552"/>
            <a:ext cx="9143876" cy="660863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10E875B8-BF8F-4B45-88E2-E2794B47F281}"/>
              </a:ext>
            </a:extLst>
          </p:cNvPr>
          <p:cNvSpPr>
            <a:spLocks noGrp="1"/>
          </p:cNvSpPr>
          <p:nvPr/>
        </p:nvSpPr>
        <p:spPr>
          <a:xfrm>
            <a:off x="50" y="4636552"/>
            <a:ext cx="9143876" cy="660863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1">
            <a:extLst>
              <a:ext uri="{FF2B5EF4-FFF2-40B4-BE49-F238E27FC236}">
                <a16:creationId xmlns:a16="http://schemas.microsoft.com/office/drawing/2014/main" id="{B25748C7-7974-4BF3-BC55-36362A5FFE75}"/>
              </a:ext>
            </a:extLst>
          </p:cNvPr>
          <p:cNvSpPr>
            <a:spLocks noGrp="1"/>
          </p:cNvSpPr>
          <p:nvPr/>
        </p:nvSpPr>
        <p:spPr>
          <a:xfrm rot="-8482081" flipH="1">
            <a:off x="4599986" y="-2708159"/>
            <a:ext cx="7048174" cy="5408465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0B910095-D4DD-4DAB-A64F-F112A60D6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1">
            <a:extLst>
              <a:ext uri="{FF2B5EF4-FFF2-40B4-BE49-F238E27FC236}">
                <a16:creationId xmlns:a16="http://schemas.microsoft.com/office/drawing/2014/main" id="{35DCF48C-0543-4F8C-B754-894282B69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100" y="1026439"/>
            <a:ext cx="7704000" cy="997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21">
            <a:extLst>
              <a:ext uri="{FF2B5EF4-FFF2-40B4-BE49-F238E27FC236}">
                <a16:creationId xmlns:a16="http://schemas.microsoft.com/office/drawing/2014/main" id="{422B48AD-D53B-4A81-B10C-AD59D5AF306B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15100" y="2023939"/>
            <a:ext cx="7704000" cy="1476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21">
            <a:extLst>
              <a:ext uri="{FF2B5EF4-FFF2-40B4-BE49-F238E27FC236}">
                <a16:creationId xmlns:a16="http://schemas.microsoft.com/office/drawing/2014/main" id="{8114409A-8750-4CAD-A146-02124F76573A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715100" y="3500050"/>
            <a:ext cx="7704000" cy="997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76E916B5-678D-4241-A4F7-57A7E6A0CC8C}"/>
              </a:ext>
            </a:extLst>
          </p:cNvPr>
          <p:cNvSpPr>
            <a:spLocks noGrp="1"/>
          </p:cNvSpPr>
          <p:nvPr/>
        </p:nvSpPr>
        <p:spPr>
          <a:xfrm rot="5400000">
            <a:off x="-810887" y="1781235"/>
            <a:ext cx="2341745" cy="1581110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5B39CD40-1776-4A28-89F3-4CB289CF0B51}"/>
              </a:ext>
            </a:extLst>
          </p:cNvPr>
          <p:cNvSpPr>
            <a:spLocks noGrp="1"/>
          </p:cNvSpPr>
          <p:nvPr/>
        </p:nvSpPr>
        <p:spPr>
          <a:xfrm rot="5400000" flipH="1">
            <a:off x="-810887" y="1781143"/>
            <a:ext cx="2341745" cy="1581110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55CB9FB9-C17F-428B-9A2E-248654AAA4E9}"/>
              </a:ext>
            </a:extLst>
          </p:cNvPr>
          <p:cNvSpPr>
            <a:spLocks noGrp="1"/>
          </p:cNvSpPr>
          <p:nvPr/>
        </p:nvSpPr>
        <p:spPr>
          <a:xfrm rot="-1245301" flipH="1">
            <a:off x="4539539" y="1518265"/>
            <a:ext cx="7047545" cy="5407983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2">
            <a:extLst>
              <a:ext uri="{FF2B5EF4-FFF2-40B4-BE49-F238E27FC236}">
                <a16:creationId xmlns:a16="http://schemas.microsoft.com/office/drawing/2014/main" id="{62DDBDD3-A5E1-4375-9AAF-B5A6980FC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>
            <a:endParaRPr/>
          </a:p>
        </p:txBody>
      </p:sp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DE1B2482-774C-4163-A145-B8FFC044A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6963" y="2351226"/>
            <a:ext cx="2165400" cy="1766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2">
            <a:extLst>
              <a:ext uri="{FF2B5EF4-FFF2-40B4-BE49-F238E27FC236}">
                <a16:creationId xmlns:a16="http://schemas.microsoft.com/office/drawing/2014/main" id="{FD63D181-D324-45CB-84B1-3677C83A1E5E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489749" y="2351224"/>
            <a:ext cx="2164500" cy="1766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2">
            <a:extLst>
              <a:ext uri="{FF2B5EF4-FFF2-40B4-BE49-F238E27FC236}">
                <a16:creationId xmlns:a16="http://schemas.microsoft.com/office/drawing/2014/main" id="{811952B3-DA91-4914-867B-CC4D3AA13A03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5871636" y="2351224"/>
            <a:ext cx="2164500" cy="1766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2">
            <a:extLst>
              <a:ext uri="{FF2B5EF4-FFF2-40B4-BE49-F238E27FC236}">
                <a16:creationId xmlns:a16="http://schemas.microsoft.com/office/drawing/2014/main" id="{A9606233-A67B-4645-9CFD-64692524F4D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06963" y="1578076"/>
            <a:ext cx="2164500" cy="7731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173" name="Google Shape;173;p22">
            <a:extLst>
              <a:ext uri="{FF2B5EF4-FFF2-40B4-BE49-F238E27FC236}">
                <a16:creationId xmlns:a16="http://schemas.microsoft.com/office/drawing/2014/main" id="{FD3C63C9-BF94-4D28-BEC6-DCAA2CE13E81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3489300" y="1578076"/>
            <a:ext cx="2164500" cy="7731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174" name="Google Shape;174;p22">
            <a:extLst>
              <a:ext uri="{FF2B5EF4-FFF2-40B4-BE49-F238E27FC236}">
                <a16:creationId xmlns:a16="http://schemas.microsoft.com/office/drawing/2014/main" id="{3F609631-4E1B-47A2-93CF-09B8447FBF55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5871637" y="1578075"/>
            <a:ext cx="2165400" cy="7731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>
            <a:extLst>
              <a:ext uri="{FF2B5EF4-FFF2-40B4-BE49-F238E27FC236}">
                <a16:creationId xmlns:a16="http://schemas.microsoft.com/office/drawing/2014/main" id="{E1A0E29D-50AB-4FC0-AA40-50031CA5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>
            <a:endParaRPr/>
          </a:p>
        </p:txBody>
      </p:sp>
      <p:sp>
        <p:nvSpPr>
          <p:cNvPr id="177" name="Google Shape;177;p23">
            <a:extLst>
              <a:ext uri="{FF2B5EF4-FFF2-40B4-BE49-F238E27FC236}">
                <a16:creationId xmlns:a16="http://schemas.microsoft.com/office/drawing/2014/main" id="{5BF18FFC-B0D6-44AB-BB45-D3D489F12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725" y="1148895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178" name="Google Shape;178;p23">
            <a:extLst>
              <a:ext uri="{FF2B5EF4-FFF2-40B4-BE49-F238E27FC236}">
                <a16:creationId xmlns:a16="http://schemas.microsoft.com/office/drawing/2014/main" id="{433FC3D6-A0AC-4E5A-95FF-07474434B47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163726" y="1674795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3">
            <a:extLst>
              <a:ext uri="{FF2B5EF4-FFF2-40B4-BE49-F238E27FC236}">
                <a16:creationId xmlns:a16="http://schemas.microsoft.com/office/drawing/2014/main" id="{0FC5608D-6A1B-4356-826C-9EE4139F647C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5013252" y="1674795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3">
            <a:extLst>
              <a:ext uri="{FF2B5EF4-FFF2-40B4-BE49-F238E27FC236}">
                <a16:creationId xmlns:a16="http://schemas.microsoft.com/office/drawing/2014/main" id="{791E3F89-3AFF-4C4F-A0A0-64AE634FE83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63726" y="3391880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3">
            <a:extLst>
              <a:ext uri="{FF2B5EF4-FFF2-40B4-BE49-F238E27FC236}">
                <a16:creationId xmlns:a16="http://schemas.microsoft.com/office/drawing/2014/main" id="{561AB98F-9E44-4783-BCF3-4FA29C38BDC0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013252" y="3391880"/>
            <a:ext cx="29670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3">
            <a:extLst>
              <a:ext uri="{FF2B5EF4-FFF2-40B4-BE49-F238E27FC236}">
                <a16:creationId xmlns:a16="http://schemas.microsoft.com/office/drawing/2014/main" id="{C6C237CC-0EC9-4597-A7C8-867E953026F1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1163725" y="2865980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183" name="Google Shape;183;p23">
            <a:extLst>
              <a:ext uri="{FF2B5EF4-FFF2-40B4-BE49-F238E27FC236}">
                <a16:creationId xmlns:a16="http://schemas.microsoft.com/office/drawing/2014/main" id="{CFB55B8B-49BD-4F6A-8435-DA4C425E41D5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5013250" y="1148895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184" name="Google Shape;184;p23">
            <a:extLst>
              <a:ext uri="{FF2B5EF4-FFF2-40B4-BE49-F238E27FC236}">
                <a16:creationId xmlns:a16="http://schemas.microsoft.com/office/drawing/2014/main" id="{C4A80B27-C7D9-4AA9-93DB-DEF438A031C8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5013250" y="2865980"/>
            <a:ext cx="29670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186" name="Google Shape;186;p23">
            <a:extLst>
              <a:ext uri="{FF2B5EF4-FFF2-40B4-BE49-F238E27FC236}">
                <a16:creationId xmlns:a16="http://schemas.microsoft.com/office/drawing/2014/main" id="{0E95A73B-7D4E-40B7-BE80-B7F878410C88}"/>
              </a:ext>
            </a:extLst>
          </p:cNvPr>
          <p:cNvSpPr>
            <a:spLocks noGrp="1"/>
          </p:cNvSpPr>
          <p:nvPr/>
        </p:nvSpPr>
        <p:spPr>
          <a:xfrm rot="10800000" flipH="1">
            <a:off x="50" y="-2"/>
            <a:ext cx="9143876" cy="525892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3">
            <a:extLst>
              <a:ext uri="{FF2B5EF4-FFF2-40B4-BE49-F238E27FC236}">
                <a16:creationId xmlns:a16="http://schemas.microsoft.com/office/drawing/2014/main" id="{5BCDBA53-B0C7-49FA-A9E9-7DC99F6E6C2F}"/>
              </a:ext>
            </a:extLst>
          </p:cNvPr>
          <p:cNvSpPr>
            <a:spLocks noGrp="1"/>
          </p:cNvSpPr>
          <p:nvPr/>
        </p:nvSpPr>
        <p:spPr>
          <a:xfrm rot="10800000">
            <a:off x="50" y="-2"/>
            <a:ext cx="9143876" cy="525892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3">
            <a:extLst>
              <a:ext uri="{FF2B5EF4-FFF2-40B4-BE49-F238E27FC236}">
                <a16:creationId xmlns:a16="http://schemas.microsoft.com/office/drawing/2014/main" id="{784485AC-BA4E-428E-8058-788648AB3D45}"/>
              </a:ext>
            </a:extLst>
          </p:cNvPr>
          <p:cNvSpPr>
            <a:spLocks noGrp="1"/>
          </p:cNvSpPr>
          <p:nvPr/>
        </p:nvSpPr>
        <p:spPr>
          <a:xfrm rot="1956605" flipH="1">
            <a:off x="-1619609" y="2490500"/>
            <a:ext cx="7047639" cy="5408054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>
            <a:extLst>
              <a:ext uri="{FF2B5EF4-FFF2-40B4-BE49-F238E27FC236}">
                <a16:creationId xmlns:a16="http://schemas.microsoft.com/office/drawing/2014/main" id="{39712983-B343-4F87-A802-C948177191D8}"/>
              </a:ext>
            </a:extLst>
          </p:cNvPr>
          <p:cNvSpPr>
            <a:spLocks noGrp="1"/>
          </p:cNvSpPr>
          <p:nvPr/>
        </p:nvSpPr>
        <p:spPr>
          <a:xfrm flipH="1">
            <a:off x="50" y="4608659"/>
            <a:ext cx="9143876" cy="660863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4">
            <a:extLst>
              <a:ext uri="{FF2B5EF4-FFF2-40B4-BE49-F238E27FC236}">
                <a16:creationId xmlns:a16="http://schemas.microsoft.com/office/drawing/2014/main" id="{B1C70389-975E-49B5-9C37-2909B9829C79}"/>
              </a:ext>
            </a:extLst>
          </p:cNvPr>
          <p:cNvSpPr>
            <a:spLocks noGrp="1"/>
          </p:cNvSpPr>
          <p:nvPr/>
        </p:nvSpPr>
        <p:spPr>
          <a:xfrm>
            <a:off x="50" y="4608659"/>
            <a:ext cx="9143876" cy="660863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4">
            <a:extLst>
              <a:ext uri="{FF2B5EF4-FFF2-40B4-BE49-F238E27FC236}">
                <a16:creationId xmlns:a16="http://schemas.microsoft.com/office/drawing/2014/main" id="{C472CA17-4D1C-462E-A42E-C1C6831212C4}"/>
              </a:ext>
            </a:extLst>
          </p:cNvPr>
          <p:cNvSpPr>
            <a:spLocks noGrp="1"/>
          </p:cNvSpPr>
          <p:nvPr/>
        </p:nvSpPr>
        <p:spPr>
          <a:xfrm rot="-6076843" flipH="1">
            <a:off x="5149113" y="-1972617"/>
            <a:ext cx="7047553" cy="5407989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4">
            <a:extLst>
              <a:ext uri="{FF2B5EF4-FFF2-40B4-BE49-F238E27FC236}">
                <a16:creationId xmlns:a16="http://schemas.microsoft.com/office/drawing/2014/main" id="{A7E105B4-93BD-45DC-86C6-F354A935F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>
            <a:endParaRPr/>
          </a:p>
        </p:txBody>
      </p:sp>
      <p:sp>
        <p:nvSpPr>
          <p:cNvPr id="195" name="Google Shape;195;p24">
            <a:extLst>
              <a:ext uri="{FF2B5EF4-FFF2-40B4-BE49-F238E27FC236}">
                <a16:creationId xmlns:a16="http://schemas.microsoft.com/office/drawing/2014/main" id="{5C820185-FD3C-4FC3-B852-5D78B4557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1518310"/>
            <a:ext cx="2084700" cy="1207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4">
            <a:extLst>
              <a:ext uri="{FF2B5EF4-FFF2-40B4-BE49-F238E27FC236}">
                <a16:creationId xmlns:a16="http://schemas.microsoft.com/office/drawing/2014/main" id="{E0DB3A42-89D9-4123-9447-2DFF41F0114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524999" y="1518310"/>
            <a:ext cx="2084700" cy="1207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4">
            <a:extLst>
              <a:ext uri="{FF2B5EF4-FFF2-40B4-BE49-F238E27FC236}">
                <a16:creationId xmlns:a16="http://schemas.microsoft.com/office/drawing/2014/main" id="{18F65658-4183-4863-AB1B-EE01E65EF53C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720000" y="3248602"/>
            <a:ext cx="2085900" cy="1207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4">
            <a:extLst>
              <a:ext uri="{FF2B5EF4-FFF2-40B4-BE49-F238E27FC236}">
                <a16:creationId xmlns:a16="http://schemas.microsoft.com/office/drawing/2014/main" id="{C792F1B9-4A81-4BFA-B009-C6B764F8F77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527456" y="3248602"/>
            <a:ext cx="2085900" cy="1207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4">
            <a:extLst>
              <a:ext uri="{FF2B5EF4-FFF2-40B4-BE49-F238E27FC236}">
                <a16:creationId xmlns:a16="http://schemas.microsoft.com/office/drawing/2014/main" id="{E50AB214-499D-4111-81EC-8D5AF9ECE481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6334911" y="1518310"/>
            <a:ext cx="2084700" cy="1207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4">
            <a:extLst>
              <a:ext uri="{FF2B5EF4-FFF2-40B4-BE49-F238E27FC236}">
                <a16:creationId xmlns:a16="http://schemas.microsoft.com/office/drawing/2014/main" id="{CD75B8AB-8D47-4ADF-8B69-2517317AE328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6334911" y="3248602"/>
            <a:ext cx="2084700" cy="1207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4">
            <a:extLst>
              <a:ext uri="{FF2B5EF4-FFF2-40B4-BE49-F238E27FC236}">
                <a16:creationId xmlns:a16="http://schemas.microsoft.com/office/drawing/2014/main" id="{0E2BF711-28D3-43D1-8B9E-AFE7CA6DF300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720000" y="1144425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202" name="Google Shape;202;p24">
            <a:extLst>
              <a:ext uri="{FF2B5EF4-FFF2-40B4-BE49-F238E27FC236}">
                <a16:creationId xmlns:a16="http://schemas.microsoft.com/office/drawing/2014/main" id="{CC8180E6-F5CF-45C8-A28A-12C57FE70412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3524999" y="1144425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203" name="Google Shape;203;p24">
            <a:extLst>
              <a:ext uri="{FF2B5EF4-FFF2-40B4-BE49-F238E27FC236}">
                <a16:creationId xmlns:a16="http://schemas.microsoft.com/office/drawing/2014/main" id="{FFA09595-2273-4CCF-8A48-249B096F927A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6334911" y="1144425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204" name="Google Shape;204;p24">
            <a:extLst>
              <a:ext uri="{FF2B5EF4-FFF2-40B4-BE49-F238E27FC236}">
                <a16:creationId xmlns:a16="http://schemas.microsoft.com/office/drawing/2014/main" id="{F510260C-8B12-4E1F-8203-EA0886BD0FB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720000" y="2871504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205" name="Google Shape;205;p24">
            <a:extLst>
              <a:ext uri="{FF2B5EF4-FFF2-40B4-BE49-F238E27FC236}">
                <a16:creationId xmlns:a16="http://schemas.microsoft.com/office/drawing/2014/main" id="{EF408F98-425B-44B6-8786-7D464F123233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524999" y="2871504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206" name="Google Shape;206;p24">
            <a:extLst>
              <a:ext uri="{FF2B5EF4-FFF2-40B4-BE49-F238E27FC236}">
                <a16:creationId xmlns:a16="http://schemas.microsoft.com/office/drawing/2014/main" id="{C0CE28CD-234C-417A-9EB3-25AACAAB8360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6334911" y="2871504"/>
            <a:ext cx="2085900" cy="3771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>
            <a:extLst>
              <a:ext uri="{FF2B5EF4-FFF2-40B4-BE49-F238E27FC236}">
                <a16:creationId xmlns:a16="http://schemas.microsoft.com/office/drawing/2014/main" id="{8A57682F-D9D7-47F4-8639-81CDAD6DD1E2}"/>
              </a:ext>
            </a:extLst>
          </p:cNvPr>
          <p:cNvSpPr>
            <a:spLocks noGrp="1"/>
          </p:cNvSpPr>
          <p:nvPr/>
        </p:nvSpPr>
        <p:spPr>
          <a:xfrm rot="10800000" flipH="1">
            <a:off x="50" y="3"/>
            <a:ext cx="9143876" cy="1841856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5">
            <a:extLst>
              <a:ext uri="{FF2B5EF4-FFF2-40B4-BE49-F238E27FC236}">
                <a16:creationId xmlns:a16="http://schemas.microsoft.com/office/drawing/2014/main" id="{EAA2768A-76DA-443C-9A01-ABE5FA469B56}"/>
              </a:ext>
            </a:extLst>
          </p:cNvPr>
          <p:cNvSpPr>
            <a:spLocks noGrp="1"/>
          </p:cNvSpPr>
          <p:nvPr/>
        </p:nvSpPr>
        <p:spPr>
          <a:xfrm rot="10800000">
            <a:off x="49" y="-27"/>
            <a:ext cx="9143876" cy="1442203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5">
            <a:extLst>
              <a:ext uri="{FF2B5EF4-FFF2-40B4-BE49-F238E27FC236}">
                <a16:creationId xmlns:a16="http://schemas.microsoft.com/office/drawing/2014/main" id="{F60C9070-F639-4590-BD88-5A299DE1EBA3}"/>
              </a:ext>
            </a:extLst>
          </p:cNvPr>
          <p:cNvSpPr>
            <a:spLocks noGrp="1"/>
          </p:cNvSpPr>
          <p:nvPr/>
        </p:nvSpPr>
        <p:spPr>
          <a:xfrm rot="2191549" flipH="1">
            <a:off x="-443104" y="2827667"/>
            <a:ext cx="7047842" cy="5408210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5">
            <a:extLst>
              <a:ext uri="{FF2B5EF4-FFF2-40B4-BE49-F238E27FC236}">
                <a16:creationId xmlns:a16="http://schemas.microsoft.com/office/drawing/2014/main" id="{B914A614-844D-4F44-9529-8D3BE13D1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100" y="1851238"/>
            <a:ext cx="3778200" cy="997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3" name="Google Shape;213;p25">
            <a:extLst>
              <a:ext uri="{FF2B5EF4-FFF2-40B4-BE49-F238E27FC236}">
                <a16:creationId xmlns:a16="http://schemas.microsoft.com/office/drawing/2014/main" id="{5DBA1C98-B620-46B0-A42B-75367817C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0700" y="1851250"/>
            <a:ext cx="3778200" cy="1215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4" name="Google Shape;214;p25">
            <a:extLst>
              <a:ext uri="{FF2B5EF4-FFF2-40B4-BE49-F238E27FC236}">
                <a16:creationId xmlns:a16="http://schemas.microsoft.com/office/drawing/2014/main" id="{0006566A-E30F-450D-B895-ED67719BE9D5}"/>
              </a:ext>
            </a:extLst>
          </p:cNvPr>
          <p:cNvSpPr>
            <a:spLocks noGrp="1"/>
          </p:cNvSpPr>
          <p:nvPr/>
        </p:nvSpPr>
        <p:spPr>
          <a:xfrm>
            <a:off x="4650700" y="2849050"/>
            <a:ext cx="3778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CREDITS:</a:t>
            </a:r>
            <a:r>
              <a:rPr sz="1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This presentation template was created by </a:t>
            </a:r>
            <a:r>
              <a:rPr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Slidesgo,</a:t>
            </a:r>
            <a:r>
              <a:rPr sz="1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1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and includes icons by </a:t>
            </a:r>
            <a:r>
              <a:rPr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Flaticon</a:t>
            </a:r>
            <a:r>
              <a:rPr sz="1000" b="1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sz="100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and infographics &amp; images by </a:t>
            </a:r>
            <a:r>
              <a:rPr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Freepik</a:t>
            </a:r>
            <a:endParaRPr sz="1000" b="1" u="sng">
              <a:solidFill>
                <a:schemeClr val="dk1"/>
              </a:solidFill>
              <a:highlight>
                <a:srgbClr val="DFDEFC"/>
              </a:highlight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>
            <a:extLst>
              <a:ext uri="{FF2B5EF4-FFF2-40B4-BE49-F238E27FC236}">
                <a16:creationId xmlns:a16="http://schemas.microsoft.com/office/drawing/2014/main" id="{AE1DDEDB-9FD6-42A0-9F6C-48BEAE943118}"/>
              </a:ext>
            </a:extLst>
          </p:cNvPr>
          <p:cNvSpPr>
            <a:spLocks noGrp="1"/>
          </p:cNvSpPr>
          <p:nvPr/>
        </p:nvSpPr>
        <p:spPr>
          <a:xfrm rot="5400000" flipH="1">
            <a:off x="9360188" y="1781241"/>
            <a:ext cx="5143297" cy="1581110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6">
            <a:extLst>
              <a:ext uri="{FF2B5EF4-FFF2-40B4-BE49-F238E27FC236}">
                <a16:creationId xmlns:a16="http://schemas.microsoft.com/office/drawing/2014/main" id="{75317497-7391-487C-BA55-B9F0B1999D9F}"/>
              </a:ext>
            </a:extLst>
          </p:cNvPr>
          <p:cNvSpPr>
            <a:spLocks noGrp="1"/>
          </p:cNvSpPr>
          <p:nvPr/>
        </p:nvSpPr>
        <p:spPr>
          <a:xfrm rot="5400000">
            <a:off x="9477770" y="1898721"/>
            <a:ext cx="5143297" cy="1345961"/>
          </a:xfrm>
          <a:custGeom>
            <a:avLst/>
            <a:gdLst/>
            <a:ahLst/>
            <a:cxnLst/>
            <a:rect l="l" t="t" r="r" b="b"/>
            <a:pathLst>
              <a:path w="172913" h="39839">
                <a:moveTo>
                  <a:pt x="172913" y="1"/>
                </a:moveTo>
                <a:lnTo>
                  <a:pt x="0" y="16958"/>
                </a:lnTo>
                <a:lnTo>
                  <a:pt x="0" y="39839"/>
                </a:lnTo>
                <a:lnTo>
                  <a:pt x="172913" y="39839"/>
                </a:lnTo>
                <a:lnTo>
                  <a:pt x="17291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6">
            <a:extLst>
              <a:ext uri="{FF2B5EF4-FFF2-40B4-BE49-F238E27FC236}">
                <a16:creationId xmlns:a16="http://schemas.microsoft.com/office/drawing/2014/main" id="{0EA072C8-5557-4724-9271-CE8B6B642135}"/>
              </a:ext>
            </a:extLst>
          </p:cNvPr>
          <p:cNvSpPr>
            <a:spLocks noGrp="1"/>
          </p:cNvSpPr>
          <p:nvPr/>
        </p:nvSpPr>
        <p:spPr>
          <a:xfrm rot="5793611" flipH="1">
            <a:off x="-2996321" y="667251"/>
            <a:ext cx="7047727" cy="5408122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>
            <a:extLst>
              <a:ext uri="{FF2B5EF4-FFF2-40B4-BE49-F238E27FC236}">
                <a16:creationId xmlns:a16="http://schemas.microsoft.com/office/drawing/2014/main" id="{077CF4DE-DBCC-46BA-99F6-2159CC6BD28F}"/>
              </a:ext>
            </a:extLst>
          </p:cNvPr>
          <p:cNvSpPr>
            <a:spLocks noGrp="1"/>
          </p:cNvSpPr>
          <p:nvPr/>
        </p:nvSpPr>
        <p:spPr>
          <a:xfrm rot="10800000">
            <a:off x="-62" y="4132413"/>
            <a:ext cx="9143876" cy="1028740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7">
            <a:extLst>
              <a:ext uri="{FF2B5EF4-FFF2-40B4-BE49-F238E27FC236}">
                <a16:creationId xmlns:a16="http://schemas.microsoft.com/office/drawing/2014/main" id="{4DFDC22B-965E-46C8-A1CC-9EF7AE824459}"/>
              </a:ext>
            </a:extLst>
          </p:cNvPr>
          <p:cNvSpPr>
            <a:spLocks noGrp="1"/>
          </p:cNvSpPr>
          <p:nvPr/>
        </p:nvSpPr>
        <p:spPr>
          <a:xfrm rot="10800000" flipH="1">
            <a:off x="-62" y="4132413"/>
            <a:ext cx="9143876" cy="1028740"/>
          </a:xfrm>
          <a:custGeom>
            <a:avLst/>
            <a:gdLst/>
            <a:ahLst/>
            <a:cxnLst/>
            <a:rect l="l" t="t" r="r" b="b"/>
            <a:pathLst>
              <a:path w="172942" h="19457">
                <a:moveTo>
                  <a:pt x="172941" y="0"/>
                </a:moveTo>
                <a:lnTo>
                  <a:pt x="1" y="16929"/>
                </a:lnTo>
                <a:lnTo>
                  <a:pt x="1" y="19456"/>
                </a:lnTo>
                <a:lnTo>
                  <a:pt x="172941" y="19456"/>
                </a:lnTo>
                <a:lnTo>
                  <a:pt x="1729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7">
            <a:extLst>
              <a:ext uri="{FF2B5EF4-FFF2-40B4-BE49-F238E27FC236}">
                <a16:creationId xmlns:a16="http://schemas.microsoft.com/office/drawing/2014/main" id="{06768490-5473-49BB-8378-78F20C10F2E4}"/>
              </a:ext>
            </a:extLst>
          </p:cNvPr>
          <p:cNvSpPr>
            <a:spLocks noGrp="1"/>
          </p:cNvSpPr>
          <p:nvPr/>
        </p:nvSpPr>
        <p:spPr>
          <a:xfrm rot="2991695">
            <a:off x="2173883" y="-2515098"/>
            <a:ext cx="7047826" cy="5408198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7">
            <a:extLst>
              <a:ext uri="{FF2B5EF4-FFF2-40B4-BE49-F238E27FC236}">
                <a16:creationId xmlns:a16="http://schemas.microsoft.com/office/drawing/2014/main" id="{EE23BF01-9A3A-4135-8548-78584DAF09DA}"/>
              </a:ext>
            </a:extLst>
          </p:cNvPr>
          <p:cNvSpPr>
            <a:spLocks noGrp="1"/>
          </p:cNvSpPr>
          <p:nvPr/>
        </p:nvSpPr>
        <p:spPr>
          <a:xfrm rot="-1203209">
            <a:off x="-3503173" y="-2515030"/>
            <a:ext cx="7047648" cy="5408061"/>
          </a:xfrm>
          <a:custGeom>
            <a:avLst/>
            <a:gdLst/>
            <a:ahLst/>
            <a:cxnLst/>
            <a:rect l="l" t="t" r="r" b="b"/>
            <a:pathLst>
              <a:path w="143718" h="110283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>
            <a:extLst>
              <a:ext uri="{FF2B5EF4-FFF2-40B4-BE49-F238E27FC236}">
                <a16:creationId xmlns:a16="http://schemas.microsoft.com/office/drawing/2014/main" id="{CA97F8F6-C0A4-466D-A979-B0CE57AC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1351EDD9-CC6D-4A04-A9CF-44365B41B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9F4E4017-91CF-4E5E-B45C-94D578D7E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hd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>
            <a:extLst>
              <a:ext uri="{FF2B5EF4-FFF2-40B4-BE49-F238E27FC236}">
                <a16:creationId xmlns:a16="http://schemas.microsoft.com/office/drawing/2014/main" id="{FF9AD092-C8E4-4963-8016-64FFED730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28">
            <a:extLst>
              <a:ext uri="{FF2B5EF4-FFF2-40B4-BE49-F238E27FC236}">
                <a16:creationId xmlns:a16="http://schemas.microsoft.com/office/drawing/2014/main" id="{AA3D7EE6-9ECC-46F7-8ACA-D79FF52F9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1pPr>
            <a:lvl2pPr marL="914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2pPr>
            <a:lvl3pPr marL="1371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3pPr>
            <a:lvl4pPr marL="1828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4pPr>
            <a:lvl5pPr marL="22860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5pPr>
            <a:lvl6pPr marL="2743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6pPr>
            <a:lvl7pPr marL="3200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7pPr>
            <a:lvl8pPr marL="3657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8pPr>
            <a:lvl9pPr marL="4114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7;p31">
            <a:extLst>
              <a:ext uri="{FF2B5EF4-FFF2-40B4-BE49-F238E27FC236}">
                <a16:creationId xmlns:a16="http://schemas.microsoft.com/office/drawing/2014/main" id="{955EABE6-9FC4-437C-9EAA-5B210C63D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176" y="480051"/>
            <a:ext cx="5593967" cy="16812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r>
              <a:rPr sz="2800">
                <a:latin typeface="Calibri"/>
                <a:ea typeface="Calibri"/>
                <a:cs typeface="Calibri"/>
              </a:rPr>
              <a:t>Нейросетевая аппроксимация</a:t>
            </a:r>
            <a:br>
              <a:rPr sz="2800">
                <a:latin typeface="Calibri"/>
                <a:ea typeface="Calibri"/>
                <a:cs typeface="Calibri"/>
              </a:rPr>
            </a:br>
            <a:r>
              <a:rPr sz="2800">
                <a:latin typeface="Calibri"/>
                <a:ea typeface="Calibri"/>
                <a:cs typeface="Calibri"/>
              </a:rPr>
              <a:t>широкодиапазонного уравнения</a:t>
            </a:r>
            <a:br>
              <a:rPr sz="2800">
                <a:latin typeface="Calibri"/>
                <a:ea typeface="Calibri"/>
                <a:cs typeface="Calibri"/>
              </a:rPr>
            </a:br>
            <a:r>
              <a:rPr sz="2800">
                <a:latin typeface="Calibri"/>
                <a:ea typeface="Calibri"/>
                <a:cs typeface="Calibri"/>
              </a:rPr>
              <a:t>состояния вещества с учетом</a:t>
            </a:r>
            <a:br>
              <a:rPr sz="2800">
                <a:latin typeface="Calibri"/>
                <a:ea typeface="Calibri"/>
                <a:cs typeface="Calibri"/>
              </a:rPr>
            </a:br>
            <a:r>
              <a:rPr sz="2800">
                <a:latin typeface="Calibri"/>
                <a:ea typeface="Calibri"/>
                <a:cs typeface="Calibri"/>
              </a:rPr>
              <a:t>термодинамических ограничений</a:t>
            </a:r>
          </a:p>
        </p:txBody>
      </p:sp>
      <p:sp>
        <p:nvSpPr>
          <p:cNvPr id="3" name="Google Shape;238;p31">
            <a:extLst>
              <a:ext uri="{FF2B5EF4-FFF2-40B4-BE49-F238E27FC236}">
                <a16:creationId xmlns:a16="http://schemas.microsoft.com/office/drawing/2014/main" id="{816AB850-E0A3-4CAA-A5C1-149CD25C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177" y="2393552"/>
            <a:ext cx="4906200" cy="405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Выполнили: «Филиал МГУ в городе Сарове»</a:t>
            </a:r>
          </a:p>
        </p:txBody>
      </p:sp>
      <p:cxnSp>
        <p:nvCxnSpPr>
          <p:cNvPr id="4" name="Google Shape;239;p31">
            <a:extLst>
              <a:ext uri="{FF2B5EF4-FFF2-40B4-BE49-F238E27FC236}">
                <a16:creationId xmlns:a16="http://schemas.microsoft.com/office/drawing/2014/main" id="{863E6143-CE2A-4651-8CE8-C37577E66BDF}"/>
              </a:ext>
            </a:extLst>
          </p:cNvPr>
          <p:cNvCxnSpPr/>
          <p:nvPr/>
        </p:nvCxnSpPr>
        <p:spPr>
          <a:xfrm>
            <a:off x="679152" y="2258160"/>
            <a:ext cx="4588200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Рисунок 5">
            <a:extLst>
              <a:ext uri="{FF2B5EF4-FFF2-40B4-BE49-F238E27FC236}">
                <a16:creationId xmlns:a16="http://schemas.microsoft.com/office/drawing/2014/main" id="{0313F9AD-294C-40DD-9A74-A3AD233B01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6509205" y="2798853"/>
            <a:ext cx="963915" cy="950845"/>
          </a:xfrm>
          <a:prstGeom prst="rect">
            <a:avLst/>
          </a:prstGeom>
        </p:spPr>
      </p:pic>
      <p:pic>
        <p:nvPicPr>
          <p:cNvPr id="6" name="Рисунок 7">
            <a:extLst>
              <a:ext uri="{FF2B5EF4-FFF2-40B4-BE49-F238E27FC236}">
                <a16:creationId xmlns:a16="http://schemas.microsoft.com/office/drawing/2014/main" id="{AF73F4F6-72E0-4A55-B281-DA141E3FC2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7727182" y="2798852"/>
            <a:ext cx="940480" cy="950845"/>
          </a:xfrm>
          <a:prstGeom prst="rect">
            <a:avLst/>
          </a:prstGeom>
        </p:spPr>
      </p:pic>
      <p:sp>
        <p:nvSpPr>
          <p:cNvPr id="7" name="Google Shape;238;p31">
            <a:extLst>
              <a:ext uri="{FF2B5EF4-FFF2-40B4-BE49-F238E27FC236}">
                <a16:creationId xmlns:a16="http://schemas.microsoft.com/office/drawing/2014/main" id="{31D9D29D-F236-6FEE-35C5-F54611558453}"/>
              </a:ext>
            </a:extLst>
          </p:cNvPr>
          <p:cNvSpPr>
            <a:spLocks noGrp="1"/>
          </p:cNvSpPr>
          <p:nvPr/>
        </p:nvSpPr>
        <p:spPr>
          <a:xfrm>
            <a:off x="679152" y="2779600"/>
            <a:ext cx="4906200" cy="121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defPPr algn="l"/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600" b="0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  <a:defRPr sz="1800" b="0" i="0" u="none" strike="noStrike" cap="none" spc="0">
                <a:solidFill>
                  <a:schemeClr val="dk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indent="0">
              <a:buNone/>
            </a:pPr>
            <a:r>
              <a:rPr sz="1400"/>
              <a:t>Елагин Матвей - капитан</a:t>
            </a:r>
          </a:p>
          <a:p>
            <a:pPr marL="0" indent="0">
              <a:buNone/>
            </a:pPr>
            <a:r>
              <a:rPr sz="1400"/>
              <a:t>Селивохин Ярослав</a:t>
            </a:r>
          </a:p>
          <a:p>
            <a:pPr marL="0" indent="0">
              <a:buNone/>
            </a:pPr>
            <a:r>
              <a:rPr sz="1400"/>
              <a:t>Королёва Ульяна</a:t>
            </a:r>
          </a:p>
          <a:p>
            <a:pPr marL="0" indent="0">
              <a:buNone/>
            </a:pPr>
            <a:r>
              <a:rPr sz="1400"/>
              <a:t>Володченко Александра</a:t>
            </a:r>
          </a:p>
          <a:p>
            <a:pPr marL="0" indent="0">
              <a:buNone/>
            </a:pPr>
            <a:r>
              <a:rPr sz="1400"/>
              <a:t>Деревянкин Кирилл</a:t>
            </a:r>
          </a:p>
          <a:p>
            <a:pPr marL="0" indent="0">
              <a:buNone/>
            </a:pP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16690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3;p37">
            <a:extLst>
              <a:ext uri="{FF2B5EF4-FFF2-40B4-BE49-F238E27FC236}">
                <a16:creationId xmlns:a16="http://schemas.microsoft.com/office/drawing/2014/main" id="{90446E2C-3E35-7B91-0EDC-01FEE65FB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124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algn="l">
              <a:buNone/>
            </a:pPr>
            <a:r>
              <a:rPr sz="3600">
                <a:latin typeface="Calibri"/>
                <a:ea typeface="Calibri"/>
                <a:cs typeface="Calibri"/>
              </a:rPr>
              <a:t>Цель</a:t>
            </a:r>
            <a:endParaRPr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297;p37">
                <a:extLst>
                  <a:ext uri="{FF2B5EF4-FFF2-40B4-BE49-F238E27FC236}">
                    <a16:creationId xmlns:a16="http://schemas.microsoft.com/office/drawing/2014/main" id="{B6750FE8-14B4-5E6D-AA0A-0B65C5C42BFD}"/>
                  </a:ext>
                </a:extLst>
              </p:cNvPr>
              <p:cNvSpPr>
                <a:spLocks noGrp="1"/>
              </p:cNvSpPr>
              <p:nvPr>
                <p:ph type="subTitle" idx="2"/>
              </p:nvPr>
            </p:nvSpPr>
            <p:spPr>
              <a:xfrm>
                <a:off x="1362075" y="1514755"/>
                <a:ext cx="7048500" cy="2113990"/>
              </a:xfrm>
              <a:prstGeom prst="rect">
                <a:avLst/>
              </a:prstGeom>
            </p:spPr>
            <p:txBody>
              <a:bodyPr spcFirstLastPara="1" wrap="square" lIns="0" tIns="0" rIns="0" bIns="0" anchor="t">
                <a:noAutofit/>
              </a:bodyPr>
              <a:lstStyle/>
              <a:p>
                <a:pPr marL="0" lvl="0" indent="0" algn="l">
                  <a:buNone/>
                </a:pPr>
                <a:r>
                  <a:rPr sz="2000"/>
                  <a:t>Разработать вычислительно эффективную нейросетевую модель широкодиапазонного уравнения состояния алюминия, приближающую табличные зависимости давления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/>
                        <a:ea typeface="Cambria Math"/>
                        <a:cs typeface="Cambria Math"/>
                      </a:rPr>
                      <m:t>𝑃</m:t>
                    </m:r>
                  </m:oMath>
                </a14:m>
                <a:r>
                  <a:rPr sz="2000"/>
                  <a:t> и удельной внутренней энергии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/>
                        <a:ea typeface="Cambria Math"/>
                        <a:cs typeface="Cambria Math"/>
                      </a:rPr>
                      <m:t>𝐸</m:t>
                    </m:r>
                  </m:oMath>
                </a14:m>
                <a:r>
                  <a:rPr sz="2000"/>
                  <a:t> от плотности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/>
                        <a:ea typeface="Cambria Math"/>
                        <a:cs typeface="Cambria Math"/>
                      </a:rPr>
                      <m:t>𝜌</m:t>
                    </m:r>
                  </m:oMath>
                </a14:m>
                <a:r>
                  <a:rPr sz="2000"/>
                  <a:t> и температуры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/>
                        <a:ea typeface="Cambria Math"/>
                        <a:cs typeface="Cambria Math"/>
                      </a:rPr>
                      <m:t>𝑇</m:t>
                    </m:r>
                  </m:oMath>
                </a14:m>
                <a:r>
                  <a:rPr sz="2000"/>
                  <a:t> с контролем физической согласованности. </a:t>
                </a:r>
              </a:p>
            </p:txBody>
          </p:sp>
        </mc:Choice>
        <mc:Fallback xmlns="">
          <p:sp>
            <p:nvSpPr>
              <p:cNvPr id="3" name="Google Shape;297;p37">
                <a:extLst>
                  <a:ext uri="{FF2B5EF4-FFF2-40B4-BE49-F238E27FC236}">
                    <a16:creationId xmlns:a16="http://schemas.microsoft.com/office/drawing/2014/main" id="{B6750FE8-14B4-5E6D-AA0A-0B65C5C42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2"/>
              </p:nvPr>
            </p:nvSpPr>
            <p:spPr>
              <a:xfrm>
                <a:off x="1362075" y="1514755"/>
                <a:ext cx="7048500" cy="2113990"/>
              </a:xfrm>
              <a:prstGeom prst="rect">
                <a:avLst/>
              </a:prstGeom>
              <a:blipFill>
                <a:blip r:embed="rId3"/>
                <a:stretch>
                  <a:fillRect l="-2158" t="-4192" r="-21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1">
            <a:extLst>
              <a:ext uri="{FF2B5EF4-FFF2-40B4-BE49-F238E27FC236}">
                <a16:creationId xmlns:a16="http://schemas.microsoft.com/office/drawing/2014/main" id="{611675FE-A2F9-42DA-B27B-3C4EB9A39C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5" name="Рисунок 2">
            <a:extLst>
              <a:ext uri="{FF2B5EF4-FFF2-40B4-BE49-F238E27FC236}">
                <a16:creationId xmlns:a16="http://schemas.microsoft.com/office/drawing/2014/main" id="{06425B78-2C7B-4732-B767-9D1E3D043D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6" name="page-number">
            <a:extLst>
              <a:ext uri="{FF2B5EF4-FFF2-40B4-BE49-F238E27FC236}">
                <a16:creationId xmlns:a16="http://schemas.microsoft.com/office/drawing/2014/main" id="{0DFC3D3C-68FA-4309-8F90-CEB3C2FADCDB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sz="1350" b="0">
                <a:solidFill>
                  <a:srgbClr val="292929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22994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3;p33">
            <a:extLst>
              <a:ext uri="{FF2B5EF4-FFF2-40B4-BE49-F238E27FC236}">
                <a16:creationId xmlns:a16="http://schemas.microsoft.com/office/drawing/2014/main" id="{5FB2B4D0-40E0-498D-97C7-404D68587E27}"/>
              </a:ext>
            </a:extLst>
          </p:cNvPr>
          <p:cNvSpPr>
            <a:spLocks noGrp="1"/>
          </p:cNvSpPr>
          <p:nvPr>
            <p:ph type="title" idx="15"/>
          </p:nvPr>
        </p:nvSpPr>
        <p:spPr>
          <a:xfrm>
            <a:off x="1548085" y="366751"/>
            <a:ext cx="1669302" cy="639203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3200">
                <a:latin typeface="Calibri"/>
                <a:ea typeface="Calibri"/>
                <a:cs typeface="Calibri"/>
              </a:rPr>
              <a:t>Задачи</a:t>
            </a:r>
          </a:p>
        </p:txBody>
      </p:sp>
      <p:sp>
        <p:nvSpPr>
          <p:cNvPr id="3" name="Google Shape;254;p33">
            <a:extLst>
              <a:ext uri="{FF2B5EF4-FFF2-40B4-BE49-F238E27FC236}">
                <a16:creationId xmlns:a16="http://schemas.microsoft.com/office/drawing/2014/main" id="{2383BC9C-05CF-47C7-A231-81C9BE9F0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612" y="1878341"/>
            <a:ext cx="844500" cy="447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/>
              <a:t>01</a:t>
            </a:r>
          </a:p>
        </p:txBody>
      </p:sp>
      <p:sp>
        <p:nvSpPr>
          <p:cNvPr id="4" name="Google Shape;255;p33">
            <a:extLst>
              <a:ext uri="{FF2B5EF4-FFF2-40B4-BE49-F238E27FC236}">
                <a16:creationId xmlns:a16="http://schemas.microsoft.com/office/drawing/2014/main" id="{E214D864-276F-4347-A907-BA7A0C430B10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6899624" y="426690"/>
            <a:ext cx="844500" cy="447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b="0"/>
              <a:t>05</a:t>
            </a:r>
          </a:p>
        </p:txBody>
      </p:sp>
      <p:sp>
        <p:nvSpPr>
          <p:cNvPr id="5" name="Google Shape;256;p33">
            <a:extLst>
              <a:ext uri="{FF2B5EF4-FFF2-40B4-BE49-F238E27FC236}">
                <a16:creationId xmlns:a16="http://schemas.microsoft.com/office/drawing/2014/main" id="{3E96E9D9-8CBD-4632-8FF4-333E6D670D3B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395788" y="1178892"/>
            <a:ext cx="844500" cy="447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/>
              <a:t>03</a:t>
            </a:r>
          </a:p>
        </p:txBody>
      </p:sp>
      <p:sp>
        <p:nvSpPr>
          <p:cNvPr id="6" name="Google Shape;257;p33">
            <a:extLst>
              <a:ext uri="{FF2B5EF4-FFF2-40B4-BE49-F238E27FC236}">
                <a16:creationId xmlns:a16="http://schemas.microsoft.com/office/drawing/2014/main" id="{E9A62F21-7D6C-47BB-9A65-21D7B7C04152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4394351" y="2581592"/>
            <a:ext cx="844500" cy="447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/>
              <a:t>04</a:t>
            </a:r>
          </a:p>
        </p:txBody>
      </p:sp>
      <p:sp>
        <p:nvSpPr>
          <p:cNvPr id="7" name="Google Shape;258;p33">
            <a:extLst>
              <a:ext uri="{FF2B5EF4-FFF2-40B4-BE49-F238E27FC236}">
                <a16:creationId xmlns:a16="http://schemas.microsoft.com/office/drawing/2014/main" id="{0174D5E3-CDD3-4D5C-B4E4-57A0F87FE3F1}"/>
              </a:ext>
            </a:extLst>
          </p:cNvPr>
          <p:cNvSpPr>
            <a:spLocks noGrp="1"/>
          </p:cNvSpPr>
          <p:nvPr>
            <p:ph type="title" idx="5"/>
          </p:nvPr>
        </p:nvSpPr>
        <p:spPr>
          <a:xfrm>
            <a:off x="2006612" y="3322409"/>
            <a:ext cx="844500" cy="447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/>
              <a:t>02</a:t>
            </a:r>
          </a:p>
        </p:txBody>
      </p:sp>
      <p:sp>
        <p:nvSpPr>
          <p:cNvPr id="8" name="Google Shape;259;p33">
            <a:extLst>
              <a:ext uri="{FF2B5EF4-FFF2-40B4-BE49-F238E27FC236}">
                <a16:creationId xmlns:a16="http://schemas.microsoft.com/office/drawing/2014/main" id="{C1BE4BCA-3DF6-4788-88C0-E5D91F06726A}"/>
              </a:ext>
            </a:extLst>
          </p:cNvPr>
          <p:cNvSpPr>
            <a:spLocks noGrp="1"/>
          </p:cNvSpPr>
          <p:nvPr>
            <p:ph type="title" idx="6"/>
          </p:nvPr>
        </p:nvSpPr>
        <p:spPr>
          <a:xfrm>
            <a:off x="6899624" y="1993319"/>
            <a:ext cx="844500" cy="447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9" name="Google Shape;260;p33">
            <a:extLst>
              <a:ext uri="{FF2B5EF4-FFF2-40B4-BE49-F238E27FC236}">
                <a16:creationId xmlns:a16="http://schemas.microsoft.com/office/drawing/2014/main" id="{8A287CD0-0B63-4EBA-8BA2-18FBEBB56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8422" y="2287833"/>
            <a:ext cx="2153972" cy="972871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>
              <a:buNone/>
            </a:pPr>
            <a:r>
              <a:rPr b="0">
                <a:latin typeface="Calibri"/>
                <a:ea typeface="Calibri"/>
                <a:cs typeface="Calibri"/>
              </a:rPr>
              <a:t>Проанализировать данные (EDA)</a:t>
            </a:r>
          </a:p>
        </p:txBody>
      </p:sp>
      <p:pic>
        <p:nvPicPr>
          <p:cNvPr id="10" name="Рисунок 1">
            <a:extLst>
              <a:ext uri="{FF2B5EF4-FFF2-40B4-BE49-F238E27FC236}">
                <a16:creationId xmlns:a16="http://schemas.microsoft.com/office/drawing/2014/main" id="{184ECDF9-31BB-4772-BD4F-0CE3BD8F79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11" name="Рисунок 2">
            <a:extLst>
              <a:ext uri="{FF2B5EF4-FFF2-40B4-BE49-F238E27FC236}">
                <a16:creationId xmlns:a16="http://schemas.microsoft.com/office/drawing/2014/main" id="{53BD65E7-647B-48B0-AE15-2E86432ABE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12" name="Google Shape;260;p33">
            <a:extLst>
              <a:ext uri="{FF2B5EF4-FFF2-40B4-BE49-F238E27FC236}">
                <a16:creationId xmlns:a16="http://schemas.microsoft.com/office/drawing/2014/main" id="{5288F66F-0B03-F6AC-AFB0-934C8533B353}"/>
              </a:ext>
            </a:extLst>
          </p:cNvPr>
          <p:cNvSpPr>
            <a:spLocks noGrp="1"/>
          </p:cNvSpPr>
          <p:nvPr/>
        </p:nvSpPr>
        <p:spPr>
          <a:xfrm>
            <a:off x="1305434" y="3770009"/>
            <a:ext cx="2338523" cy="95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defPPr algn="l"/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marL="914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9pPr>
          </a:lstStyle>
          <a:p>
            <a:pPr marL="0" indent="0">
              <a:buNone/>
            </a:pPr>
            <a:r>
              <a:rPr b="0">
                <a:latin typeface="Calibri"/>
                <a:ea typeface="Calibri"/>
                <a:cs typeface="Calibri"/>
              </a:rPr>
              <a:t>Разработать baseline</a:t>
            </a:r>
          </a:p>
        </p:txBody>
      </p:sp>
      <p:sp>
        <p:nvSpPr>
          <p:cNvPr id="13" name="Google Shape;260;p33">
            <a:extLst>
              <a:ext uri="{FF2B5EF4-FFF2-40B4-BE49-F238E27FC236}">
                <a16:creationId xmlns:a16="http://schemas.microsoft.com/office/drawing/2014/main" id="{7654B927-1D4E-0B98-8810-56F28028D299}"/>
              </a:ext>
            </a:extLst>
          </p:cNvPr>
          <p:cNvSpPr>
            <a:spLocks noGrp="1"/>
          </p:cNvSpPr>
          <p:nvPr/>
        </p:nvSpPr>
        <p:spPr>
          <a:xfrm>
            <a:off x="3536678" y="1658684"/>
            <a:ext cx="2537114" cy="48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defPPr algn="l"/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marL="914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9pPr>
          </a:lstStyle>
          <a:p>
            <a:pPr marL="0" indent="0">
              <a:buNone/>
            </a:pPr>
            <a:r>
              <a:rPr b="0">
                <a:latin typeface="Calibri"/>
                <a:ea typeface="Calibri"/>
                <a:cs typeface="Calibri"/>
              </a:rPr>
              <a:t>Разработать и обучить Vanilla </a:t>
            </a:r>
          </a:p>
        </p:txBody>
      </p:sp>
      <p:sp>
        <p:nvSpPr>
          <p:cNvPr id="14" name="Google Shape;260;p33">
            <a:extLst>
              <a:ext uri="{FF2B5EF4-FFF2-40B4-BE49-F238E27FC236}">
                <a16:creationId xmlns:a16="http://schemas.microsoft.com/office/drawing/2014/main" id="{1C87BC2D-917E-0EAF-33EF-3C163AE81830}"/>
              </a:ext>
            </a:extLst>
          </p:cNvPr>
          <p:cNvSpPr>
            <a:spLocks noGrp="1"/>
          </p:cNvSpPr>
          <p:nvPr/>
        </p:nvSpPr>
        <p:spPr>
          <a:xfrm>
            <a:off x="3533512" y="3027738"/>
            <a:ext cx="2635282" cy="68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defPPr algn="l"/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marL="914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9pPr>
          </a:lstStyle>
          <a:p>
            <a:pPr marL="0" indent="0">
              <a:buNone/>
            </a:pPr>
            <a:r>
              <a:rPr b="0">
                <a:latin typeface="Calibri"/>
                <a:ea typeface="Calibri"/>
                <a:cs typeface="Calibri"/>
              </a:rPr>
              <a:t>Исследовать физические</a:t>
            </a:r>
          </a:p>
          <a:p>
            <a:pPr marL="0" indent="0">
              <a:buNone/>
            </a:pPr>
            <a:r>
              <a:rPr b="0">
                <a:latin typeface="Calibri"/>
                <a:ea typeface="Calibri"/>
                <a:cs typeface="Calibri"/>
              </a:rPr>
              <a:t>ограничения</a:t>
            </a:r>
          </a:p>
        </p:txBody>
      </p:sp>
      <p:sp>
        <p:nvSpPr>
          <p:cNvPr id="15" name="Google Shape;260;p33">
            <a:extLst>
              <a:ext uri="{FF2B5EF4-FFF2-40B4-BE49-F238E27FC236}">
                <a16:creationId xmlns:a16="http://schemas.microsoft.com/office/drawing/2014/main" id="{44937CFE-2209-65D3-2BB1-9903A287E545}"/>
              </a:ext>
            </a:extLst>
          </p:cNvPr>
          <p:cNvSpPr>
            <a:spLocks noGrp="1"/>
          </p:cNvSpPr>
          <p:nvPr/>
        </p:nvSpPr>
        <p:spPr>
          <a:xfrm>
            <a:off x="5963572" y="874290"/>
            <a:ext cx="2781396" cy="48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defPPr algn="l"/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marL="914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9pPr>
          </a:lstStyle>
          <a:p>
            <a:pPr marL="0" indent="0">
              <a:buNone/>
            </a:pPr>
            <a:r>
              <a:rPr b="0">
                <a:latin typeface="Calibri"/>
                <a:ea typeface="Calibri"/>
                <a:cs typeface="Calibri"/>
              </a:rPr>
              <a:t>Разработать и обучить PINN </a:t>
            </a:r>
          </a:p>
        </p:txBody>
      </p:sp>
      <p:sp>
        <p:nvSpPr>
          <p:cNvPr id="16" name="Google Shape;260;p33">
            <a:extLst>
              <a:ext uri="{FF2B5EF4-FFF2-40B4-BE49-F238E27FC236}">
                <a16:creationId xmlns:a16="http://schemas.microsoft.com/office/drawing/2014/main" id="{32E57D21-6C2A-2A2D-2389-76EB6F317399}"/>
              </a:ext>
            </a:extLst>
          </p:cNvPr>
          <p:cNvSpPr>
            <a:spLocks noGrp="1"/>
          </p:cNvSpPr>
          <p:nvPr/>
        </p:nvSpPr>
        <p:spPr>
          <a:xfrm>
            <a:off x="6069310" y="2432058"/>
            <a:ext cx="2525925" cy="48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defPPr algn="l"/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marL="914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9pPr>
          </a:lstStyle>
          <a:p>
            <a:pPr marL="0" indent="0">
              <a:buNone/>
            </a:pPr>
            <a:r>
              <a:rPr b="0">
                <a:latin typeface="Calibri"/>
                <a:ea typeface="Calibri"/>
                <a:cs typeface="Calibri"/>
              </a:rPr>
              <a:t>Сравнить модели</a:t>
            </a:r>
          </a:p>
        </p:txBody>
      </p:sp>
      <p:sp>
        <p:nvSpPr>
          <p:cNvPr id="21" name="page-number">
            <a:extLst>
              <a:ext uri="{FF2B5EF4-FFF2-40B4-BE49-F238E27FC236}">
                <a16:creationId xmlns:a16="http://schemas.microsoft.com/office/drawing/2014/main" id="{C30B3907-1DF8-4D90-AF0F-881B89379331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t>2</a:t>
            </a:r>
            <a:endParaRPr sz="1350" b="0">
              <a:solidFill>
                <a:srgbClr val="292929"/>
              </a:solidFill>
            </a:endParaRPr>
          </a:p>
        </p:txBody>
      </p:sp>
      <p:sp>
        <p:nvSpPr>
          <p:cNvPr id="22" name="Google Shape;259;p33">
            <a:extLst>
              <a:ext uri="{FF2B5EF4-FFF2-40B4-BE49-F238E27FC236}">
                <a16:creationId xmlns:a16="http://schemas.microsoft.com/office/drawing/2014/main" id="{E28B60B4-DB68-FBE3-4EC1-4FFE371CAEF0}"/>
              </a:ext>
            </a:extLst>
          </p:cNvPr>
          <p:cNvSpPr>
            <a:spLocks noGrp="1"/>
          </p:cNvSpPr>
          <p:nvPr/>
        </p:nvSpPr>
        <p:spPr>
          <a:xfrm>
            <a:off x="6934631" y="3216452"/>
            <a:ext cx="844500" cy="447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>
            <a:defPPr algn="l"/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9pPr>
          </a:lstStyle>
          <a:p>
            <a:r>
              <a:t>07</a:t>
            </a:r>
          </a:p>
        </p:txBody>
      </p:sp>
      <p:sp>
        <p:nvSpPr>
          <p:cNvPr id="23" name="Google Shape;260;p33">
            <a:extLst>
              <a:ext uri="{FF2B5EF4-FFF2-40B4-BE49-F238E27FC236}">
                <a16:creationId xmlns:a16="http://schemas.microsoft.com/office/drawing/2014/main" id="{64F70FCD-07DF-B498-2D69-8DA527BEAD81}"/>
              </a:ext>
            </a:extLst>
          </p:cNvPr>
          <p:cNvSpPr>
            <a:spLocks noGrp="1"/>
          </p:cNvSpPr>
          <p:nvPr/>
        </p:nvSpPr>
        <p:spPr>
          <a:xfrm>
            <a:off x="6026483" y="3632774"/>
            <a:ext cx="2781395" cy="48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defPPr algn="l"/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1pPr>
            <a:lvl2pPr marL="914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 spc="0">
                <a:solidFill>
                  <a:schemeClr val="dk1"/>
                </a:solidFill>
                <a:latin typeface="Sora"/>
                <a:ea typeface="Sora"/>
                <a:cs typeface="Sora"/>
              </a:defRPr>
            </a:lvl9pPr>
          </a:lstStyle>
          <a:p>
            <a:pPr marL="0" indent="0">
              <a:buNone/>
            </a:pPr>
            <a:r>
              <a:rPr b="0">
                <a:latin typeface="Calibri"/>
                <a:ea typeface="Calibri"/>
                <a:cs typeface="Calibri"/>
              </a:rPr>
              <a:t>Реализовать программный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2008992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9284A71-E01A-481F-867D-6532E838A4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497DCF-2370-435A-B973-F4FD595EF1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page-number">
            <a:extLst>
              <a:ext uri="{FF2B5EF4-FFF2-40B4-BE49-F238E27FC236}">
                <a16:creationId xmlns:a16="http://schemas.microsoft.com/office/drawing/2014/main" id="{9B7B29E5-FADE-4AAB-A404-C10E3680D803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t>3</a:t>
            </a:r>
            <a:endParaRPr sz="1350" b="0">
              <a:solidFill>
                <a:srgbClr val="292929"/>
              </a:solidFill>
            </a:endParaRP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BB8922EF-7D1A-470A-B00D-70911A16BEEB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929"/>
                </a:solidFill>
              </a:defRPr>
            </a:defPPr>
            <a:lvl1pPr>
              <a:buNone/>
              <a:defRPr sz="2700" b="1">
                <a:solidFill>
                  <a:srgbClr val="292929"/>
                </a:solidFill>
              </a:defRPr>
            </a:lvl1pPr>
            <a:lvl2pPr>
              <a:buNone/>
              <a:defRPr sz="2700" b="1">
                <a:solidFill>
                  <a:srgbClr val="292929"/>
                </a:solidFill>
              </a:defRPr>
            </a:lvl2pPr>
            <a:lvl3pPr>
              <a:buNone/>
              <a:defRPr sz="2700" b="1">
                <a:solidFill>
                  <a:srgbClr val="292929"/>
                </a:solidFill>
              </a:defRPr>
            </a:lvl3pPr>
            <a:lvl4pPr>
              <a:buNone/>
              <a:defRPr sz="2700" b="1">
                <a:solidFill>
                  <a:srgbClr val="292929"/>
                </a:solidFill>
              </a:defRPr>
            </a:lvl4pPr>
            <a:lvl5pPr>
              <a:buNone/>
              <a:defRPr sz="2700" b="1">
                <a:solidFill>
                  <a:srgbClr val="292929"/>
                </a:solidFill>
              </a:defRPr>
            </a:lvl5pPr>
            <a:lvl6pPr>
              <a:buNone/>
              <a:defRPr sz="2700" b="1">
                <a:solidFill>
                  <a:srgbClr val="292929"/>
                </a:solidFill>
              </a:defRPr>
            </a:lvl6pPr>
            <a:lvl7pPr>
              <a:buNone/>
              <a:defRPr sz="2700" b="1">
                <a:solidFill>
                  <a:srgbClr val="292929"/>
                </a:solidFill>
              </a:defRPr>
            </a:lvl7pPr>
            <a:lvl8pPr>
              <a:buNone/>
              <a:defRPr sz="2700" b="1">
                <a:solidFill>
                  <a:srgbClr val="292929"/>
                </a:solidFill>
              </a:defRPr>
            </a:lvl8pPr>
            <a:lvl9pPr>
              <a:buNone/>
              <a:defRPr sz="27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700" b="1">
                <a:solidFill>
                  <a:srgbClr val="292929"/>
                </a:solidFill>
              </a:defRPr>
            </a:pPr>
            <a:r>
              <a:rPr sz="2700" b="1">
                <a:solidFill>
                  <a:srgbClr val="292929"/>
                </a:solidFill>
              </a:rPr>
              <a:t>Математическая постановка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447C5F78-7A03-49EF-9B29-5B5869C269DC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92929"/>
                </a:solidFill>
              </a:defRPr>
            </a:defPPr>
            <a:lvl1pPr>
              <a:buNone/>
              <a:defRPr sz="1875" b="1">
                <a:solidFill>
                  <a:srgbClr val="292929"/>
                </a:solidFill>
              </a:defRPr>
            </a:lvl1pPr>
            <a:lvl2pPr>
              <a:buNone/>
              <a:defRPr sz="1875" b="1">
                <a:solidFill>
                  <a:srgbClr val="292929"/>
                </a:solidFill>
              </a:defRPr>
            </a:lvl2pPr>
            <a:lvl3pPr>
              <a:buNone/>
              <a:defRPr sz="1875" b="1">
                <a:solidFill>
                  <a:srgbClr val="292929"/>
                </a:solidFill>
              </a:defRPr>
            </a:lvl3pPr>
            <a:lvl4pPr>
              <a:buNone/>
              <a:defRPr sz="1875" b="1">
                <a:solidFill>
                  <a:srgbClr val="292929"/>
                </a:solidFill>
              </a:defRPr>
            </a:lvl4pPr>
            <a:lvl5pPr>
              <a:buNone/>
              <a:defRPr sz="1875" b="1">
                <a:solidFill>
                  <a:srgbClr val="292929"/>
                </a:solidFill>
              </a:defRPr>
            </a:lvl5pPr>
            <a:lvl6pPr>
              <a:buNone/>
              <a:defRPr sz="1875" b="1">
                <a:solidFill>
                  <a:srgbClr val="292929"/>
                </a:solidFill>
              </a:defRPr>
            </a:lvl6pPr>
            <a:lvl7pPr>
              <a:buNone/>
              <a:defRPr sz="1875" b="1">
                <a:solidFill>
                  <a:srgbClr val="292929"/>
                </a:solidFill>
              </a:defRPr>
            </a:lvl7pPr>
            <a:lvl8pPr>
              <a:buNone/>
              <a:defRPr sz="1875" b="1">
                <a:solidFill>
                  <a:srgbClr val="292929"/>
                </a:solidFill>
              </a:defRPr>
            </a:lvl8pPr>
            <a:lvl9pPr>
              <a:buNone/>
              <a:defRPr sz="187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875" b="1">
                <a:solidFill>
                  <a:srgbClr val="292929"/>
                </a:solidFill>
              </a:defRPr>
            </a:pPr>
            <a:r>
              <a:rPr sz="1875" b="1">
                <a:solidFill>
                  <a:srgbClr val="292929"/>
                </a:solidFill>
              </a:rPr>
              <a:t>Данные: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">
                <a:extLst>
                  <a:ext uri="{FF2B5EF4-FFF2-40B4-BE49-F238E27FC236}">
                    <a16:creationId xmlns:a16="http://schemas.microsoft.com/office/drawing/2014/main" id="{986A2159-F0A5-4D52-82F9-7B9953D696F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7250" y="1924050"/>
                <a:ext cx="3714750" cy="1428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t"/>
              <a:lstStyle>
                <a:defPPr>
                  <a:defRPr sz="1650" b="0">
                    <a:solidFill>
                      <a:srgbClr val="292929"/>
                    </a:solidFill>
                  </a:defRPr>
                </a:defPPr>
                <a:lvl1pPr>
                  <a:buNone/>
                  <a:defRPr sz="1650" b="0">
                    <a:solidFill>
                      <a:srgbClr val="292929"/>
                    </a:solidFill>
                  </a:defRPr>
                </a:lvl1pPr>
                <a:lvl2pPr>
                  <a:buNone/>
                  <a:defRPr sz="1650" b="0">
                    <a:solidFill>
                      <a:srgbClr val="292929"/>
                    </a:solidFill>
                  </a:defRPr>
                </a:lvl2pPr>
                <a:lvl3pPr>
                  <a:buNone/>
                  <a:defRPr sz="1650" b="0">
                    <a:solidFill>
                      <a:srgbClr val="292929"/>
                    </a:solidFill>
                  </a:defRPr>
                </a:lvl3pPr>
                <a:lvl4pPr>
                  <a:buNone/>
                  <a:defRPr sz="1650" b="0">
                    <a:solidFill>
                      <a:srgbClr val="292929"/>
                    </a:solidFill>
                  </a:defRPr>
                </a:lvl4pPr>
                <a:lvl5pPr>
                  <a:buNone/>
                  <a:defRPr sz="1650" b="0">
                    <a:solidFill>
                      <a:srgbClr val="292929"/>
                    </a:solidFill>
                  </a:defRPr>
                </a:lvl5pPr>
                <a:lvl6pPr>
                  <a:buNone/>
                  <a:defRPr sz="1650" b="0">
                    <a:solidFill>
                      <a:srgbClr val="292929"/>
                    </a:solidFill>
                  </a:defRPr>
                </a:lvl6pPr>
                <a:lvl7pPr>
                  <a:buNone/>
                  <a:defRPr sz="1650" b="0">
                    <a:solidFill>
                      <a:srgbClr val="292929"/>
                    </a:solidFill>
                  </a:defRPr>
                </a:lvl7pPr>
                <a:lvl8pPr>
                  <a:buNone/>
                  <a:defRPr sz="1650" b="0">
                    <a:solidFill>
                      <a:srgbClr val="292929"/>
                    </a:solidFill>
                  </a:defRPr>
                </a:lvl8pPr>
                <a:lvl9pPr>
                  <a:buNone/>
                  <a:defRPr sz="1650" b="0">
                    <a:solidFill>
                      <a:srgbClr val="292929"/>
                    </a:solidFill>
                  </a:defRPr>
                </a:lvl9pPr>
              </a:lstStyle>
              <a:p>
                <a:r>
                  <a:t>Вход: плотность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  <a:ea typeface="Cambria Math"/>
                        <a:cs typeface="Cambria Math"/>
                      </a:rPr>
                      <m:t>𝜌</m:t>
                    </m:r>
                  </m:oMath>
                </a14:m>
                <a:r>
                  <a:t> и температура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  <a:ea typeface="Cambria Math"/>
                        <a:cs typeface="Cambria Math"/>
                      </a:rPr>
                      <m:t>𝑇</m:t>
                    </m:r>
                  </m:oMath>
                </a14:m>
                <a:r>
                  <a:t>.</a:t>
                </a:r>
              </a:p>
              <a:p>
                <a:r>
                  <a:t>Выход: давление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  <a:ea typeface="Cambria Math"/>
                        <a:cs typeface="Cambria Math"/>
                      </a:rPr>
                      <m:t>𝑃</m:t>
                    </m:r>
                  </m:oMath>
                </a14:m>
                <a:r>
                  <a:t> и удельная внутренняя энергия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  <a:ea typeface="Cambria Math"/>
                        <a:cs typeface="Cambria Math"/>
                      </a:rPr>
                      <m:t>𝐸</m:t>
                    </m:r>
                  </m:oMath>
                </a14:m>
                <a:r>
                  <a:t>.</a:t>
                </a:r>
              </a:p>
              <a:p>
                <a:pPr>
                  <a:buNone/>
                  <a:defRPr sz="1650" b="0">
                    <a:solidFill>
                      <a:srgbClr val="292929"/>
                    </a:solidFill>
                  </a:defRPr>
                </a:pPr>
                <a:endParaRPr/>
              </a:p>
              <a:p>
                <a:pPr>
                  <a:buNone/>
                  <a:defRPr sz="1650" b="0">
                    <a:solidFill>
                      <a:srgbClr val="292929"/>
                    </a:solidFill>
                  </a:defRPr>
                </a:pPr>
                <a:endParaRPr sz="1650" b="0">
                  <a:solidFill>
                    <a:srgbClr val="292929"/>
                  </a:solidFill>
                </a:endParaRPr>
              </a:p>
            </p:txBody>
          </p:sp>
        </mc:Choice>
        <mc:Fallback xmlns="">
          <p:sp>
            <p:nvSpPr>
              <p:cNvPr id="7" name="content">
                <a:extLst>
                  <a:ext uri="{FF2B5EF4-FFF2-40B4-BE49-F238E27FC236}">
                    <a16:creationId xmlns:a16="http://schemas.microsoft.com/office/drawing/2014/main" id="{986A2159-F0A5-4D52-82F9-7B9953D696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1924050"/>
                <a:ext cx="3714750" cy="1428750"/>
              </a:xfrm>
              <a:prstGeom prst="rect">
                <a:avLst/>
              </a:prstGeom>
              <a:blipFill>
                <a:blip r:embed="rId5"/>
                <a:stretch>
                  <a:fillRect l="-3413" t="-4425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">
            <a:extLst>
              <a:ext uri="{FF2B5EF4-FFF2-40B4-BE49-F238E27FC236}">
                <a16:creationId xmlns:a16="http://schemas.microsoft.com/office/drawing/2014/main" id="{67D7EEC9-DD64-47CA-B40F-2C06FF372F6E}"/>
              </a:ext>
            </a:extLst>
          </p:cNvPr>
          <p:cNvSpPr>
            <a:spLocks noGrp="1"/>
          </p:cNvSpPr>
          <p:nvPr/>
        </p:nvSpPr>
        <p:spPr>
          <a:xfrm>
            <a:off x="4810125" y="1524000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92929"/>
                </a:solidFill>
              </a:defRPr>
            </a:defPPr>
            <a:lvl1pPr>
              <a:buNone/>
              <a:defRPr sz="1875" b="1">
                <a:solidFill>
                  <a:srgbClr val="292929"/>
                </a:solidFill>
              </a:defRPr>
            </a:lvl1pPr>
            <a:lvl2pPr>
              <a:buNone/>
              <a:defRPr sz="1875" b="1">
                <a:solidFill>
                  <a:srgbClr val="292929"/>
                </a:solidFill>
              </a:defRPr>
            </a:lvl2pPr>
            <a:lvl3pPr>
              <a:buNone/>
              <a:defRPr sz="1875" b="1">
                <a:solidFill>
                  <a:srgbClr val="292929"/>
                </a:solidFill>
              </a:defRPr>
            </a:lvl3pPr>
            <a:lvl4pPr>
              <a:buNone/>
              <a:defRPr sz="1875" b="1">
                <a:solidFill>
                  <a:srgbClr val="292929"/>
                </a:solidFill>
              </a:defRPr>
            </a:lvl4pPr>
            <a:lvl5pPr>
              <a:buNone/>
              <a:defRPr sz="1875" b="1">
                <a:solidFill>
                  <a:srgbClr val="292929"/>
                </a:solidFill>
              </a:defRPr>
            </a:lvl5pPr>
            <a:lvl6pPr>
              <a:buNone/>
              <a:defRPr sz="1875" b="1">
                <a:solidFill>
                  <a:srgbClr val="292929"/>
                </a:solidFill>
              </a:defRPr>
            </a:lvl6pPr>
            <a:lvl7pPr>
              <a:buNone/>
              <a:defRPr sz="1875" b="1">
                <a:solidFill>
                  <a:srgbClr val="292929"/>
                </a:solidFill>
              </a:defRPr>
            </a:lvl7pPr>
            <a:lvl8pPr>
              <a:buNone/>
              <a:defRPr sz="1875" b="1">
                <a:solidFill>
                  <a:srgbClr val="292929"/>
                </a:solidFill>
              </a:defRPr>
            </a:lvl8pPr>
            <a:lvl9pPr>
              <a:buNone/>
              <a:defRPr sz="187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875" b="1">
                <a:solidFill>
                  <a:srgbClr val="292929"/>
                </a:solidFill>
              </a:defRPr>
            </a:pPr>
            <a:r>
              <a:rPr sz="1875" b="1">
                <a:solidFill>
                  <a:srgbClr val="292929"/>
                </a:solidFill>
              </a:rPr>
              <a:t>Критерий качества</a:t>
            </a:r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6A7CDCDB-0FA7-4370-BD5A-916010E9B35D}"/>
              </a:ext>
            </a:extLst>
          </p:cNvPr>
          <p:cNvSpPr>
            <a:spLocks noGrp="1"/>
          </p:cNvSpPr>
          <p:nvPr/>
        </p:nvSpPr>
        <p:spPr>
          <a:xfrm>
            <a:off x="4810125" y="1924050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92929"/>
                </a:solidFill>
              </a:defRPr>
            </a:defPPr>
            <a:lvl1pPr>
              <a:buNone/>
              <a:defRPr sz="1650" b="0">
                <a:solidFill>
                  <a:srgbClr val="292929"/>
                </a:solidFill>
              </a:defRPr>
            </a:lvl1pPr>
            <a:lvl2pPr>
              <a:buNone/>
              <a:defRPr sz="1650" b="0">
                <a:solidFill>
                  <a:srgbClr val="292929"/>
                </a:solidFill>
              </a:defRPr>
            </a:lvl2pPr>
            <a:lvl3pPr>
              <a:buNone/>
              <a:defRPr sz="1650" b="0">
                <a:solidFill>
                  <a:srgbClr val="292929"/>
                </a:solidFill>
              </a:defRPr>
            </a:lvl3pPr>
            <a:lvl4pPr>
              <a:buNone/>
              <a:defRPr sz="1650" b="0">
                <a:solidFill>
                  <a:srgbClr val="292929"/>
                </a:solidFill>
              </a:defRPr>
            </a:lvl4pPr>
            <a:lvl5pPr>
              <a:buNone/>
              <a:defRPr sz="1650" b="0">
                <a:solidFill>
                  <a:srgbClr val="292929"/>
                </a:solidFill>
              </a:defRPr>
            </a:lvl5pPr>
            <a:lvl6pPr>
              <a:buNone/>
              <a:defRPr sz="1650" b="0">
                <a:solidFill>
                  <a:srgbClr val="292929"/>
                </a:solidFill>
              </a:defRPr>
            </a:lvl6pPr>
            <a:lvl7pPr>
              <a:buNone/>
              <a:defRPr sz="1650" b="0">
                <a:solidFill>
                  <a:srgbClr val="292929"/>
                </a:solidFill>
              </a:defRPr>
            </a:lvl7pPr>
            <a:lvl8pPr>
              <a:buNone/>
              <a:defRPr sz="1650" b="0">
                <a:solidFill>
                  <a:srgbClr val="292929"/>
                </a:solidFill>
              </a:defRPr>
            </a:lvl8pPr>
            <a:lvl9pPr>
              <a:buNone/>
              <a:defRPr sz="16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50" b="0">
                <a:solidFill>
                  <a:srgbClr val="292929"/>
                </a:solidFill>
              </a:rPr>
              <a:t>Точность P и E на общем test-наборе. Отдельно: ошибки производных и доли нарушений ограничений.</a:t>
            </a:r>
          </a:p>
        </p:txBody>
      </p:sp>
      <p:sp>
        <p:nvSpPr>
          <p:cNvPr id="10" name="content">
            <a:extLst>
              <a:ext uri="{FF2B5EF4-FFF2-40B4-BE49-F238E27FC236}">
                <a16:creationId xmlns:a16="http://schemas.microsoft.com/office/drawing/2014/main" id="{84D8DD94-E854-47A1-9722-5868DAD1B023}"/>
              </a:ext>
            </a:extLst>
          </p:cNvPr>
          <p:cNvSpPr>
            <a:spLocks noGrp="1"/>
          </p:cNvSpPr>
          <p:nvPr/>
        </p:nvSpPr>
        <p:spPr>
          <a:xfrm>
            <a:off x="904875" y="3476625"/>
            <a:ext cx="647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400" b="1">
                <a:solidFill>
                  <a:srgbClr val="292929"/>
                </a:solidFill>
              </a:defRPr>
            </a:defPPr>
            <a:lvl1pPr>
              <a:buNone/>
              <a:defRPr sz="2400" b="1">
                <a:solidFill>
                  <a:srgbClr val="292929"/>
                </a:solidFill>
              </a:defRPr>
            </a:lvl1pPr>
            <a:lvl2pPr>
              <a:buNone/>
              <a:defRPr sz="2400" b="1">
                <a:solidFill>
                  <a:srgbClr val="292929"/>
                </a:solidFill>
              </a:defRPr>
            </a:lvl2pPr>
            <a:lvl3pPr>
              <a:buNone/>
              <a:defRPr sz="2400" b="1">
                <a:solidFill>
                  <a:srgbClr val="292929"/>
                </a:solidFill>
              </a:defRPr>
            </a:lvl3pPr>
            <a:lvl4pPr>
              <a:buNone/>
              <a:defRPr sz="2400" b="1">
                <a:solidFill>
                  <a:srgbClr val="292929"/>
                </a:solidFill>
              </a:defRPr>
            </a:lvl4pPr>
            <a:lvl5pPr>
              <a:buNone/>
              <a:defRPr sz="2400" b="1">
                <a:solidFill>
                  <a:srgbClr val="292929"/>
                </a:solidFill>
              </a:defRPr>
            </a:lvl5pPr>
            <a:lvl6pPr>
              <a:buNone/>
              <a:defRPr sz="2400" b="1">
                <a:solidFill>
                  <a:srgbClr val="292929"/>
                </a:solidFill>
              </a:defRPr>
            </a:lvl6pPr>
            <a:lvl7pPr>
              <a:buNone/>
              <a:defRPr sz="2400" b="1">
                <a:solidFill>
                  <a:srgbClr val="292929"/>
                </a:solidFill>
              </a:defRPr>
            </a:lvl7pPr>
            <a:lvl8pPr>
              <a:buNone/>
              <a:defRPr sz="2400" b="1">
                <a:solidFill>
                  <a:srgbClr val="292929"/>
                </a:solidFill>
              </a:defRPr>
            </a:lvl8pPr>
            <a:lvl9pPr>
              <a:buNone/>
              <a:defRPr sz="24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400" b="1">
                <a:solidFill>
                  <a:srgbClr val="292929"/>
                </a:solidFill>
              </a:defRPr>
            </a:pPr>
            <a:r>
              <a:rPr sz="2400" b="1">
                <a:solidFill>
                  <a:srgbClr val="292929"/>
                </a:solidFill>
              </a:rPr>
              <a:t>fθ(ρ, T) = [Pθ(ρ, T), Eθ(ρ, T)]</a:t>
            </a:r>
          </a:p>
        </p:txBody>
      </p:sp>
      <p:sp>
        <p:nvSpPr>
          <p:cNvPr id="11" name="content">
            <a:extLst>
              <a:ext uri="{FF2B5EF4-FFF2-40B4-BE49-F238E27FC236}">
                <a16:creationId xmlns:a16="http://schemas.microsoft.com/office/drawing/2014/main" id="{FC31BC91-4C88-4BD0-AD51-0E41B4C57B94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723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92929"/>
                </a:solidFill>
              </a:defRPr>
            </a:defPPr>
            <a:lvl1pPr>
              <a:buNone/>
              <a:defRPr sz="1650" b="0">
                <a:solidFill>
                  <a:srgbClr val="292929"/>
                </a:solidFill>
              </a:defRPr>
            </a:lvl1pPr>
            <a:lvl2pPr>
              <a:buNone/>
              <a:defRPr sz="1650" b="0">
                <a:solidFill>
                  <a:srgbClr val="292929"/>
                </a:solidFill>
              </a:defRPr>
            </a:lvl2pPr>
            <a:lvl3pPr>
              <a:buNone/>
              <a:defRPr sz="1650" b="0">
                <a:solidFill>
                  <a:srgbClr val="292929"/>
                </a:solidFill>
              </a:defRPr>
            </a:lvl3pPr>
            <a:lvl4pPr>
              <a:buNone/>
              <a:defRPr sz="1650" b="0">
                <a:solidFill>
                  <a:srgbClr val="292929"/>
                </a:solidFill>
              </a:defRPr>
            </a:lvl4pPr>
            <a:lvl5pPr>
              <a:buNone/>
              <a:defRPr sz="1650" b="0">
                <a:solidFill>
                  <a:srgbClr val="292929"/>
                </a:solidFill>
              </a:defRPr>
            </a:lvl5pPr>
            <a:lvl6pPr>
              <a:buNone/>
              <a:defRPr sz="1650" b="0">
                <a:solidFill>
                  <a:srgbClr val="292929"/>
                </a:solidFill>
              </a:defRPr>
            </a:lvl6pPr>
            <a:lvl7pPr>
              <a:buNone/>
              <a:defRPr sz="1650" b="0">
                <a:solidFill>
                  <a:srgbClr val="292929"/>
                </a:solidFill>
              </a:defRPr>
            </a:lvl7pPr>
            <a:lvl8pPr>
              <a:buNone/>
              <a:defRPr sz="1650" b="0">
                <a:solidFill>
                  <a:srgbClr val="292929"/>
                </a:solidFill>
              </a:defRPr>
            </a:lvl8pPr>
            <a:lvl9pPr>
              <a:buNone/>
              <a:defRPr sz="16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50" b="0">
                <a:solidFill>
                  <a:srgbClr val="292929"/>
                </a:solidFill>
              </a:rPr>
              <a:t>Табличная аппроксимация УРС алюминия в 20 областях состояния.</a:t>
            </a:r>
          </a:p>
        </p:txBody>
      </p:sp>
    </p:spTree>
    <p:extLst>
      <p:ext uri="{BB962C8B-B14F-4D97-AF65-F5344CB8AC3E}">
        <p14:creationId xmlns:p14="http://schemas.microsoft.com/office/powerpoint/2010/main" val="330307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FB6BFBD-182A-44CE-964B-E6741B5B5D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CF6089-C29A-439D-80EB-FCC5BBC34F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page-number">
            <a:extLst>
              <a:ext uri="{FF2B5EF4-FFF2-40B4-BE49-F238E27FC236}">
                <a16:creationId xmlns:a16="http://schemas.microsoft.com/office/drawing/2014/main" id="{70000EBF-C5F7-4A30-8956-4A1B4409E0D8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t>4</a:t>
            </a:r>
            <a:endParaRPr sz="1350" b="0">
              <a:solidFill>
                <a:srgbClr val="292929"/>
              </a:solidFill>
            </a:endParaRP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47C549AF-903F-4EC2-B6BD-539814B4470C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929"/>
                </a:solidFill>
              </a:defRPr>
            </a:defPPr>
            <a:lvl1pPr>
              <a:buNone/>
              <a:defRPr sz="2700" b="1">
                <a:solidFill>
                  <a:srgbClr val="292929"/>
                </a:solidFill>
              </a:defRPr>
            </a:lvl1pPr>
            <a:lvl2pPr>
              <a:buNone/>
              <a:defRPr sz="2700" b="1">
                <a:solidFill>
                  <a:srgbClr val="292929"/>
                </a:solidFill>
              </a:defRPr>
            </a:lvl2pPr>
            <a:lvl3pPr>
              <a:buNone/>
              <a:defRPr sz="2700" b="1">
                <a:solidFill>
                  <a:srgbClr val="292929"/>
                </a:solidFill>
              </a:defRPr>
            </a:lvl3pPr>
            <a:lvl4pPr>
              <a:buNone/>
              <a:defRPr sz="2700" b="1">
                <a:solidFill>
                  <a:srgbClr val="292929"/>
                </a:solidFill>
              </a:defRPr>
            </a:lvl4pPr>
            <a:lvl5pPr>
              <a:buNone/>
              <a:defRPr sz="2700" b="1">
                <a:solidFill>
                  <a:srgbClr val="292929"/>
                </a:solidFill>
              </a:defRPr>
            </a:lvl5pPr>
            <a:lvl6pPr>
              <a:buNone/>
              <a:defRPr sz="2700" b="1">
                <a:solidFill>
                  <a:srgbClr val="292929"/>
                </a:solidFill>
              </a:defRPr>
            </a:lvl6pPr>
            <a:lvl7pPr>
              <a:buNone/>
              <a:defRPr sz="2700" b="1">
                <a:solidFill>
                  <a:srgbClr val="292929"/>
                </a:solidFill>
              </a:defRPr>
            </a:lvl7pPr>
            <a:lvl8pPr>
              <a:buNone/>
              <a:defRPr sz="2700" b="1">
                <a:solidFill>
                  <a:srgbClr val="292929"/>
                </a:solidFill>
              </a:defRPr>
            </a:lvl8pPr>
            <a:lvl9pPr>
              <a:buNone/>
              <a:defRPr sz="27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700" b="1">
                <a:solidFill>
                  <a:srgbClr val="292929"/>
                </a:solidFill>
              </a:defRPr>
            </a:pPr>
            <a:r>
              <a:rPr sz="2700" b="1">
                <a:solidFill>
                  <a:srgbClr val="292929"/>
                </a:solidFill>
              </a:rPr>
              <a:t>Теоретическая база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1580A686-9E9C-4B30-8465-91AB29DDA37D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92929"/>
                </a:solidFill>
              </a:defRPr>
            </a:defPPr>
            <a:lvl1pPr>
              <a:buNone/>
              <a:defRPr sz="1875" b="1">
                <a:solidFill>
                  <a:srgbClr val="292929"/>
                </a:solidFill>
              </a:defRPr>
            </a:lvl1pPr>
            <a:lvl2pPr>
              <a:buNone/>
              <a:defRPr sz="1875" b="1">
                <a:solidFill>
                  <a:srgbClr val="292929"/>
                </a:solidFill>
              </a:defRPr>
            </a:lvl2pPr>
            <a:lvl3pPr>
              <a:buNone/>
              <a:defRPr sz="1875" b="1">
                <a:solidFill>
                  <a:srgbClr val="292929"/>
                </a:solidFill>
              </a:defRPr>
            </a:lvl3pPr>
            <a:lvl4pPr>
              <a:buNone/>
              <a:defRPr sz="1875" b="1">
                <a:solidFill>
                  <a:srgbClr val="292929"/>
                </a:solidFill>
              </a:defRPr>
            </a:lvl4pPr>
            <a:lvl5pPr>
              <a:buNone/>
              <a:defRPr sz="1875" b="1">
                <a:solidFill>
                  <a:srgbClr val="292929"/>
                </a:solidFill>
              </a:defRPr>
            </a:lvl5pPr>
            <a:lvl6pPr>
              <a:buNone/>
              <a:defRPr sz="1875" b="1">
                <a:solidFill>
                  <a:srgbClr val="292929"/>
                </a:solidFill>
              </a:defRPr>
            </a:lvl6pPr>
            <a:lvl7pPr>
              <a:buNone/>
              <a:defRPr sz="1875" b="1">
                <a:solidFill>
                  <a:srgbClr val="292929"/>
                </a:solidFill>
              </a:defRPr>
            </a:lvl7pPr>
            <a:lvl8pPr>
              <a:buNone/>
              <a:defRPr sz="1875" b="1">
                <a:solidFill>
                  <a:srgbClr val="292929"/>
                </a:solidFill>
              </a:defRPr>
            </a:lvl8pPr>
            <a:lvl9pPr>
              <a:buNone/>
              <a:defRPr sz="187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875" b="1">
                <a:solidFill>
                  <a:srgbClr val="292929"/>
                </a:solidFill>
              </a:defRPr>
            </a:pPr>
            <a:r>
              <a:rPr sz="1875" b="1">
                <a:solidFill>
                  <a:srgbClr val="292929"/>
                </a:solidFill>
              </a:rPr>
              <a:t>Точность и физика:</a:t>
            </a:r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072B86C3-44AB-4C7B-A1D0-728FC0584183}"/>
              </a:ext>
            </a:extLst>
          </p:cNvPr>
          <p:cNvSpPr>
            <a:spLocks noGrp="1"/>
          </p:cNvSpPr>
          <p:nvPr/>
        </p:nvSpPr>
        <p:spPr>
          <a:xfrm>
            <a:off x="857250" y="1876425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92929"/>
                </a:solidFill>
              </a:defRPr>
            </a:defPPr>
            <a:lvl1pPr>
              <a:buNone/>
              <a:defRPr sz="1650" b="0">
                <a:solidFill>
                  <a:srgbClr val="292929"/>
                </a:solidFill>
              </a:defRPr>
            </a:lvl1pPr>
            <a:lvl2pPr>
              <a:buNone/>
              <a:defRPr sz="1650" b="0">
                <a:solidFill>
                  <a:srgbClr val="292929"/>
                </a:solidFill>
              </a:defRPr>
            </a:lvl2pPr>
            <a:lvl3pPr>
              <a:buNone/>
              <a:defRPr sz="1650" b="0">
                <a:solidFill>
                  <a:srgbClr val="292929"/>
                </a:solidFill>
              </a:defRPr>
            </a:lvl3pPr>
            <a:lvl4pPr>
              <a:buNone/>
              <a:defRPr sz="1650" b="0">
                <a:solidFill>
                  <a:srgbClr val="292929"/>
                </a:solidFill>
              </a:defRPr>
            </a:lvl4pPr>
            <a:lvl5pPr>
              <a:buNone/>
              <a:defRPr sz="1650" b="0">
                <a:solidFill>
                  <a:srgbClr val="292929"/>
                </a:solidFill>
              </a:defRPr>
            </a:lvl5pPr>
            <a:lvl6pPr>
              <a:buNone/>
              <a:defRPr sz="1650" b="0">
                <a:solidFill>
                  <a:srgbClr val="292929"/>
                </a:solidFill>
              </a:defRPr>
            </a:lvl6pPr>
            <a:lvl7pPr>
              <a:buNone/>
              <a:defRPr sz="1650" b="0">
                <a:solidFill>
                  <a:srgbClr val="292929"/>
                </a:solidFill>
              </a:defRPr>
            </a:lvl7pPr>
            <a:lvl8pPr>
              <a:buNone/>
              <a:defRPr sz="1650" b="0">
                <a:solidFill>
                  <a:srgbClr val="292929"/>
                </a:solidFill>
              </a:defRPr>
            </a:lvl8pPr>
            <a:lvl9pPr>
              <a:buNone/>
              <a:defRPr sz="16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50" b="0">
                <a:solidFill>
                  <a:srgbClr val="292929"/>
                </a:solidFill>
              </a:rPr>
              <a:t>Обычная регрессия минимизирует ошибку по P и E. Этого недостаточно для соблюдения ограничений на производные.</a:t>
            </a:r>
          </a:p>
        </p:txBody>
      </p:sp>
      <p:sp>
        <p:nvSpPr>
          <p:cNvPr id="8" name="content">
            <a:extLst>
              <a:ext uri="{FF2B5EF4-FFF2-40B4-BE49-F238E27FC236}">
                <a16:creationId xmlns:a16="http://schemas.microsoft.com/office/drawing/2014/main" id="{B1CD4AA1-9FCE-49C1-B869-623763AB50BE}"/>
              </a:ext>
            </a:extLst>
          </p:cNvPr>
          <p:cNvSpPr>
            <a:spLocks noGrp="1"/>
          </p:cNvSpPr>
          <p:nvPr/>
        </p:nvSpPr>
        <p:spPr>
          <a:xfrm>
            <a:off x="4810125" y="1476375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92929"/>
                </a:solidFill>
              </a:defRPr>
            </a:defPPr>
            <a:lvl1pPr>
              <a:buNone/>
              <a:defRPr sz="1875" b="1">
                <a:solidFill>
                  <a:srgbClr val="292929"/>
                </a:solidFill>
              </a:defRPr>
            </a:lvl1pPr>
            <a:lvl2pPr>
              <a:buNone/>
              <a:defRPr sz="1875" b="1">
                <a:solidFill>
                  <a:srgbClr val="292929"/>
                </a:solidFill>
              </a:defRPr>
            </a:lvl2pPr>
            <a:lvl3pPr>
              <a:buNone/>
              <a:defRPr sz="1875" b="1">
                <a:solidFill>
                  <a:srgbClr val="292929"/>
                </a:solidFill>
              </a:defRPr>
            </a:lvl3pPr>
            <a:lvl4pPr>
              <a:buNone/>
              <a:defRPr sz="1875" b="1">
                <a:solidFill>
                  <a:srgbClr val="292929"/>
                </a:solidFill>
              </a:defRPr>
            </a:lvl4pPr>
            <a:lvl5pPr>
              <a:buNone/>
              <a:defRPr sz="1875" b="1">
                <a:solidFill>
                  <a:srgbClr val="292929"/>
                </a:solidFill>
              </a:defRPr>
            </a:lvl5pPr>
            <a:lvl6pPr>
              <a:buNone/>
              <a:defRPr sz="1875" b="1">
                <a:solidFill>
                  <a:srgbClr val="292929"/>
                </a:solidFill>
              </a:defRPr>
            </a:lvl6pPr>
            <a:lvl7pPr>
              <a:buNone/>
              <a:defRPr sz="1875" b="1">
                <a:solidFill>
                  <a:srgbClr val="292929"/>
                </a:solidFill>
              </a:defRPr>
            </a:lvl7pPr>
            <a:lvl8pPr>
              <a:buNone/>
              <a:defRPr sz="1875" b="1">
                <a:solidFill>
                  <a:srgbClr val="292929"/>
                </a:solidFill>
              </a:defRPr>
            </a:lvl8pPr>
            <a:lvl9pPr>
              <a:buNone/>
              <a:defRPr sz="187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875" b="1">
                <a:solidFill>
                  <a:srgbClr val="292929"/>
                </a:solidFill>
              </a:defRPr>
            </a:pPr>
            <a:r>
              <a:rPr sz="1875" b="1">
                <a:solidFill>
                  <a:srgbClr val="292929"/>
                </a:solidFill>
              </a:rPr>
              <a:t>Проверки:</a:t>
            </a:r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76424CA7-3B69-4718-9B85-9B881F5DE266}"/>
              </a:ext>
            </a:extLst>
          </p:cNvPr>
          <p:cNvSpPr>
            <a:spLocks noGrp="1"/>
          </p:cNvSpPr>
          <p:nvPr/>
        </p:nvSpPr>
        <p:spPr>
          <a:xfrm>
            <a:off x="4810125" y="1876425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92929"/>
                </a:solidFill>
              </a:defRPr>
            </a:defPPr>
            <a:lvl1pPr>
              <a:buNone/>
              <a:defRPr sz="1650" b="0">
                <a:solidFill>
                  <a:srgbClr val="292929"/>
                </a:solidFill>
              </a:defRPr>
            </a:lvl1pPr>
            <a:lvl2pPr>
              <a:buNone/>
              <a:defRPr sz="1650" b="0">
                <a:solidFill>
                  <a:srgbClr val="292929"/>
                </a:solidFill>
              </a:defRPr>
            </a:lvl2pPr>
            <a:lvl3pPr>
              <a:buNone/>
              <a:defRPr sz="1650" b="0">
                <a:solidFill>
                  <a:srgbClr val="292929"/>
                </a:solidFill>
              </a:defRPr>
            </a:lvl3pPr>
            <a:lvl4pPr>
              <a:buNone/>
              <a:defRPr sz="1650" b="0">
                <a:solidFill>
                  <a:srgbClr val="292929"/>
                </a:solidFill>
              </a:defRPr>
            </a:lvl4pPr>
            <a:lvl5pPr>
              <a:buNone/>
              <a:defRPr sz="1650" b="0">
                <a:solidFill>
                  <a:srgbClr val="292929"/>
                </a:solidFill>
              </a:defRPr>
            </a:lvl5pPr>
            <a:lvl6pPr>
              <a:buNone/>
              <a:defRPr sz="1650" b="0">
                <a:solidFill>
                  <a:srgbClr val="292929"/>
                </a:solidFill>
              </a:defRPr>
            </a:lvl6pPr>
            <a:lvl7pPr>
              <a:buNone/>
              <a:defRPr sz="1650" b="0">
                <a:solidFill>
                  <a:srgbClr val="292929"/>
                </a:solidFill>
              </a:defRPr>
            </a:lvl7pPr>
            <a:lvl8pPr>
              <a:buNone/>
              <a:defRPr sz="1650" b="0">
                <a:solidFill>
                  <a:srgbClr val="292929"/>
                </a:solidFill>
              </a:defRPr>
            </a:lvl8pPr>
            <a:lvl9pPr>
              <a:buNone/>
              <a:defRPr sz="16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50" b="0">
                <a:solidFill>
                  <a:srgbClr val="292929"/>
                </a:solidFill>
              </a:rPr>
              <a:t>∂P/∂ρ &gt; 0; ∂E/∂T ≥ 0.</a:t>
            </a:r>
          </a:p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50" b="0">
                <a:solidFill>
                  <a:srgbClr val="292929"/>
                </a:solidFill>
              </a:rPr>
              <a:t>Дополнительно проверяется знак ∂P/∂T. В исходных таблицах есть локальные нарушения и плато.</a:t>
            </a:r>
          </a:p>
        </p:txBody>
      </p:sp>
    </p:spTree>
    <p:extLst>
      <p:ext uri="{BB962C8B-B14F-4D97-AF65-F5344CB8AC3E}">
        <p14:creationId xmlns:p14="http://schemas.microsoft.com/office/powerpoint/2010/main" val="127857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8A671BB-1753-4081-90B5-D3357CAA8B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5489C1-E500-42EC-88F1-591AF11629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page-number">
            <a:extLst>
              <a:ext uri="{FF2B5EF4-FFF2-40B4-BE49-F238E27FC236}">
                <a16:creationId xmlns:a16="http://schemas.microsoft.com/office/drawing/2014/main" id="{509424FC-2C7A-4D26-9900-046713F4E351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t>5</a:t>
            </a:r>
            <a:endParaRPr sz="1350" b="0">
              <a:solidFill>
                <a:srgbClr val="292929"/>
              </a:solidFill>
            </a:endParaRP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06097EA4-8D12-4397-BB68-C8D18540E653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929"/>
                </a:solidFill>
              </a:defRPr>
            </a:defPPr>
            <a:lvl1pPr>
              <a:buNone/>
              <a:defRPr sz="2700" b="1">
                <a:solidFill>
                  <a:srgbClr val="292929"/>
                </a:solidFill>
              </a:defRPr>
            </a:lvl1pPr>
            <a:lvl2pPr>
              <a:buNone/>
              <a:defRPr sz="2700" b="1">
                <a:solidFill>
                  <a:srgbClr val="292929"/>
                </a:solidFill>
              </a:defRPr>
            </a:lvl2pPr>
            <a:lvl3pPr>
              <a:buNone/>
              <a:defRPr sz="2700" b="1">
                <a:solidFill>
                  <a:srgbClr val="292929"/>
                </a:solidFill>
              </a:defRPr>
            </a:lvl3pPr>
            <a:lvl4pPr>
              <a:buNone/>
              <a:defRPr sz="2700" b="1">
                <a:solidFill>
                  <a:srgbClr val="292929"/>
                </a:solidFill>
              </a:defRPr>
            </a:lvl4pPr>
            <a:lvl5pPr>
              <a:buNone/>
              <a:defRPr sz="2700" b="1">
                <a:solidFill>
                  <a:srgbClr val="292929"/>
                </a:solidFill>
              </a:defRPr>
            </a:lvl5pPr>
            <a:lvl6pPr>
              <a:buNone/>
              <a:defRPr sz="2700" b="1">
                <a:solidFill>
                  <a:srgbClr val="292929"/>
                </a:solidFill>
              </a:defRPr>
            </a:lvl6pPr>
            <a:lvl7pPr>
              <a:buNone/>
              <a:defRPr sz="2700" b="1">
                <a:solidFill>
                  <a:srgbClr val="292929"/>
                </a:solidFill>
              </a:defRPr>
            </a:lvl7pPr>
            <a:lvl8pPr>
              <a:buNone/>
              <a:defRPr sz="2700" b="1">
                <a:solidFill>
                  <a:srgbClr val="292929"/>
                </a:solidFill>
              </a:defRPr>
            </a:lvl8pPr>
            <a:lvl9pPr>
              <a:buNone/>
              <a:defRPr sz="27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700" b="1">
                <a:solidFill>
                  <a:srgbClr val="292929"/>
                </a:solidFill>
              </a:defRPr>
            </a:pPr>
            <a:r>
              <a:rPr sz="2700" b="1">
                <a:solidFill>
                  <a:srgbClr val="292929"/>
                </a:solidFill>
              </a:rPr>
              <a:t>Данные и обработка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FFB59BD9-B099-4854-ADDB-E8088CC071CD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92929"/>
                </a:solidFill>
              </a:defRPr>
            </a:defPPr>
            <a:lvl1pPr>
              <a:buNone/>
              <a:defRPr sz="1875" b="1">
                <a:solidFill>
                  <a:srgbClr val="292929"/>
                </a:solidFill>
              </a:defRPr>
            </a:lvl1pPr>
            <a:lvl2pPr>
              <a:buNone/>
              <a:defRPr sz="1875" b="1">
                <a:solidFill>
                  <a:srgbClr val="292929"/>
                </a:solidFill>
              </a:defRPr>
            </a:lvl2pPr>
            <a:lvl3pPr>
              <a:buNone/>
              <a:defRPr sz="1875" b="1">
                <a:solidFill>
                  <a:srgbClr val="292929"/>
                </a:solidFill>
              </a:defRPr>
            </a:lvl3pPr>
            <a:lvl4pPr>
              <a:buNone/>
              <a:defRPr sz="1875" b="1">
                <a:solidFill>
                  <a:srgbClr val="292929"/>
                </a:solidFill>
              </a:defRPr>
            </a:lvl4pPr>
            <a:lvl5pPr>
              <a:buNone/>
              <a:defRPr sz="1875" b="1">
                <a:solidFill>
                  <a:srgbClr val="292929"/>
                </a:solidFill>
              </a:defRPr>
            </a:lvl5pPr>
            <a:lvl6pPr>
              <a:buNone/>
              <a:defRPr sz="1875" b="1">
                <a:solidFill>
                  <a:srgbClr val="292929"/>
                </a:solidFill>
              </a:defRPr>
            </a:lvl6pPr>
            <a:lvl7pPr>
              <a:buNone/>
              <a:defRPr sz="1875" b="1">
                <a:solidFill>
                  <a:srgbClr val="292929"/>
                </a:solidFill>
              </a:defRPr>
            </a:lvl7pPr>
            <a:lvl8pPr>
              <a:buNone/>
              <a:defRPr sz="1875" b="1">
                <a:solidFill>
                  <a:srgbClr val="292929"/>
                </a:solidFill>
              </a:defRPr>
            </a:lvl8pPr>
            <a:lvl9pPr>
              <a:buNone/>
              <a:defRPr sz="187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875" b="1">
                <a:solidFill>
                  <a:srgbClr val="292929"/>
                </a:solidFill>
              </a:defRPr>
            </a:pPr>
            <a:r>
              <a:rPr sz="1875" b="1">
                <a:solidFill>
                  <a:srgbClr val="292929"/>
                </a:solidFill>
              </a:rPr>
              <a:t>Объём и диапазоны</a:t>
            </a:r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DC41C17C-E539-43B9-9A8F-BB6517109032}"/>
              </a:ext>
            </a:extLst>
          </p:cNvPr>
          <p:cNvSpPr>
            <a:spLocks noGrp="1"/>
          </p:cNvSpPr>
          <p:nvPr/>
        </p:nvSpPr>
        <p:spPr>
          <a:xfrm>
            <a:off x="857250" y="1781175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92929"/>
                </a:solidFill>
              </a:defRPr>
            </a:defPPr>
            <a:lvl1pPr>
              <a:buNone/>
              <a:defRPr sz="1650" b="0">
                <a:solidFill>
                  <a:srgbClr val="292929"/>
                </a:solidFill>
              </a:defRPr>
            </a:lvl1pPr>
            <a:lvl2pPr>
              <a:buNone/>
              <a:defRPr sz="1650" b="0">
                <a:solidFill>
                  <a:srgbClr val="292929"/>
                </a:solidFill>
              </a:defRPr>
            </a:lvl2pPr>
            <a:lvl3pPr>
              <a:buNone/>
              <a:defRPr sz="1650" b="0">
                <a:solidFill>
                  <a:srgbClr val="292929"/>
                </a:solidFill>
              </a:defRPr>
            </a:lvl3pPr>
            <a:lvl4pPr>
              <a:buNone/>
              <a:defRPr sz="1650" b="0">
                <a:solidFill>
                  <a:srgbClr val="292929"/>
                </a:solidFill>
              </a:defRPr>
            </a:lvl4pPr>
            <a:lvl5pPr>
              <a:buNone/>
              <a:defRPr sz="1650" b="0">
                <a:solidFill>
                  <a:srgbClr val="292929"/>
                </a:solidFill>
              </a:defRPr>
            </a:lvl5pPr>
            <a:lvl6pPr>
              <a:buNone/>
              <a:defRPr sz="1650" b="0">
                <a:solidFill>
                  <a:srgbClr val="292929"/>
                </a:solidFill>
              </a:defRPr>
            </a:lvl6pPr>
            <a:lvl7pPr>
              <a:buNone/>
              <a:defRPr sz="1650" b="0">
                <a:solidFill>
                  <a:srgbClr val="292929"/>
                </a:solidFill>
              </a:defRPr>
            </a:lvl7pPr>
            <a:lvl8pPr>
              <a:buNone/>
              <a:defRPr sz="1650" b="0">
                <a:solidFill>
                  <a:srgbClr val="292929"/>
                </a:solidFill>
              </a:defRPr>
            </a:lvl8pPr>
            <a:lvl9pPr>
              <a:buNone/>
              <a:defRPr sz="16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50" b="0" dirty="0">
                <a:solidFill>
                  <a:srgbClr val="292929"/>
                </a:solidFill>
              </a:rPr>
              <a:t>20 </a:t>
            </a:r>
            <a:r>
              <a:rPr sz="1650" b="0" dirty="0" err="1">
                <a:solidFill>
                  <a:srgbClr val="292929"/>
                </a:solidFill>
              </a:rPr>
              <a:t>областей</a:t>
            </a:r>
            <a:r>
              <a:rPr sz="1650" b="0" dirty="0">
                <a:solidFill>
                  <a:srgbClr val="292929"/>
                </a:solidFill>
              </a:rPr>
              <a:t>, 1 130 053 </a:t>
            </a:r>
            <a:r>
              <a:rPr sz="1650" b="0" dirty="0" err="1">
                <a:solidFill>
                  <a:srgbClr val="292929"/>
                </a:solidFill>
              </a:rPr>
              <a:t>точки</a:t>
            </a:r>
            <a:r>
              <a:rPr sz="1650" b="0" dirty="0">
                <a:solidFill>
                  <a:srgbClr val="292929"/>
                </a:solidFill>
              </a:rPr>
              <a:t>.</a:t>
            </a:r>
          </a:p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50" b="0" dirty="0" err="1">
                <a:solidFill>
                  <a:srgbClr val="292929"/>
                </a:solidFill>
              </a:rPr>
              <a:t>ρ</a:t>
            </a:r>
            <a:r>
              <a:rPr sz="1650" b="0" dirty="0">
                <a:solidFill>
                  <a:srgbClr val="292929"/>
                </a:solidFill>
              </a:rPr>
              <a:t>: 10⁻³</a:t>
            </a:r>
            <a:r>
              <a:rPr lang="ru-RU" sz="1650" b="0" dirty="0">
                <a:solidFill>
                  <a:srgbClr val="292929"/>
                </a:solidFill>
              </a:rPr>
              <a:t>-</a:t>
            </a:r>
            <a:r>
              <a:rPr sz="1650" b="0" dirty="0">
                <a:solidFill>
                  <a:srgbClr val="292929"/>
                </a:solidFill>
              </a:rPr>
              <a:t>10⁴ </a:t>
            </a:r>
            <a:r>
              <a:rPr sz="1650" b="0" dirty="0" err="1">
                <a:solidFill>
                  <a:srgbClr val="292929"/>
                </a:solidFill>
              </a:rPr>
              <a:t>г</a:t>
            </a:r>
            <a:r>
              <a:rPr sz="1650" b="0" dirty="0">
                <a:solidFill>
                  <a:srgbClr val="292929"/>
                </a:solidFill>
              </a:rPr>
              <a:t>/см³; T: 10⁻¹</a:t>
            </a:r>
            <a:r>
              <a:rPr lang="ru-RU" sz="1650" b="0" dirty="0">
                <a:solidFill>
                  <a:srgbClr val="292929"/>
                </a:solidFill>
              </a:rPr>
              <a:t>-</a:t>
            </a:r>
            <a:r>
              <a:rPr sz="1650" b="0" dirty="0">
                <a:solidFill>
                  <a:srgbClr val="292929"/>
                </a:solidFill>
              </a:rPr>
              <a:t>10⁷ K.</a:t>
            </a:r>
          </a:p>
        </p:txBody>
      </p:sp>
      <p:sp>
        <p:nvSpPr>
          <p:cNvPr id="8" name="content">
            <a:extLst>
              <a:ext uri="{FF2B5EF4-FFF2-40B4-BE49-F238E27FC236}">
                <a16:creationId xmlns:a16="http://schemas.microsoft.com/office/drawing/2014/main" id="{BF033C57-DD6E-491E-A2BB-D00C6B52BED9}"/>
              </a:ext>
            </a:extLst>
          </p:cNvPr>
          <p:cNvSpPr>
            <a:spLocks noGrp="1"/>
          </p:cNvSpPr>
          <p:nvPr/>
        </p:nvSpPr>
        <p:spPr>
          <a:xfrm>
            <a:off x="4810125" y="1381125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92929"/>
                </a:solidFill>
              </a:defRPr>
            </a:defPPr>
            <a:lvl1pPr>
              <a:buNone/>
              <a:defRPr sz="1875" b="1">
                <a:solidFill>
                  <a:srgbClr val="292929"/>
                </a:solidFill>
              </a:defRPr>
            </a:lvl1pPr>
            <a:lvl2pPr>
              <a:buNone/>
              <a:defRPr sz="1875" b="1">
                <a:solidFill>
                  <a:srgbClr val="292929"/>
                </a:solidFill>
              </a:defRPr>
            </a:lvl2pPr>
            <a:lvl3pPr>
              <a:buNone/>
              <a:defRPr sz="1875" b="1">
                <a:solidFill>
                  <a:srgbClr val="292929"/>
                </a:solidFill>
              </a:defRPr>
            </a:lvl3pPr>
            <a:lvl4pPr>
              <a:buNone/>
              <a:defRPr sz="1875" b="1">
                <a:solidFill>
                  <a:srgbClr val="292929"/>
                </a:solidFill>
              </a:defRPr>
            </a:lvl4pPr>
            <a:lvl5pPr>
              <a:buNone/>
              <a:defRPr sz="1875" b="1">
                <a:solidFill>
                  <a:srgbClr val="292929"/>
                </a:solidFill>
              </a:defRPr>
            </a:lvl5pPr>
            <a:lvl6pPr>
              <a:buNone/>
              <a:defRPr sz="1875" b="1">
                <a:solidFill>
                  <a:srgbClr val="292929"/>
                </a:solidFill>
              </a:defRPr>
            </a:lvl6pPr>
            <a:lvl7pPr>
              <a:buNone/>
              <a:defRPr sz="1875" b="1">
                <a:solidFill>
                  <a:srgbClr val="292929"/>
                </a:solidFill>
              </a:defRPr>
            </a:lvl7pPr>
            <a:lvl8pPr>
              <a:buNone/>
              <a:defRPr sz="1875" b="1">
                <a:solidFill>
                  <a:srgbClr val="292929"/>
                </a:solidFill>
              </a:defRPr>
            </a:lvl8pPr>
            <a:lvl9pPr>
              <a:buNone/>
              <a:defRPr sz="187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875" b="1">
                <a:solidFill>
                  <a:srgbClr val="292929"/>
                </a:solidFill>
              </a:defRPr>
            </a:pPr>
            <a:r>
              <a:rPr sz="1875" b="1">
                <a:solidFill>
                  <a:srgbClr val="292929"/>
                </a:solidFill>
              </a:rPr>
              <a:t>Проверки при чтении</a:t>
            </a:r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0105AA5D-6D51-436A-8EDC-29C8D4353227}"/>
              </a:ext>
            </a:extLst>
          </p:cNvPr>
          <p:cNvSpPr>
            <a:spLocks noGrp="1"/>
          </p:cNvSpPr>
          <p:nvPr/>
        </p:nvSpPr>
        <p:spPr>
          <a:xfrm>
            <a:off x="4810125" y="1781175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92929"/>
                </a:solidFill>
              </a:defRPr>
            </a:defPPr>
            <a:lvl1pPr>
              <a:buNone/>
              <a:defRPr sz="1650" b="0">
                <a:solidFill>
                  <a:srgbClr val="292929"/>
                </a:solidFill>
              </a:defRPr>
            </a:lvl1pPr>
            <a:lvl2pPr>
              <a:buNone/>
              <a:defRPr sz="1650" b="0">
                <a:solidFill>
                  <a:srgbClr val="292929"/>
                </a:solidFill>
              </a:defRPr>
            </a:lvl2pPr>
            <a:lvl3pPr>
              <a:buNone/>
              <a:defRPr sz="1650" b="0">
                <a:solidFill>
                  <a:srgbClr val="292929"/>
                </a:solidFill>
              </a:defRPr>
            </a:lvl3pPr>
            <a:lvl4pPr>
              <a:buNone/>
              <a:defRPr sz="1650" b="0">
                <a:solidFill>
                  <a:srgbClr val="292929"/>
                </a:solidFill>
              </a:defRPr>
            </a:lvl4pPr>
            <a:lvl5pPr>
              <a:buNone/>
              <a:defRPr sz="1650" b="0">
                <a:solidFill>
                  <a:srgbClr val="292929"/>
                </a:solidFill>
              </a:defRPr>
            </a:lvl5pPr>
            <a:lvl6pPr>
              <a:buNone/>
              <a:defRPr sz="1650" b="0">
                <a:solidFill>
                  <a:srgbClr val="292929"/>
                </a:solidFill>
              </a:defRPr>
            </a:lvl6pPr>
            <a:lvl7pPr>
              <a:buNone/>
              <a:defRPr sz="1650" b="0">
                <a:solidFill>
                  <a:srgbClr val="292929"/>
                </a:solidFill>
              </a:defRPr>
            </a:lvl7pPr>
            <a:lvl8pPr>
              <a:buNone/>
              <a:defRPr sz="1650" b="0">
                <a:solidFill>
                  <a:srgbClr val="292929"/>
                </a:solidFill>
              </a:defRPr>
            </a:lvl8pPr>
            <a:lvl9pPr>
              <a:buNone/>
              <a:defRPr sz="16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50" b="0">
                <a:solidFill>
                  <a:srgbClr val="292929"/>
                </a:solidFill>
              </a:rPr>
              <a:t>Проверяются единицы, NaN, дубликаты (ρ,T), положительность ρ и T, размеры и границы областей.</a:t>
            </a:r>
          </a:p>
        </p:txBody>
      </p:sp>
      <p:sp>
        <p:nvSpPr>
          <p:cNvPr id="10" name="content">
            <a:extLst>
              <a:ext uri="{FF2B5EF4-FFF2-40B4-BE49-F238E27FC236}">
                <a16:creationId xmlns:a16="http://schemas.microsoft.com/office/drawing/2014/main" id="{91B3589D-C773-445C-8E81-B9E83193EA2C}"/>
              </a:ext>
            </a:extLst>
          </p:cNvPr>
          <p:cNvSpPr>
            <a:spLocks noGrp="1"/>
          </p:cNvSpPr>
          <p:nvPr/>
        </p:nvSpPr>
        <p:spPr>
          <a:xfrm>
            <a:off x="857250" y="3095625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92929"/>
                </a:solidFill>
              </a:defRPr>
            </a:defPPr>
            <a:lvl1pPr>
              <a:buNone/>
              <a:defRPr sz="1875" b="1">
                <a:solidFill>
                  <a:srgbClr val="292929"/>
                </a:solidFill>
              </a:defRPr>
            </a:lvl1pPr>
            <a:lvl2pPr>
              <a:buNone/>
              <a:defRPr sz="1875" b="1">
                <a:solidFill>
                  <a:srgbClr val="292929"/>
                </a:solidFill>
              </a:defRPr>
            </a:lvl2pPr>
            <a:lvl3pPr>
              <a:buNone/>
              <a:defRPr sz="1875" b="1">
                <a:solidFill>
                  <a:srgbClr val="292929"/>
                </a:solidFill>
              </a:defRPr>
            </a:lvl3pPr>
            <a:lvl4pPr>
              <a:buNone/>
              <a:defRPr sz="1875" b="1">
                <a:solidFill>
                  <a:srgbClr val="292929"/>
                </a:solidFill>
              </a:defRPr>
            </a:lvl4pPr>
            <a:lvl5pPr>
              <a:buNone/>
              <a:defRPr sz="1875" b="1">
                <a:solidFill>
                  <a:srgbClr val="292929"/>
                </a:solidFill>
              </a:defRPr>
            </a:lvl5pPr>
            <a:lvl6pPr>
              <a:buNone/>
              <a:defRPr sz="1875" b="1">
                <a:solidFill>
                  <a:srgbClr val="292929"/>
                </a:solidFill>
              </a:defRPr>
            </a:lvl6pPr>
            <a:lvl7pPr>
              <a:buNone/>
              <a:defRPr sz="1875" b="1">
                <a:solidFill>
                  <a:srgbClr val="292929"/>
                </a:solidFill>
              </a:defRPr>
            </a:lvl7pPr>
            <a:lvl8pPr>
              <a:buNone/>
              <a:defRPr sz="1875" b="1">
                <a:solidFill>
                  <a:srgbClr val="292929"/>
                </a:solidFill>
              </a:defRPr>
            </a:lvl8pPr>
            <a:lvl9pPr>
              <a:buNone/>
              <a:defRPr sz="187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875" b="1">
                <a:solidFill>
                  <a:srgbClr val="292929"/>
                </a:solidFill>
              </a:defRPr>
            </a:pPr>
            <a:r>
              <a:rPr sz="1875" b="1">
                <a:solidFill>
                  <a:srgbClr val="292929"/>
                </a:solidFill>
              </a:rPr>
              <a:t>Сетки и балансировка</a:t>
            </a:r>
          </a:p>
        </p:txBody>
      </p:sp>
      <p:sp>
        <p:nvSpPr>
          <p:cNvPr id="11" name="content">
            <a:extLst>
              <a:ext uri="{FF2B5EF4-FFF2-40B4-BE49-F238E27FC236}">
                <a16:creationId xmlns:a16="http://schemas.microsoft.com/office/drawing/2014/main" id="{6F9A8E17-B0D9-44B3-A871-5B191F602631}"/>
              </a:ext>
            </a:extLst>
          </p:cNvPr>
          <p:cNvSpPr>
            <a:spLocks noGrp="1"/>
          </p:cNvSpPr>
          <p:nvPr/>
        </p:nvSpPr>
        <p:spPr>
          <a:xfrm>
            <a:off x="857250" y="3495675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92929"/>
                </a:solidFill>
              </a:defRPr>
            </a:defPPr>
            <a:lvl1pPr>
              <a:buNone/>
              <a:defRPr sz="1650" b="0">
                <a:solidFill>
                  <a:srgbClr val="292929"/>
                </a:solidFill>
              </a:defRPr>
            </a:lvl1pPr>
            <a:lvl2pPr>
              <a:buNone/>
              <a:defRPr sz="1650" b="0">
                <a:solidFill>
                  <a:srgbClr val="292929"/>
                </a:solidFill>
              </a:defRPr>
            </a:lvl2pPr>
            <a:lvl3pPr>
              <a:buNone/>
              <a:defRPr sz="1650" b="0">
                <a:solidFill>
                  <a:srgbClr val="292929"/>
                </a:solidFill>
              </a:defRPr>
            </a:lvl3pPr>
            <a:lvl4pPr>
              <a:buNone/>
              <a:defRPr sz="1650" b="0">
                <a:solidFill>
                  <a:srgbClr val="292929"/>
                </a:solidFill>
              </a:defRPr>
            </a:lvl4pPr>
            <a:lvl5pPr>
              <a:buNone/>
              <a:defRPr sz="1650" b="0">
                <a:solidFill>
                  <a:srgbClr val="292929"/>
                </a:solidFill>
              </a:defRPr>
            </a:lvl5pPr>
            <a:lvl6pPr>
              <a:buNone/>
              <a:defRPr sz="1650" b="0">
                <a:solidFill>
                  <a:srgbClr val="292929"/>
                </a:solidFill>
              </a:defRPr>
            </a:lvl6pPr>
            <a:lvl7pPr>
              <a:buNone/>
              <a:defRPr sz="1650" b="0">
                <a:solidFill>
                  <a:srgbClr val="292929"/>
                </a:solidFill>
              </a:defRPr>
            </a:lvl7pPr>
            <a:lvl8pPr>
              <a:buNone/>
              <a:defRPr sz="1650" b="0">
                <a:solidFill>
                  <a:srgbClr val="292929"/>
                </a:solidFill>
              </a:defRPr>
            </a:lvl8pPr>
            <a:lvl9pPr>
              <a:buNone/>
              <a:defRPr sz="16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50" b="0">
                <a:solidFill>
                  <a:srgbClr val="292929"/>
                </a:solidFill>
              </a:rPr>
              <a:t>12 log×log, 4 lin×log,</a:t>
            </a:r>
          </a:p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50" b="0">
                <a:solidFill>
                  <a:srgbClr val="292929"/>
                </a:solidFill>
              </a:rPr>
              <a:t>3 log×lin, 1 lin×lin. В обучении используются веса точек по областям.</a:t>
            </a:r>
          </a:p>
        </p:txBody>
      </p:sp>
      <p:sp>
        <p:nvSpPr>
          <p:cNvPr id="12" name="content">
            <a:extLst>
              <a:ext uri="{FF2B5EF4-FFF2-40B4-BE49-F238E27FC236}">
                <a16:creationId xmlns:a16="http://schemas.microsoft.com/office/drawing/2014/main" id="{5C15F680-FB8D-4982-9724-A2C9BE5496F0}"/>
              </a:ext>
            </a:extLst>
          </p:cNvPr>
          <p:cNvSpPr>
            <a:spLocks noGrp="1"/>
          </p:cNvSpPr>
          <p:nvPr/>
        </p:nvSpPr>
        <p:spPr>
          <a:xfrm>
            <a:off x="4810125" y="3095625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92929"/>
                </a:solidFill>
              </a:defRPr>
            </a:defPPr>
            <a:lvl1pPr>
              <a:buNone/>
              <a:defRPr sz="1875" b="1">
                <a:solidFill>
                  <a:srgbClr val="292929"/>
                </a:solidFill>
              </a:defRPr>
            </a:lvl1pPr>
            <a:lvl2pPr>
              <a:buNone/>
              <a:defRPr sz="1875" b="1">
                <a:solidFill>
                  <a:srgbClr val="292929"/>
                </a:solidFill>
              </a:defRPr>
            </a:lvl2pPr>
            <a:lvl3pPr>
              <a:buNone/>
              <a:defRPr sz="1875" b="1">
                <a:solidFill>
                  <a:srgbClr val="292929"/>
                </a:solidFill>
              </a:defRPr>
            </a:lvl3pPr>
            <a:lvl4pPr>
              <a:buNone/>
              <a:defRPr sz="1875" b="1">
                <a:solidFill>
                  <a:srgbClr val="292929"/>
                </a:solidFill>
              </a:defRPr>
            </a:lvl4pPr>
            <a:lvl5pPr>
              <a:buNone/>
              <a:defRPr sz="1875" b="1">
                <a:solidFill>
                  <a:srgbClr val="292929"/>
                </a:solidFill>
              </a:defRPr>
            </a:lvl5pPr>
            <a:lvl6pPr>
              <a:buNone/>
              <a:defRPr sz="1875" b="1">
                <a:solidFill>
                  <a:srgbClr val="292929"/>
                </a:solidFill>
              </a:defRPr>
            </a:lvl6pPr>
            <a:lvl7pPr>
              <a:buNone/>
              <a:defRPr sz="1875" b="1">
                <a:solidFill>
                  <a:srgbClr val="292929"/>
                </a:solidFill>
              </a:defRPr>
            </a:lvl7pPr>
            <a:lvl8pPr>
              <a:buNone/>
              <a:defRPr sz="1875" b="1">
                <a:solidFill>
                  <a:srgbClr val="292929"/>
                </a:solidFill>
              </a:defRPr>
            </a:lvl8pPr>
            <a:lvl9pPr>
              <a:buNone/>
              <a:defRPr sz="187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875" b="1">
                <a:solidFill>
                  <a:srgbClr val="292929"/>
                </a:solidFill>
              </a:defRPr>
            </a:pPr>
            <a:r>
              <a:rPr sz="1875" b="1">
                <a:solidFill>
                  <a:srgbClr val="292929"/>
                </a:solidFill>
              </a:rPr>
              <a:t>Особенности энергии</a:t>
            </a:r>
          </a:p>
        </p:txBody>
      </p:sp>
      <p:sp>
        <p:nvSpPr>
          <p:cNvPr id="13" name="content">
            <a:extLst>
              <a:ext uri="{FF2B5EF4-FFF2-40B4-BE49-F238E27FC236}">
                <a16:creationId xmlns:a16="http://schemas.microsoft.com/office/drawing/2014/main" id="{D81CE687-92EB-4176-8584-61B619FEA19E}"/>
              </a:ext>
            </a:extLst>
          </p:cNvPr>
          <p:cNvSpPr>
            <a:spLocks noGrp="1"/>
          </p:cNvSpPr>
          <p:nvPr/>
        </p:nvSpPr>
        <p:spPr>
          <a:xfrm>
            <a:off x="4810125" y="3495675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92929"/>
                </a:solidFill>
              </a:defRPr>
            </a:defPPr>
            <a:lvl1pPr>
              <a:buNone/>
              <a:defRPr sz="1650" b="0">
                <a:solidFill>
                  <a:srgbClr val="292929"/>
                </a:solidFill>
              </a:defRPr>
            </a:lvl1pPr>
            <a:lvl2pPr>
              <a:buNone/>
              <a:defRPr sz="1650" b="0">
                <a:solidFill>
                  <a:srgbClr val="292929"/>
                </a:solidFill>
              </a:defRPr>
            </a:lvl2pPr>
            <a:lvl3pPr>
              <a:buNone/>
              <a:defRPr sz="1650" b="0">
                <a:solidFill>
                  <a:srgbClr val="292929"/>
                </a:solidFill>
              </a:defRPr>
            </a:lvl3pPr>
            <a:lvl4pPr>
              <a:buNone/>
              <a:defRPr sz="1650" b="0">
                <a:solidFill>
                  <a:srgbClr val="292929"/>
                </a:solidFill>
              </a:defRPr>
            </a:lvl4pPr>
            <a:lvl5pPr>
              <a:buNone/>
              <a:defRPr sz="1650" b="0">
                <a:solidFill>
                  <a:srgbClr val="292929"/>
                </a:solidFill>
              </a:defRPr>
            </a:lvl5pPr>
            <a:lvl6pPr>
              <a:buNone/>
              <a:defRPr sz="1650" b="0">
                <a:solidFill>
                  <a:srgbClr val="292929"/>
                </a:solidFill>
              </a:defRPr>
            </a:lvl6pPr>
            <a:lvl7pPr>
              <a:buNone/>
              <a:defRPr sz="1650" b="0">
                <a:solidFill>
                  <a:srgbClr val="292929"/>
                </a:solidFill>
              </a:defRPr>
            </a:lvl7pPr>
            <a:lvl8pPr>
              <a:buNone/>
              <a:defRPr sz="1650" b="0">
                <a:solidFill>
                  <a:srgbClr val="292929"/>
                </a:solidFill>
              </a:defRPr>
            </a:lvl8pPr>
            <a:lvl9pPr>
              <a:buNone/>
              <a:defRPr sz="16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50" b="0">
                <a:solidFill>
                  <a:srgbClr val="292929"/>
                </a:solidFill>
              </a:rPr>
              <a:t>19,4% значений E отрицательны. Для энергии применяется asinh(E/E₀), а не обычный логарифм.</a:t>
            </a:r>
          </a:p>
        </p:txBody>
      </p:sp>
    </p:spTree>
    <p:extLst>
      <p:ext uri="{BB962C8B-B14F-4D97-AF65-F5344CB8AC3E}">
        <p14:creationId xmlns:p14="http://schemas.microsoft.com/office/powerpoint/2010/main" val="194388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A476A97-3918-4C1F-919E-A9B34367FA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2C76F7-CF56-4C42-9CF6-9407D437AD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page-number">
            <a:extLst>
              <a:ext uri="{FF2B5EF4-FFF2-40B4-BE49-F238E27FC236}">
                <a16:creationId xmlns:a16="http://schemas.microsoft.com/office/drawing/2014/main" id="{F21721A0-EDF2-4310-8257-50EDCA3A4554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t>6</a:t>
            </a:r>
            <a:endParaRPr sz="1350" b="0">
              <a:solidFill>
                <a:srgbClr val="292929"/>
              </a:solidFill>
            </a:endParaRP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925AA2FA-2075-4DD4-8639-35ACF7ED6CF4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929"/>
                </a:solidFill>
              </a:defRPr>
            </a:defPPr>
            <a:lvl1pPr>
              <a:buNone/>
              <a:defRPr sz="2700" b="1">
                <a:solidFill>
                  <a:srgbClr val="292929"/>
                </a:solidFill>
              </a:defRPr>
            </a:lvl1pPr>
            <a:lvl2pPr>
              <a:buNone/>
              <a:defRPr sz="2700" b="1">
                <a:solidFill>
                  <a:srgbClr val="292929"/>
                </a:solidFill>
              </a:defRPr>
            </a:lvl2pPr>
            <a:lvl3pPr>
              <a:buNone/>
              <a:defRPr sz="2700" b="1">
                <a:solidFill>
                  <a:srgbClr val="292929"/>
                </a:solidFill>
              </a:defRPr>
            </a:lvl3pPr>
            <a:lvl4pPr>
              <a:buNone/>
              <a:defRPr sz="2700" b="1">
                <a:solidFill>
                  <a:srgbClr val="292929"/>
                </a:solidFill>
              </a:defRPr>
            </a:lvl4pPr>
            <a:lvl5pPr>
              <a:buNone/>
              <a:defRPr sz="2700" b="1">
                <a:solidFill>
                  <a:srgbClr val="292929"/>
                </a:solidFill>
              </a:defRPr>
            </a:lvl5pPr>
            <a:lvl6pPr>
              <a:buNone/>
              <a:defRPr sz="2700" b="1">
                <a:solidFill>
                  <a:srgbClr val="292929"/>
                </a:solidFill>
              </a:defRPr>
            </a:lvl6pPr>
            <a:lvl7pPr>
              <a:buNone/>
              <a:defRPr sz="2700" b="1">
                <a:solidFill>
                  <a:srgbClr val="292929"/>
                </a:solidFill>
              </a:defRPr>
            </a:lvl7pPr>
            <a:lvl8pPr>
              <a:buNone/>
              <a:defRPr sz="2700" b="1">
                <a:solidFill>
                  <a:srgbClr val="292929"/>
                </a:solidFill>
              </a:defRPr>
            </a:lvl8pPr>
            <a:lvl9pPr>
              <a:buNone/>
              <a:defRPr sz="27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700" b="1">
                <a:solidFill>
                  <a:srgbClr val="292929"/>
                </a:solidFill>
              </a:defRPr>
            </a:pPr>
            <a:r>
              <a:rPr sz="2700" b="1">
                <a:solidFill>
                  <a:srgbClr val="292929"/>
                </a:solidFill>
              </a:rPr>
              <a:t>EDA: покрытие и особенности таблиц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BAC9E4C-BD1C-4614-892B-016E0D1585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37429" y="1190625"/>
            <a:ext cx="4173517" cy="3333750"/>
          </a:xfrm>
          <a:prstGeom prst="rect">
            <a:avLst/>
          </a:prstGeom>
        </p:spPr>
      </p:pic>
      <p:sp>
        <p:nvSpPr>
          <p:cNvPr id="7" name="content">
            <a:extLst>
              <a:ext uri="{FF2B5EF4-FFF2-40B4-BE49-F238E27FC236}">
                <a16:creationId xmlns:a16="http://schemas.microsoft.com/office/drawing/2014/main" id="{958639CE-D78F-456C-94B6-8D63756AB604}"/>
              </a:ext>
            </a:extLst>
          </p:cNvPr>
          <p:cNvSpPr>
            <a:spLocks noGrp="1"/>
          </p:cNvSpPr>
          <p:nvPr/>
        </p:nvSpPr>
        <p:spPr>
          <a:xfrm>
            <a:off x="5619750" y="1476375"/>
            <a:ext cx="2809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950" b="1">
                <a:solidFill>
                  <a:srgbClr val="292929"/>
                </a:solidFill>
              </a:defRPr>
            </a:defPPr>
            <a:lvl1pPr>
              <a:buNone/>
              <a:defRPr sz="1950" b="1">
                <a:solidFill>
                  <a:srgbClr val="292929"/>
                </a:solidFill>
              </a:defRPr>
            </a:lvl1pPr>
            <a:lvl2pPr>
              <a:buNone/>
              <a:defRPr sz="1950" b="1">
                <a:solidFill>
                  <a:srgbClr val="292929"/>
                </a:solidFill>
              </a:defRPr>
            </a:lvl2pPr>
            <a:lvl3pPr>
              <a:buNone/>
              <a:defRPr sz="1950" b="1">
                <a:solidFill>
                  <a:srgbClr val="292929"/>
                </a:solidFill>
              </a:defRPr>
            </a:lvl3pPr>
            <a:lvl4pPr>
              <a:buNone/>
              <a:defRPr sz="1950" b="1">
                <a:solidFill>
                  <a:srgbClr val="292929"/>
                </a:solidFill>
              </a:defRPr>
            </a:lvl4pPr>
            <a:lvl5pPr>
              <a:buNone/>
              <a:defRPr sz="1950" b="1">
                <a:solidFill>
                  <a:srgbClr val="292929"/>
                </a:solidFill>
              </a:defRPr>
            </a:lvl5pPr>
            <a:lvl6pPr>
              <a:buNone/>
              <a:defRPr sz="1950" b="1">
                <a:solidFill>
                  <a:srgbClr val="292929"/>
                </a:solidFill>
              </a:defRPr>
            </a:lvl6pPr>
            <a:lvl7pPr>
              <a:buNone/>
              <a:defRPr sz="1950" b="1">
                <a:solidFill>
                  <a:srgbClr val="292929"/>
                </a:solidFill>
              </a:defRPr>
            </a:lvl7pPr>
            <a:lvl8pPr>
              <a:buNone/>
              <a:defRPr sz="1950" b="1">
                <a:solidFill>
                  <a:srgbClr val="292929"/>
                </a:solidFill>
              </a:defRPr>
            </a:lvl8pPr>
            <a:lvl9pPr>
              <a:buNone/>
              <a:defRPr sz="195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950" b="1">
                <a:solidFill>
                  <a:srgbClr val="292929"/>
                </a:solidFill>
              </a:defRPr>
            </a:pPr>
            <a:r>
              <a:rPr sz="1800" b="1">
                <a:solidFill>
                  <a:srgbClr val="292929"/>
                </a:solidFill>
              </a:rPr>
              <a:t>Неравномерная плотность точек</a:t>
            </a:r>
          </a:p>
        </p:txBody>
      </p:sp>
      <p:sp>
        <p:nvSpPr>
          <p:cNvPr id="8" name="content">
            <a:extLst>
              <a:ext uri="{FF2B5EF4-FFF2-40B4-BE49-F238E27FC236}">
                <a16:creationId xmlns:a16="http://schemas.microsoft.com/office/drawing/2014/main" id="{11CEA2DC-EC1B-48F4-A7E6-AA1792B56FD6}"/>
              </a:ext>
            </a:extLst>
          </p:cNvPr>
          <p:cNvSpPr>
            <a:spLocks noGrp="1"/>
          </p:cNvSpPr>
          <p:nvPr/>
        </p:nvSpPr>
        <p:spPr>
          <a:xfrm>
            <a:off x="5619750" y="2095500"/>
            <a:ext cx="276225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292929"/>
                </a:solidFill>
              </a:defRPr>
            </a:defPPr>
            <a:lvl1pPr>
              <a:buNone/>
              <a:defRPr sz="1725" b="0">
                <a:solidFill>
                  <a:srgbClr val="292929"/>
                </a:solidFill>
              </a:defRPr>
            </a:lvl1pPr>
            <a:lvl2pPr>
              <a:buNone/>
              <a:defRPr sz="1725" b="0">
                <a:solidFill>
                  <a:srgbClr val="292929"/>
                </a:solidFill>
              </a:defRPr>
            </a:lvl2pPr>
            <a:lvl3pPr>
              <a:buNone/>
              <a:defRPr sz="1725" b="0">
                <a:solidFill>
                  <a:srgbClr val="292929"/>
                </a:solidFill>
              </a:defRPr>
            </a:lvl3pPr>
            <a:lvl4pPr>
              <a:buNone/>
              <a:defRPr sz="1725" b="0">
                <a:solidFill>
                  <a:srgbClr val="292929"/>
                </a:solidFill>
              </a:defRPr>
            </a:lvl4pPr>
            <a:lvl5pPr>
              <a:buNone/>
              <a:defRPr sz="1725" b="0">
                <a:solidFill>
                  <a:srgbClr val="292929"/>
                </a:solidFill>
              </a:defRPr>
            </a:lvl5pPr>
            <a:lvl6pPr>
              <a:buNone/>
              <a:defRPr sz="1725" b="0">
                <a:solidFill>
                  <a:srgbClr val="292929"/>
                </a:solidFill>
              </a:defRPr>
            </a:lvl6pPr>
            <a:lvl7pPr>
              <a:buNone/>
              <a:defRPr sz="1725" b="0">
                <a:solidFill>
                  <a:srgbClr val="292929"/>
                </a:solidFill>
              </a:defRPr>
            </a:lvl7pPr>
            <a:lvl8pPr>
              <a:buNone/>
              <a:defRPr sz="1725" b="0">
                <a:solidFill>
                  <a:srgbClr val="292929"/>
                </a:solidFill>
              </a:defRPr>
            </a:lvl8pPr>
            <a:lvl9pPr>
              <a:buNone/>
              <a:defRPr sz="1725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725" b="0">
                <a:solidFill>
                  <a:srgbClr val="292929"/>
                </a:solidFill>
              </a:defRPr>
            </a:pPr>
            <a:r>
              <a:rPr sz="1600"/>
              <a:t>В интервале, занимающем </a:t>
            </a:r>
            <a:r>
              <a:rPr sz="1600" b="1"/>
              <a:t>7,5% </a:t>
            </a:r>
            <a:r>
              <a:rPr sz="1600"/>
              <a:t>логарифмической шкалы плотности, сосредоточено </a:t>
            </a:r>
            <a:r>
              <a:rPr sz="1600" b="1"/>
              <a:t>34,5% </a:t>
            </a:r>
            <a:r>
              <a:rPr sz="1600"/>
              <a:t>точек.</a:t>
            </a:r>
            <a:endParaRPr sz="1600" b="0">
              <a:solidFill>
                <a:srgbClr val="292929"/>
              </a:solidFill>
            </a:endParaRPr>
          </a:p>
          <a:p>
            <a:pPr>
              <a:buNone/>
              <a:defRPr sz="1725" b="0">
                <a:solidFill>
                  <a:srgbClr val="292929"/>
                </a:solidFill>
              </a:defRPr>
            </a:pPr>
            <a:r>
              <a:rPr sz="1600" b="0">
                <a:solidFill>
                  <a:srgbClr val="292929"/>
                </a:solidFill>
              </a:rPr>
              <a:t>При T ≈ 142 K в Obl02 обнаружен скачок P и E. Это влияет на ошибки интерполяции и физические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805404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9D1A33E-0F1A-446A-8ED4-8DA2673ED7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777DB8-59B4-49D7-B5B5-64D1B59FB5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added-content">
            <a:extLst>
              <a:ext uri="{FF2B5EF4-FFF2-40B4-BE49-F238E27FC236}">
                <a16:creationId xmlns:a16="http://schemas.microsoft.com/office/drawing/2014/main" id="{CD642EA5-6ACE-4937-A486-4225EDDFBF02}"/>
              </a:ext>
            </a:extLst>
          </p:cNvPr>
          <p:cNvSpPr>
            <a:spLocks noGrp="1"/>
          </p:cNvSpPr>
          <p:nvPr/>
        </p:nvSpPr>
        <p:spPr>
          <a:xfrm>
            <a:off x="762000" y="571500"/>
            <a:ext cx="752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292929"/>
                </a:solidFill>
              </a:defRPr>
            </a:defPPr>
            <a:lvl1pPr>
              <a:buNone/>
              <a:defRPr sz="2550" b="1">
                <a:solidFill>
                  <a:srgbClr val="292929"/>
                </a:solidFill>
              </a:defRPr>
            </a:lvl1pPr>
            <a:lvl2pPr>
              <a:buNone/>
              <a:defRPr sz="2550" b="1">
                <a:solidFill>
                  <a:srgbClr val="292929"/>
                </a:solidFill>
              </a:defRPr>
            </a:lvl2pPr>
            <a:lvl3pPr>
              <a:buNone/>
              <a:defRPr sz="2550" b="1">
                <a:solidFill>
                  <a:srgbClr val="292929"/>
                </a:solidFill>
              </a:defRPr>
            </a:lvl3pPr>
            <a:lvl4pPr>
              <a:buNone/>
              <a:defRPr sz="2550" b="1">
                <a:solidFill>
                  <a:srgbClr val="292929"/>
                </a:solidFill>
              </a:defRPr>
            </a:lvl4pPr>
            <a:lvl5pPr>
              <a:buNone/>
              <a:defRPr sz="2550" b="1">
                <a:solidFill>
                  <a:srgbClr val="292929"/>
                </a:solidFill>
              </a:defRPr>
            </a:lvl5pPr>
            <a:lvl6pPr>
              <a:buNone/>
              <a:defRPr sz="2550" b="1">
                <a:solidFill>
                  <a:srgbClr val="292929"/>
                </a:solidFill>
              </a:defRPr>
            </a:lvl6pPr>
            <a:lvl7pPr>
              <a:buNone/>
              <a:defRPr sz="2550" b="1">
                <a:solidFill>
                  <a:srgbClr val="292929"/>
                </a:solidFill>
              </a:defRPr>
            </a:lvl7pPr>
            <a:lvl8pPr>
              <a:buNone/>
              <a:defRPr sz="2550" b="1">
                <a:solidFill>
                  <a:srgbClr val="292929"/>
                </a:solidFill>
              </a:defRPr>
            </a:lvl8pPr>
            <a:lvl9pPr>
              <a:buNone/>
              <a:defRPr sz="255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550" b="1">
                <a:solidFill>
                  <a:srgbClr val="292929"/>
                </a:solidFill>
              </a:defRPr>
            </a:pPr>
            <a:r>
              <a:rPr sz="2550" b="1">
                <a:solidFill>
                  <a:srgbClr val="292929"/>
                </a:solidFill>
              </a:rPr>
              <a:t>EDA: масштаб входных признаков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82CD45-9635-4175-8FD1-3BF28C0614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046230" y="1190625"/>
            <a:ext cx="5051539" cy="2952750"/>
          </a:xfrm>
          <a:prstGeom prst="rect">
            <a:avLst/>
          </a:prstGeom>
        </p:spPr>
      </p:pic>
      <p:sp>
        <p:nvSpPr>
          <p:cNvPr id="6" name="added-content">
            <a:extLst>
              <a:ext uri="{FF2B5EF4-FFF2-40B4-BE49-F238E27FC236}">
                <a16:creationId xmlns:a16="http://schemas.microsoft.com/office/drawing/2014/main" id="{076FFC58-1C82-4F5A-9EAB-CFCAB55F95E7}"/>
              </a:ext>
            </a:extLst>
          </p:cNvPr>
          <p:cNvSpPr>
            <a:spLocks noGrp="1"/>
          </p:cNvSpPr>
          <p:nvPr/>
        </p:nvSpPr>
        <p:spPr>
          <a:xfrm>
            <a:off x="809625" y="4257675"/>
            <a:ext cx="752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92929"/>
                </a:solidFill>
              </a:defRPr>
            </a:defPPr>
            <a:lvl1pPr>
              <a:buNone/>
              <a:defRPr sz="1425" b="0">
                <a:solidFill>
                  <a:srgbClr val="292929"/>
                </a:solidFill>
              </a:defRPr>
            </a:lvl1pPr>
            <a:lvl2pPr>
              <a:buNone/>
              <a:defRPr sz="1425" b="0">
                <a:solidFill>
                  <a:srgbClr val="292929"/>
                </a:solidFill>
              </a:defRPr>
            </a:lvl2pPr>
            <a:lvl3pPr>
              <a:buNone/>
              <a:defRPr sz="1425" b="0">
                <a:solidFill>
                  <a:srgbClr val="292929"/>
                </a:solidFill>
              </a:defRPr>
            </a:lvl3pPr>
            <a:lvl4pPr>
              <a:buNone/>
              <a:defRPr sz="1425" b="0">
                <a:solidFill>
                  <a:srgbClr val="292929"/>
                </a:solidFill>
              </a:defRPr>
            </a:lvl4pPr>
            <a:lvl5pPr>
              <a:buNone/>
              <a:defRPr sz="1425" b="0">
                <a:solidFill>
                  <a:srgbClr val="292929"/>
                </a:solidFill>
              </a:defRPr>
            </a:lvl5pPr>
            <a:lvl6pPr>
              <a:buNone/>
              <a:defRPr sz="1425" b="0">
                <a:solidFill>
                  <a:srgbClr val="292929"/>
                </a:solidFill>
              </a:defRPr>
            </a:lvl6pPr>
            <a:lvl7pPr>
              <a:buNone/>
              <a:defRPr sz="1425" b="0">
                <a:solidFill>
                  <a:srgbClr val="292929"/>
                </a:solidFill>
              </a:defRPr>
            </a:lvl7pPr>
            <a:lvl8pPr>
              <a:buNone/>
              <a:defRPr sz="1425" b="0">
                <a:solidFill>
                  <a:srgbClr val="292929"/>
                </a:solidFill>
              </a:defRPr>
            </a:lvl8pPr>
            <a:lvl9pPr>
              <a:buNone/>
              <a:defRPr sz="1425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После log₁₀ распределения ρ и T становятся менее скошенными. Далее применяется MinMaxScaler по train.</a:t>
            </a:r>
          </a:p>
        </p:txBody>
      </p:sp>
      <p:sp>
        <p:nvSpPr>
          <p:cNvPr id="7" name="page-number">
            <a:extLst>
              <a:ext uri="{FF2B5EF4-FFF2-40B4-BE49-F238E27FC236}">
                <a16:creationId xmlns:a16="http://schemas.microsoft.com/office/drawing/2014/main" id="{9B7B29E5-FADE-4AAB-A404-C10E3680D803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t>7</a:t>
            </a:r>
            <a:endParaRPr sz="1350" b="0">
              <a:solidFill>
                <a:srgbClr val="2929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347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961BBAF-886F-427B-8D18-6C0C6FB2DD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05892E-021A-4354-A88C-7D49CBB612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added-content">
            <a:extLst>
              <a:ext uri="{FF2B5EF4-FFF2-40B4-BE49-F238E27FC236}">
                <a16:creationId xmlns:a16="http://schemas.microsoft.com/office/drawing/2014/main" id="{75163DC8-D9E5-40DB-AA38-FAB8D4BD80E4}"/>
              </a:ext>
            </a:extLst>
          </p:cNvPr>
          <p:cNvSpPr>
            <a:spLocks noGrp="1"/>
          </p:cNvSpPr>
          <p:nvPr/>
        </p:nvSpPr>
        <p:spPr>
          <a:xfrm>
            <a:off x="762000" y="571500"/>
            <a:ext cx="752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292929"/>
                </a:solidFill>
              </a:defRPr>
            </a:defPPr>
            <a:lvl1pPr>
              <a:buNone/>
              <a:defRPr sz="2550" b="1">
                <a:solidFill>
                  <a:srgbClr val="292929"/>
                </a:solidFill>
              </a:defRPr>
            </a:lvl1pPr>
            <a:lvl2pPr>
              <a:buNone/>
              <a:defRPr sz="2550" b="1">
                <a:solidFill>
                  <a:srgbClr val="292929"/>
                </a:solidFill>
              </a:defRPr>
            </a:lvl2pPr>
            <a:lvl3pPr>
              <a:buNone/>
              <a:defRPr sz="2550" b="1">
                <a:solidFill>
                  <a:srgbClr val="292929"/>
                </a:solidFill>
              </a:defRPr>
            </a:lvl3pPr>
            <a:lvl4pPr>
              <a:buNone/>
              <a:defRPr sz="2550" b="1">
                <a:solidFill>
                  <a:srgbClr val="292929"/>
                </a:solidFill>
              </a:defRPr>
            </a:lvl4pPr>
            <a:lvl5pPr>
              <a:buNone/>
              <a:defRPr sz="2550" b="1">
                <a:solidFill>
                  <a:srgbClr val="292929"/>
                </a:solidFill>
              </a:defRPr>
            </a:lvl5pPr>
            <a:lvl6pPr>
              <a:buNone/>
              <a:defRPr sz="2550" b="1">
                <a:solidFill>
                  <a:srgbClr val="292929"/>
                </a:solidFill>
              </a:defRPr>
            </a:lvl6pPr>
            <a:lvl7pPr>
              <a:buNone/>
              <a:defRPr sz="2550" b="1">
                <a:solidFill>
                  <a:srgbClr val="292929"/>
                </a:solidFill>
              </a:defRPr>
            </a:lvl7pPr>
            <a:lvl8pPr>
              <a:buNone/>
              <a:defRPr sz="2550" b="1">
                <a:solidFill>
                  <a:srgbClr val="292929"/>
                </a:solidFill>
              </a:defRPr>
            </a:lvl8pPr>
            <a:lvl9pPr>
              <a:buNone/>
              <a:defRPr sz="255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550" b="1">
                <a:solidFill>
                  <a:srgbClr val="292929"/>
                </a:solidFill>
              </a:defRPr>
            </a:pPr>
            <a:r>
              <a:rPr sz="2550" b="1">
                <a:solidFill>
                  <a:srgbClr val="292929"/>
                </a:solidFill>
              </a:rPr>
              <a:t>EDA: преобразования давления и энергии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1093E0-39CA-4147-BC55-2FA427116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042591" y="1190625"/>
            <a:ext cx="5058818" cy="2952750"/>
          </a:xfrm>
          <a:prstGeom prst="rect">
            <a:avLst/>
          </a:prstGeom>
        </p:spPr>
      </p:pic>
      <p:sp>
        <p:nvSpPr>
          <p:cNvPr id="6" name="added-content">
            <a:extLst>
              <a:ext uri="{FF2B5EF4-FFF2-40B4-BE49-F238E27FC236}">
                <a16:creationId xmlns:a16="http://schemas.microsoft.com/office/drawing/2014/main" id="{5DA23B71-4C3B-4E27-AB71-0347C5C64215}"/>
              </a:ext>
            </a:extLst>
          </p:cNvPr>
          <p:cNvSpPr>
            <a:spLocks noGrp="1"/>
          </p:cNvSpPr>
          <p:nvPr/>
        </p:nvSpPr>
        <p:spPr>
          <a:xfrm>
            <a:off x="809625" y="4257675"/>
            <a:ext cx="752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92929"/>
                </a:solidFill>
              </a:defRPr>
            </a:defPPr>
            <a:lvl1pPr>
              <a:buNone/>
              <a:defRPr sz="1425" b="0">
                <a:solidFill>
                  <a:srgbClr val="292929"/>
                </a:solidFill>
              </a:defRPr>
            </a:lvl1pPr>
            <a:lvl2pPr>
              <a:buNone/>
              <a:defRPr sz="1425" b="0">
                <a:solidFill>
                  <a:srgbClr val="292929"/>
                </a:solidFill>
              </a:defRPr>
            </a:lvl2pPr>
            <a:lvl3pPr>
              <a:buNone/>
              <a:defRPr sz="1425" b="0">
                <a:solidFill>
                  <a:srgbClr val="292929"/>
                </a:solidFill>
              </a:defRPr>
            </a:lvl3pPr>
            <a:lvl4pPr>
              <a:buNone/>
              <a:defRPr sz="1425" b="0">
                <a:solidFill>
                  <a:srgbClr val="292929"/>
                </a:solidFill>
              </a:defRPr>
            </a:lvl4pPr>
            <a:lvl5pPr>
              <a:buNone/>
              <a:defRPr sz="1425" b="0">
                <a:solidFill>
                  <a:srgbClr val="292929"/>
                </a:solidFill>
              </a:defRPr>
            </a:lvl5pPr>
            <a:lvl6pPr>
              <a:buNone/>
              <a:defRPr sz="1425" b="0">
                <a:solidFill>
                  <a:srgbClr val="292929"/>
                </a:solidFill>
              </a:defRPr>
            </a:lvl6pPr>
            <a:lvl7pPr>
              <a:buNone/>
              <a:defRPr sz="1425" b="0">
                <a:solidFill>
                  <a:srgbClr val="292929"/>
                </a:solidFill>
              </a:defRPr>
            </a:lvl7pPr>
            <a:lvl8pPr>
              <a:buNone/>
              <a:defRPr sz="1425" b="0">
                <a:solidFill>
                  <a:srgbClr val="292929"/>
                </a:solidFill>
              </a:defRPr>
            </a:lvl8pPr>
            <a:lvl9pPr>
              <a:buNone/>
              <a:defRPr sz="1425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Для положительного P используется log₁₀. Преобразование asinh(E/E₀) сохраняет отрицательные значения энергии.</a:t>
            </a:r>
          </a:p>
        </p:txBody>
      </p:sp>
      <p:sp>
        <p:nvSpPr>
          <p:cNvPr id="7" name="page-number">
            <a:extLst>
              <a:ext uri="{FF2B5EF4-FFF2-40B4-BE49-F238E27FC236}">
                <a16:creationId xmlns:a16="http://schemas.microsoft.com/office/drawing/2014/main" id="{9B7B29E5-FADE-4AAB-A404-C10E3680D803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t>8</a:t>
            </a:r>
            <a:endParaRPr sz="1350" b="0">
              <a:solidFill>
                <a:srgbClr val="2929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49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B14BA-9AFF-8996-581C-641B4DA1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468" y="427933"/>
            <a:ext cx="5168052" cy="572700"/>
          </a:xfrm>
        </p:spPr>
        <p:txBody>
          <a:bodyPr/>
          <a:lstStyle/>
          <a:p>
            <a:pPr algn="l"/>
            <a:r>
              <a:rPr lang="ru-RU" dirty="0">
                <a:latin typeface="+mn-lt"/>
              </a:rPr>
              <a:t>Асимметрия и эксцесс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10376B9D-8F30-26C4-3EDC-B5E7F5738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594063"/>
              </p:ext>
            </p:extLst>
          </p:nvPr>
        </p:nvGraphicFramePr>
        <p:xfrm>
          <a:off x="367468" y="1085803"/>
          <a:ext cx="7793765" cy="37322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69878">
                  <a:extLst>
                    <a:ext uri="{9D8B030D-6E8A-4147-A177-3AD203B41FA5}">
                      <a16:colId xmlns:a16="http://schemas.microsoft.com/office/drawing/2014/main" val="3622430623"/>
                    </a:ext>
                  </a:extLst>
                </a:gridCol>
                <a:gridCol w="922946">
                  <a:extLst>
                    <a:ext uri="{9D8B030D-6E8A-4147-A177-3AD203B41FA5}">
                      <a16:colId xmlns:a16="http://schemas.microsoft.com/office/drawing/2014/main" val="2987040623"/>
                    </a:ext>
                  </a:extLst>
                </a:gridCol>
                <a:gridCol w="700755">
                  <a:extLst>
                    <a:ext uri="{9D8B030D-6E8A-4147-A177-3AD203B41FA5}">
                      <a16:colId xmlns:a16="http://schemas.microsoft.com/office/drawing/2014/main" val="1367124398"/>
                    </a:ext>
                  </a:extLst>
                </a:gridCol>
                <a:gridCol w="1119499">
                  <a:extLst>
                    <a:ext uri="{9D8B030D-6E8A-4147-A177-3AD203B41FA5}">
                      <a16:colId xmlns:a16="http://schemas.microsoft.com/office/drawing/2014/main" val="608864194"/>
                    </a:ext>
                  </a:extLst>
                </a:gridCol>
                <a:gridCol w="1383731">
                  <a:extLst>
                    <a:ext uri="{9D8B030D-6E8A-4147-A177-3AD203B41FA5}">
                      <a16:colId xmlns:a16="http://schemas.microsoft.com/office/drawing/2014/main" val="4036358501"/>
                    </a:ext>
                  </a:extLst>
                </a:gridCol>
                <a:gridCol w="2196956">
                  <a:extLst>
                    <a:ext uri="{9D8B030D-6E8A-4147-A177-3AD203B41FA5}">
                      <a16:colId xmlns:a16="http://schemas.microsoft.com/office/drawing/2014/main" val="1380636724"/>
                    </a:ext>
                  </a:extLst>
                </a:gridCol>
              </a:tblGrid>
              <a:tr h="579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Величина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 err="1">
                          <a:solidFill>
                            <a:schemeClr val="tx1"/>
                          </a:solidFill>
                        </a:rPr>
                        <a:t>n</a:t>
                      </a: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 err="1">
                          <a:solidFill>
                            <a:schemeClr val="tx1"/>
                          </a:solidFill>
                        </a:rPr>
                        <a:t>Skew</a:t>
                      </a: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 err="1">
                          <a:solidFill>
                            <a:schemeClr val="tx1"/>
                          </a:solidFill>
                        </a:rPr>
                        <a:t>Kurtosis</a:t>
                      </a: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 err="1">
                          <a:solidFill>
                            <a:schemeClr val="tx1"/>
                          </a:solidFill>
                        </a:rPr>
                        <a:t>Std</a:t>
                      </a:r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solidFill>
                            <a:schemeClr val="tx1"/>
                          </a:solidFill>
                        </a:rPr>
                        <a:t>В нижнем 1% шкалы, 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933195"/>
                  </a:ext>
                </a:extLst>
              </a:tr>
              <a:tr h="241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ρ (сырое)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1 130 053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5,185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28,917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1 209,581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86,074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951873"/>
                  </a:ext>
                </a:extLst>
              </a:tr>
              <a:tr h="241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log₁₀(ρ)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1 130 053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0,229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−0,021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1,560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0,751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365937"/>
                  </a:ext>
                </a:extLst>
              </a:tr>
              <a:tr h="410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T (сырое)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1 130 053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4,555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22,015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1 338 240,098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82,376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99401"/>
                  </a:ext>
                </a:extLst>
              </a:tr>
              <a:tr h="241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log₁₀(T)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1 130 053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−0,799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0,539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1,665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0,328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263950"/>
                  </a:ext>
                </a:extLst>
              </a:tr>
              <a:tr h="410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P (сырое)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1 130 053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14,145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251,203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59 576 612,912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94,344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915830"/>
                  </a:ext>
                </a:extLst>
              </a:tr>
              <a:tr h="241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log₁₀(P)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1 130 053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0,675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0,811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1,969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0,055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130008"/>
                  </a:ext>
                </a:extLst>
              </a:tr>
              <a:tr h="241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e (сырое)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1 130 053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4,994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27,328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19 746,675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77,392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735740"/>
                  </a:ext>
                </a:extLst>
              </a:tr>
              <a:tr h="241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e (z-score)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1 130 053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4,994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27,328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1,000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77,392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953876"/>
                  </a:ext>
                </a:extLst>
              </a:tr>
              <a:tr h="241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asinh(e)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1 130 053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−0,473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−0,743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4,793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5,226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644552"/>
                  </a:ext>
                </a:extLst>
              </a:tr>
              <a:tr h="410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 err="1"/>
                        <a:t>log</a:t>
                      </a:r>
                      <a:r>
                        <a:rPr lang="ru-RU" sz="1200" dirty="0"/>
                        <a:t>₁₀(e−e_min+1)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1 130 053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0,595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−0,113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1,081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0,197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053657"/>
                  </a:ext>
                </a:extLst>
              </a:tr>
            </a:tbl>
          </a:graphicData>
        </a:graphic>
      </p:graphicFrame>
      <p:sp>
        <p:nvSpPr>
          <p:cNvPr id="12" name="page-number">
            <a:extLst>
              <a:ext uri="{FF2B5EF4-FFF2-40B4-BE49-F238E27FC236}">
                <a16:creationId xmlns:a16="http://schemas.microsoft.com/office/drawing/2014/main" id="{B8CD67EE-68C0-35BB-1B89-0E7D1883D933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lang="ru-RU" sz="1350" b="0" dirty="0">
                <a:solidFill>
                  <a:srgbClr val="292929"/>
                </a:solidFill>
              </a:rPr>
              <a:t>9</a:t>
            </a:r>
            <a:endParaRPr sz="1350" b="0" dirty="0">
              <a:solidFill>
                <a:srgbClr val="2929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951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B861902-8615-4C5F-9FA5-36B22A83E0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14BAC1-8FDC-4D02-AC9E-3D342FAE10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page-number">
            <a:extLst>
              <a:ext uri="{FF2B5EF4-FFF2-40B4-BE49-F238E27FC236}">
                <a16:creationId xmlns:a16="http://schemas.microsoft.com/office/drawing/2014/main" id="{4B51C4FF-980C-4234-A46C-460F42EE22F5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lang="ru-RU" sz="1350" b="0" dirty="0">
                <a:solidFill>
                  <a:srgbClr val="292929"/>
                </a:solidFill>
              </a:rPr>
              <a:t>10</a:t>
            </a:r>
            <a:endParaRPr sz="1350" b="0" dirty="0">
              <a:solidFill>
                <a:srgbClr val="292929"/>
              </a:solidFill>
            </a:endParaRP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AF06C422-0EBF-48DE-84BD-E8C74D6A2BC2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929"/>
                </a:solidFill>
              </a:defRPr>
            </a:defPPr>
            <a:lvl1pPr>
              <a:buNone/>
              <a:defRPr sz="2700" b="1">
                <a:solidFill>
                  <a:srgbClr val="292929"/>
                </a:solidFill>
              </a:defRPr>
            </a:lvl1pPr>
            <a:lvl2pPr>
              <a:buNone/>
              <a:defRPr sz="2700" b="1">
                <a:solidFill>
                  <a:srgbClr val="292929"/>
                </a:solidFill>
              </a:defRPr>
            </a:lvl2pPr>
            <a:lvl3pPr>
              <a:buNone/>
              <a:defRPr sz="2700" b="1">
                <a:solidFill>
                  <a:srgbClr val="292929"/>
                </a:solidFill>
              </a:defRPr>
            </a:lvl3pPr>
            <a:lvl4pPr>
              <a:buNone/>
              <a:defRPr sz="2700" b="1">
                <a:solidFill>
                  <a:srgbClr val="292929"/>
                </a:solidFill>
              </a:defRPr>
            </a:lvl4pPr>
            <a:lvl5pPr>
              <a:buNone/>
              <a:defRPr sz="2700" b="1">
                <a:solidFill>
                  <a:srgbClr val="292929"/>
                </a:solidFill>
              </a:defRPr>
            </a:lvl5pPr>
            <a:lvl6pPr>
              <a:buNone/>
              <a:defRPr sz="2700" b="1">
                <a:solidFill>
                  <a:srgbClr val="292929"/>
                </a:solidFill>
              </a:defRPr>
            </a:lvl6pPr>
            <a:lvl7pPr>
              <a:buNone/>
              <a:defRPr sz="2700" b="1">
                <a:solidFill>
                  <a:srgbClr val="292929"/>
                </a:solidFill>
              </a:defRPr>
            </a:lvl7pPr>
            <a:lvl8pPr>
              <a:buNone/>
              <a:defRPr sz="2700" b="1">
                <a:solidFill>
                  <a:srgbClr val="292929"/>
                </a:solidFill>
              </a:defRPr>
            </a:lvl8pPr>
            <a:lvl9pPr>
              <a:buNone/>
              <a:defRPr sz="27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700" b="1">
                <a:solidFill>
                  <a:srgbClr val="292929"/>
                </a:solidFill>
              </a:defRPr>
            </a:pPr>
            <a:r>
              <a:rPr sz="2700" b="1" dirty="0" err="1">
                <a:solidFill>
                  <a:srgbClr val="292929"/>
                </a:solidFill>
              </a:rPr>
              <a:t>Нормировка</a:t>
            </a:r>
            <a:r>
              <a:rPr sz="2700" b="1" dirty="0">
                <a:solidFill>
                  <a:srgbClr val="292929"/>
                </a:solidFill>
              </a:rPr>
              <a:t> </a:t>
            </a:r>
            <a:r>
              <a:rPr sz="2700" b="1" dirty="0" err="1">
                <a:solidFill>
                  <a:srgbClr val="292929"/>
                </a:solidFill>
              </a:rPr>
              <a:t>и</a:t>
            </a:r>
            <a:r>
              <a:rPr sz="2700" b="1" dirty="0">
                <a:solidFill>
                  <a:srgbClr val="292929"/>
                </a:solidFill>
              </a:rPr>
              <a:t> </a:t>
            </a:r>
            <a:r>
              <a:rPr sz="2700" b="1" dirty="0" err="1">
                <a:solidFill>
                  <a:srgbClr val="292929"/>
                </a:solidFill>
              </a:rPr>
              <a:t>разбиение</a:t>
            </a:r>
            <a:endParaRPr sz="2700" b="1" dirty="0">
              <a:solidFill>
                <a:srgbClr val="292929"/>
              </a:solidFill>
            </a:endParaRP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169A5814-CDE7-4EA9-BA46-FB9F7EFD82E8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92929"/>
                </a:solidFill>
              </a:defRPr>
            </a:defPPr>
            <a:lvl1pPr>
              <a:buNone/>
              <a:defRPr sz="1875" b="1">
                <a:solidFill>
                  <a:srgbClr val="292929"/>
                </a:solidFill>
              </a:defRPr>
            </a:lvl1pPr>
            <a:lvl2pPr>
              <a:buNone/>
              <a:defRPr sz="1875" b="1">
                <a:solidFill>
                  <a:srgbClr val="292929"/>
                </a:solidFill>
              </a:defRPr>
            </a:lvl2pPr>
            <a:lvl3pPr>
              <a:buNone/>
              <a:defRPr sz="1875" b="1">
                <a:solidFill>
                  <a:srgbClr val="292929"/>
                </a:solidFill>
              </a:defRPr>
            </a:lvl3pPr>
            <a:lvl4pPr>
              <a:buNone/>
              <a:defRPr sz="1875" b="1">
                <a:solidFill>
                  <a:srgbClr val="292929"/>
                </a:solidFill>
              </a:defRPr>
            </a:lvl4pPr>
            <a:lvl5pPr>
              <a:buNone/>
              <a:defRPr sz="1875" b="1">
                <a:solidFill>
                  <a:srgbClr val="292929"/>
                </a:solidFill>
              </a:defRPr>
            </a:lvl5pPr>
            <a:lvl6pPr>
              <a:buNone/>
              <a:defRPr sz="1875" b="1">
                <a:solidFill>
                  <a:srgbClr val="292929"/>
                </a:solidFill>
              </a:defRPr>
            </a:lvl6pPr>
            <a:lvl7pPr>
              <a:buNone/>
              <a:defRPr sz="1875" b="1">
                <a:solidFill>
                  <a:srgbClr val="292929"/>
                </a:solidFill>
              </a:defRPr>
            </a:lvl7pPr>
            <a:lvl8pPr>
              <a:buNone/>
              <a:defRPr sz="1875" b="1">
                <a:solidFill>
                  <a:srgbClr val="292929"/>
                </a:solidFill>
              </a:defRPr>
            </a:lvl8pPr>
            <a:lvl9pPr>
              <a:buNone/>
              <a:defRPr sz="187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875" b="1">
                <a:solidFill>
                  <a:srgbClr val="292929"/>
                </a:solidFill>
              </a:defRPr>
            </a:pPr>
            <a:r>
              <a:rPr sz="1875" b="1">
                <a:solidFill>
                  <a:srgbClr val="292929"/>
                </a:solidFill>
              </a:rPr>
              <a:t>Входные признаки</a:t>
            </a:r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FF77BF2F-6834-4DAE-99FB-9C6635C1053E}"/>
              </a:ext>
            </a:extLst>
          </p:cNvPr>
          <p:cNvSpPr>
            <a:spLocks noGrp="1"/>
          </p:cNvSpPr>
          <p:nvPr/>
        </p:nvSpPr>
        <p:spPr>
          <a:xfrm>
            <a:off x="857250" y="1781175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92929"/>
                </a:solidFill>
              </a:defRPr>
            </a:defPPr>
            <a:lvl1pPr>
              <a:buNone/>
              <a:defRPr sz="1650" b="0">
                <a:solidFill>
                  <a:srgbClr val="292929"/>
                </a:solidFill>
              </a:defRPr>
            </a:lvl1pPr>
            <a:lvl2pPr>
              <a:buNone/>
              <a:defRPr sz="1650" b="0">
                <a:solidFill>
                  <a:srgbClr val="292929"/>
                </a:solidFill>
              </a:defRPr>
            </a:lvl2pPr>
            <a:lvl3pPr>
              <a:buNone/>
              <a:defRPr sz="1650" b="0">
                <a:solidFill>
                  <a:srgbClr val="292929"/>
                </a:solidFill>
              </a:defRPr>
            </a:lvl3pPr>
            <a:lvl4pPr>
              <a:buNone/>
              <a:defRPr sz="1650" b="0">
                <a:solidFill>
                  <a:srgbClr val="292929"/>
                </a:solidFill>
              </a:defRPr>
            </a:lvl4pPr>
            <a:lvl5pPr>
              <a:buNone/>
              <a:defRPr sz="1650" b="0">
                <a:solidFill>
                  <a:srgbClr val="292929"/>
                </a:solidFill>
              </a:defRPr>
            </a:lvl5pPr>
            <a:lvl6pPr>
              <a:buNone/>
              <a:defRPr sz="1650" b="0">
                <a:solidFill>
                  <a:srgbClr val="292929"/>
                </a:solidFill>
              </a:defRPr>
            </a:lvl6pPr>
            <a:lvl7pPr>
              <a:buNone/>
              <a:defRPr sz="1650" b="0">
                <a:solidFill>
                  <a:srgbClr val="292929"/>
                </a:solidFill>
              </a:defRPr>
            </a:lvl7pPr>
            <a:lvl8pPr>
              <a:buNone/>
              <a:defRPr sz="1650" b="0">
                <a:solidFill>
                  <a:srgbClr val="292929"/>
                </a:solidFill>
              </a:defRPr>
            </a:lvl8pPr>
            <a:lvl9pPr>
              <a:buNone/>
              <a:defRPr sz="16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50" b="0" dirty="0">
                <a:solidFill>
                  <a:srgbClr val="292929"/>
                </a:solidFill>
              </a:rPr>
              <a:t>log₁₀</a:t>
            </a:r>
            <a:r>
              <a:rPr sz="1650" b="0" dirty="0" err="1">
                <a:solidFill>
                  <a:srgbClr val="292929"/>
                </a:solidFill>
              </a:rPr>
              <a:t>ρ</a:t>
            </a:r>
            <a:r>
              <a:rPr sz="1650" b="0" dirty="0">
                <a:solidFill>
                  <a:srgbClr val="292929"/>
                </a:solidFill>
              </a:rPr>
              <a:t>, log₁₀T; </a:t>
            </a:r>
            <a:r>
              <a:rPr sz="1650" b="0" dirty="0" err="1">
                <a:solidFill>
                  <a:srgbClr val="292929"/>
                </a:solidFill>
              </a:rPr>
              <a:t>затем</a:t>
            </a:r>
            <a:endParaRPr sz="1650" b="0" dirty="0">
              <a:solidFill>
                <a:srgbClr val="292929"/>
              </a:solidFill>
            </a:endParaRPr>
          </a:p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50" b="0" dirty="0" err="1">
                <a:solidFill>
                  <a:srgbClr val="292929"/>
                </a:solidFill>
              </a:rPr>
              <a:t>MinMaxScaler</a:t>
            </a:r>
            <a:r>
              <a:rPr sz="1650" b="0" dirty="0">
                <a:solidFill>
                  <a:srgbClr val="292929"/>
                </a:solidFill>
              </a:rPr>
              <a:t> </a:t>
            </a:r>
            <a:r>
              <a:rPr sz="1650" b="0" dirty="0" err="1">
                <a:solidFill>
                  <a:srgbClr val="292929"/>
                </a:solidFill>
              </a:rPr>
              <a:t>в</a:t>
            </a:r>
            <a:r>
              <a:rPr sz="1650" b="0" dirty="0">
                <a:solidFill>
                  <a:srgbClr val="292929"/>
                </a:solidFill>
              </a:rPr>
              <a:t> </a:t>
            </a:r>
            <a:r>
              <a:rPr sz="1650" b="0" dirty="0" err="1">
                <a:solidFill>
                  <a:srgbClr val="292929"/>
                </a:solidFill>
              </a:rPr>
              <a:t>диапазон</a:t>
            </a:r>
            <a:r>
              <a:rPr sz="1650" b="0" dirty="0">
                <a:solidFill>
                  <a:srgbClr val="292929"/>
                </a:solidFill>
              </a:rPr>
              <a:t> [</a:t>
            </a:r>
            <a:r>
              <a:rPr lang="ru-RU" sz="1650" b="0" dirty="0">
                <a:solidFill>
                  <a:srgbClr val="292929"/>
                </a:solidFill>
              </a:rPr>
              <a:t>-</a:t>
            </a:r>
            <a:r>
              <a:rPr sz="1650" b="0" dirty="0">
                <a:solidFill>
                  <a:srgbClr val="292929"/>
                </a:solidFill>
              </a:rPr>
              <a:t>1, 1].</a:t>
            </a:r>
          </a:p>
        </p:txBody>
      </p:sp>
      <p:sp>
        <p:nvSpPr>
          <p:cNvPr id="8" name="content">
            <a:extLst>
              <a:ext uri="{FF2B5EF4-FFF2-40B4-BE49-F238E27FC236}">
                <a16:creationId xmlns:a16="http://schemas.microsoft.com/office/drawing/2014/main" id="{C83F945D-72E3-4106-AFF3-FD4344925DBB}"/>
              </a:ext>
            </a:extLst>
          </p:cNvPr>
          <p:cNvSpPr>
            <a:spLocks noGrp="1"/>
          </p:cNvSpPr>
          <p:nvPr/>
        </p:nvSpPr>
        <p:spPr>
          <a:xfrm>
            <a:off x="4810125" y="1381125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92929"/>
                </a:solidFill>
              </a:defRPr>
            </a:defPPr>
            <a:lvl1pPr>
              <a:buNone/>
              <a:defRPr sz="1875" b="1">
                <a:solidFill>
                  <a:srgbClr val="292929"/>
                </a:solidFill>
              </a:defRPr>
            </a:lvl1pPr>
            <a:lvl2pPr>
              <a:buNone/>
              <a:defRPr sz="1875" b="1">
                <a:solidFill>
                  <a:srgbClr val="292929"/>
                </a:solidFill>
              </a:defRPr>
            </a:lvl2pPr>
            <a:lvl3pPr>
              <a:buNone/>
              <a:defRPr sz="1875" b="1">
                <a:solidFill>
                  <a:srgbClr val="292929"/>
                </a:solidFill>
              </a:defRPr>
            </a:lvl3pPr>
            <a:lvl4pPr>
              <a:buNone/>
              <a:defRPr sz="1875" b="1">
                <a:solidFill>
                  <a:srgbClr val="292929"/>
                </a:solidFill>
              </a:defRPr>
            </a:lvl4pPr>
            <a:lvl5pPr>
              <a:buNone/>
              <a:defRPr sz="1875" b="1">
                <a:solidFill>
                  <a:srgbClr val="292929"/>
                </a:solidFill>
              </a:defRPr>
            </a:lvl5pPr>
            <a:lvl6pPr>
              <a:buNone/>
              <a:defRPr sz="1875" b="1">
                <a:solidFill>
                  <a:srgbClr val="292929"/>
                </a:solidFill>
              </a:defRPr>
            </a:lvl6pPr>
            <a:lvl7pPr>
              <a:buNone/>
              <a:defRPr sz="1875" b="1">
                <a:solidFill>
                  <a:srgbClr val="292929"/>
                </a:solidFill>
              </a:defRPr>
            </a:lvl7pPr>
            <a:lvl8pPr>
              <a:buNone/>
              <a:defRPr sz="1875" b="1">
                <a:solidFill>
                  <a:srgbClr val="292929"/>
                </a:solidFill>
              </a:defRPr>
            </a:lvl8pPr>
            <a:lvl9pPr>
              <a:buNone/>
              <a:defRPr sz="187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875" b="1">
                <a:solidFill>
                  <a:srgbClr val="292929"/>
                </a:solidFill>
              </a:defRPr>
            </a:pPr>
            <a:r>
              <a:rPr sz="1875" b="1">
                <a:solidFill>
                  <a:srgbClr val="292929"/>
                </a:solidFill>
              </a:rPr>
              <a:t>Целевые величины</a:t>
            </a:r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7B05F516-CE0A-414B-B4EB-0B8F1249C201}"/>
              </a:ext>
            </a:extLst>
          </p:cNvPr>
          <p:cNvSpPr>
            <a:spLocks noGrp="1"/>
          </p:cNvSpPr>
          <p:nvPr/>
        </p:nvSpPr>
        <p:spPr>
          <a:xfrm>
            <a:off x="4810125" y="1781175"/>
            <a:ext cx="3476625" cy="55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92929"/>
                </a:solidFill>
              </a:defRPr>
            </a:defPPr>
            <a:lvl1pPr>
              <a:buNone/>
              <a:defRPr sz="1650" b="0">
                <a:solidFill>
                  <a:srgbClr val="292929"/>
                </a:solidFill>
              </a:defRPr>
            </a:lvl1pPr>
            <a:lvl2pPr>
              <a:buNone/>
              <a:defRPr sz="1650" b="0">
                <a:solidFill>
                  <a:srgbClr val="292929"/>
                </a:solidFill>
              </a:defRPr>
            </a:lvl2pPr>
            <a:lvl3pPr>
              <a:buNone/>
              <a:defRPr sz="1650" b="0">
                <a:solidFill>
                  <a:srgbClr val="292929"/>
                </a:solidFill>
              </a:defRPr>
            </a:lvl3pPr>
            <a:lvl4pPr>
              <a:buNone/>
              <a:defRPr sz="1650" b="0">
                <a:solidFill>
                  <a:srgbClr val="292929"/>
                </a:solidFill>
              </a:defRPr>
            </a:lvl4pPr>
            <a:lvl5pPr>
              <a:buNone/>
              <a:defRPr sz="1650" b="0">
                <a:solidFill>
                  <a:srgbClr val="292929"/>
                </a:solidFill>
              </a:defRPr>
            </a:lvl5pPr>
            <a:lvl6pPr>
              <a:buNone/>
              <a:defRPr sz="1650" b="0">
                <a:solidFill>
                  <a:srgbClr val="292929"/>
                </a:solidFill>
              </a:defRPr>
            </a:lvl6pPr>
            <a:lvl7pPr>
              <a:buNone/>
              <a:defRPr sz="1650" b="0">
                <a:solidFill>
                  <a:srgbClr val="292929"/>
                </a:solidFill>
              </a:defRPr>
            </a:lvl7pPr>
            <a:lvl8pPr>
              <a:buNone/>
              <a:defRPr sz="1650" b="0">
                <a:solidFill>
                  <a:srgbClr val="292929"/>
                </a:solidFill>
              </a:defRPr>
            </a:lvl8pPr>
            <a:lvl9pPr>
              <a:buNone/>
              <a:defRPr sz="16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50" b="0" dirty="0">
                <a:solidFill>
                  <a:srgbClr val="292929"/>
                </a:solidFill>
              </a:rPr>
              <a:t>log₁₀P </a:t>
            </a:r>
            <a:r>
              <a:rPr sz="1650" b="0" dirty="0" err="1">
                <a:solidFill>
                  <a:srgbClr val="292929"/>
                </a:solidFill>
              </a:rPr>
              <a:t>и</a:t>
            </a:r>
            <a:r>
              <a:rPr sz="1650" b="0" dirty="0">
                <a:solidFill>
                  <a:srgbClr val="292929"/>
                </a:solidFill>
              </a:rPr>
              <a:t> </a:t>
            </a:r>
            <a:r>
              <a:rPr sz="1650" b="0" dirty="0" err="1">
                <a:solidFill>
                  <a:srgbClr val="292929"/>
                </a:solidFill>
              </a:rPr>
              <a:t>asinh</a:t>
            </a:r>
            <a:r>
              <a:rPr sz="1650" b="0" dirty="0">
                <a:solidFill>
                  <a:srgbClr val="292929"/>
                </a:solidFill>
              </a:rPr>
              <a:t>(E); </a:t>
            </a:r>
            <a:r>
              <a:rPr sz="1650" b="0" dirty="0" err="1">
                <a:solidFill>
                  <a:srgbClr val="292929"/>
                </a:solidFill>
              </a:rPr>
              <a:t>затем</a:t>
            </a:r>
            <a:r>
              <a:rPr sz="1650" b="0" dirty="0">
                <a:solidFill>
                  <a:srgbClr val="292929"/>
                </a:solidFill>
              </a:rPr>
              <a:t> </a:t>
            </a:r>
            <a:r>
              <a:rPr sz="1650" b="0" dirty="0" err="1">
                <a:solidFill>
                  <a:srgbClr val="292929"/>
                </a:solidFill>
              </a:rPr>
              <a:t>RobustScaler</a:t>
            </a:r>
            <a:r>
              <a:rPr sz="1650" b="0" dirty="0">
                <a:solidFill>
                  <a:srgbClr val="292929"/>
                </a:solidFill>
              </a:rPr>
              <a:t>.</a:t>
            </a: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C66C6317-1298-479C-BCC3-5FCF2657DB37}"/>
              </a:ext>
            </a:extLst>
          </p:cNvPr>
          <p:cNvGraphicFramePr/>
          <p:nvPr/>
        </p:nvGraphicFramePr>
        <p:xfrm>
          <a:off x="857250" y="3246625"/>
          <a:ext cx="6858000" cy="13335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92929"/>
                          </a:solidFill>
                        </a:rPr>
                        <a:t>Выборка</a:t>
                      </a:r>
                    </a:p>
                  </a:txBody>
                  <a:tcPr>
                    <a:lnL w="6668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B1C9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92929"/>
                          </a:solidFill>
                        </a:rPr>
                        <a:t>Количество точек</a:t>
                      </a:r>
                    </a:p>
                  </a:txBody>
                  <a:tcPr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B1C9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92929"/>
                          </a:solidFill>
                        </a:rPr>
                        <a:t>Train</a:t>
                      </a:r>
                    </a:p>
                  </a:txBody>
                  <a:tcPr>
                    <a:lnL w="6668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92929"/>
                          </a:solidFill>
                        </a:rPr>
                        <a:t>286 521</a:t>
                      </a:r>
                    </a:p>
                  </a:txBody>
                  <a:tcPr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92929"/>
                          </a:solidFill>
                        </a:rPr>
                        <a:t>Validation</a:t>
                      </a:r>
                    </a:p>
                  </a:txBody>
                  <a:tcPr>
                    <a:lnL w="6668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92929"/>
                          </a:solidFill>
                        </a:rPr>
                        <a:t>168 706</a:t>
                      </a:r>
                    </a:p>
                  </a:txBody>
                  <a:tcPr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92929"/>
                          </a:solidFill>
                        </a:rPr>
                        <a:t>Test</a:t>
                      </a:r>
                    </a:p>
                  </a:txBody>
                  <a:tcPr>
                    <a:lnL w="6668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92929"/>
                          </a:solidFill>
                        </a:rPr>
                        <a:t>674 826</a:t>
                      </a:r>
                    </a:p>
                  </a:txBody>
                  <a:tcPr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content">
            <a:extLst>
              <a:ext uri="{FF2B5EF4-FFF2-40B4-BE49-F238E27FC236}">
                <a16:creationId xmlns:a16="http://schemas.microsoft.com/office/drawing/2014/main" id="{103A7E76-584B-4016-97EA-1064080ABCFC}"/>
              </a:ext>
            </a:extLst>
          </p:cNvPr>
          <p:cNvSpPr>
            <a:spLocks noGrp="1"/>
          </p:cNvSpPr>
          <p:nvPr/>
        </p:nvSpPr>
        <p:spPr>
          <a:xfrm>
            <a:off x="857250" y="2807075"/>
            <a:ext cx="742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575" b="0">
                <a:solidFill>
                  <a:srgbClr val="292929"/>
                </a:solidFill>
              </a:defRPr>
            </a:defPPr>
            <a:lvl1pPr>
              <a:buNone/>
              <a:defRPr sz="1575" b="0">
                <a:solidFill>
                  <a:srgbClr val="292929"/>
                </a:solidFill>
              </a:defRPr>
            </a:lvl1pPr>
            <a:lvl2pPr>
              <a:buNone/>
              <a:defRPr sz="1575" b="0">
                <a:solidFill>
                  <a:srgbClr val="292929"/>
                </a:solidFill>
              </a:defRPr>
            </a:lvl2pPr>
            <a:lvl3pPr>
              <a:buNone/>
              <a:defRPr sz="1575" b="0">
                <a:solidFill>
                  <a:srgbClr val="292929"/>
                </a:solidFill>
              </a:defRPr>
            </a:lvl3pPr>
            <a:lvl4pPr>
              <a:buNone/>
              <a:defRPr sz="1575" b="0">
                <a:solidFill>
                  <a:srgbClr val="292929"/>
                </a:solidFill>
              </a:defRPr>
            </a:lvl4pPr>
            <a:lvl5pPr>
              <a:buNone/>
              <a:defRPr sz="1575" b="0">
                <a:solidFill>
                  <a:srgbClr val="292929"/>
                </a:solidFill>
              </a:defRPr>
            </a:lvl5pPr>
            <a:lvl6pPr>
              <a:buNone/>
              <a:defRPr sz="1575" b="0">
                <a:solidFill>
                  <a:srgbClr val="292929"/>
                </a:solidFill>
              </a:defRPr>
            </a:lvl6pPr>
            <a:lvl7pPr>
              <a:buNone/>
              <a:defRPr sz="1575" b="0">
                <a:solidFill>
                  <a:srgbClr val="292929"/>
                </a:solidFill>
              </a:defRPr>
            </a:lvl7pPr>
            <a:lvl8pPr>
              <a:buNone/>
              <a:defRPr sz="1575" b="0">
                <a:solidFill>
                  <a:srgbClr val="292929"/>
                </a:solidFill>
              </a:defRPr>
            </a:lvl8pPr>
            <a:lvl9pPr>
              <a:buNone/>
              <a:defRPr sz="1575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575" b="0">
                <a:solidFill>
                  <a:srgbClr val="292929"/>
                </a:solidFill>
              </a:defRPr>
            </a:pPr>
            <a:r>
              <a:rPr sz="1575" b="0">
                <a:solidFill>
                  <a:srgbClr val="292929"/>
                </a:solidFill>
              </a:rPr>
              <a:t>Train: узлы прореженной сетки. Остальные: val/test = 20/80, seed = 0.</a:t>
            </a:r>
          </a:p>
        </p:txBody>
      </p:sp>
    </p:spTree>
    <p:extLst>
      <p:ext uri="{BB962C8B-B14F-4D97-AF65-F5344CB8AC3E}">
        <p14:creationId xmlns:p14="http://schemas.microsoft.com/office/powerpoint/2010/main" val="2053361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D75CE1B-6B73-48F2-A3D4-E057BA39F5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6A6AEB-6B4F-48F9-82EB-7E48327DDF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added-content">
            <a:extLst>
              <a:ext uri="{FF2B5EF4-FFF2-40B4-BE49-F238E27FC236}">
                <a16:creationId xmlns:a16="http://schemas.microsoft.com/office/drawing/2014/main" id="{18636AE3-6E3E-4EEC-B178-73E50597CDD5}"/>
              </a:ext>
            </a:extLst>
          </p:cNvPr>
          <p:cNvSpPr>
            <a:spLocks noGrp="1"/>
          </p:cNvSpPr>
          <p:nvPr/>
        </p:nvSpPr>
        <p:spPr>
          <a:xfrm>
            <a:off x="762000" y="571500"/>
            <a:ext cx="752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292929"/>
                </a:solidFill>
              </a:defRPr>
            </a:defPPr>
            <a:lvl1pPr>
              <a:buNone/>
              <a:defRPr sz="2550" b="1">
                <a:solidFill>
                  <a:srgbClr val="292929"/>
                </a:solidFill>
              </a:defRPr>
            </a:lvl1pPr>
            <a:lvl2pPr>
              <a:buNone/>
              <a:defRPr sz="2550" b="1">
                <a:solidFill>
                  <a:srgbClr val="292929"/>
                </a:solidFill>
              </a:defRPr>
            </a:lvl2pPr>
            <a:lvl3pPr>
              <a:buNone/>
              <a:defRPr sz="2550" b="1">
                <a:solidFill>
                  <a:srgbClr val="292929"/>
                </a:solidFill>
              </a:defRPr>
            </a:lvl3pPr>
            <a:lvl4pPr>
              <a:buNone/>
              <a:defRPr sz="2550" b="1">
                <a:solidFill>
                  <a:srgbClr val="292929"/>
                </a:solidFill>
              </a:defRPr>
            </a:lvl4pPr>
            <a:lvl5pPr>
              <a:buNone/>
              <a:defRPr sz="2550" b="1">
                <a:solidFill>
                  <a:srgbClr val="292929"/>
                </a:solidFill>
              </a:defRPr>
            </a:lvl5pPr>
            <a:lvl6pPr>
              <a:buNone/>
              <a:defRPr sz="2550" b="1">
                <a:solidFill>
                  <a:srgbClr val="292929"/>
                </a:solidFill>
              </a:defRPr>
            </a:lvl6pPr>
            <a:lvl7pPr>
              <a:buNone/>
              <a:defRPr sz="2550" b="1">
                <a:solidFill>
                  <a:srgbClr val="292929"/>
                </a:solidFill>
              </a:defRPr>
            </a:lvl7pPr>
            <a:lvl8pPr>
              <a:buNone/>
              <a:defRPr sz="2550" b="1">
                <a:solidFill>
                  <a:srgbClr val="292929"/>
                </a:solidFill>
              </a:defRPr>
            </a:lvl8pPr>
            <a:lvl9pPr>
              <a:buNone/>
              <a:defRPr sz="255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550" b="1">
                <a:solidFill>
                  <a:srgbClr val="292929"/>
                </a:solidFill>
              </a:defRPr>
            </a:pPr>
            <a:r>
              <a:rPr sz="2550" b="1">
                <a:solidFill>
                  <a:srgbClr val="292929"/>
                </a:solidFill>
              </a:rPr>
              <a:t>Сечения табличного УРС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4FF808-C55D-4908-9E95-99410CB2B2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361001" y="1190625"/>
            <a:ext cx="4517248" cy="3000375"/>
          </a:xfrm>
          <a:prstGeom prst="rect">
            <a:avLst/>
          </a:prstGeom>
        </p:spPr>
      </p:pic>
      <p:sp>
        <p:nvSpPr>
          <p:cNvPr id="6" name="added-content">
            <a:extLst>
              <a:ext uri="{FF2B5EF4-FFF2-40B4-BE49-F238E27FC236}">
                <a16:creationId xmlns:a16="http://schemas.microsoft.com/office/drawing/2014/main" id="{CCBD6F93-FF58-40A4-9A01-5E6BEEC1139A}"/>
              </a:ext>
            </a:extLst>
          </p:cNvPr>
          <p:cNvSpPr>
            <a:spLocks noGrp="1"/>
          </p:cNvSpPr>
          <p:nvPr/>
        </p:nvSpPr>
        <p:spPr>
          <a:xfrm>
            <a:off x="809625" y="4257675"/>
            <a:ext cx="752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sz="1350" b="0">
                <a:solidFill>
                  <a:srgbClr val="292929"/>
                </a:solidFill>
              </a:rPr>
              <a:t>Сечения при четырёх фиксированных плотностях и температурах; интерполяция внутри областей учитывает тип сетки.</a:t>
            </a:r>
          </a:p>
        </p:txBody>
      </p:sp>
      <p:sp>
        <p:nvSpPr>
          <p:cNvPr id="7" name="page-number">
            <a:extLst>
              <a:ext uri="{FF2B5EF4-FFF2-40B4-BE49-F238E27FC236}">
                <a16:creationId xmlns:a16="http://schemas.microsoft.com/office/drawing/2014/main" id="{9B7B29E5-FADE-4AAB-A404-C10E3680D803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dirty="0"/>
              <a:t>1</a:t>
            </a:r>
            <a:r>
              <a:rPr lang="ru-RU" dirty="0"/>
              <a:t>1</a:t>
            </a:r>
            <a:endParaRPr sz="1350" b="0" dirty="0">
              <a:solidFill>
                <a:srgbClr val="2929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407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-number">
            <a:extLst>
              <a:ext uri="{FF2B5EF4-FFF2-40B4-BE49-F238E27FC236}">
                <a16:creationId xmlns:a16="http://schemas.microsoft.com/office/drawing/2014/main" id="{5C438438-2377-4FEA-ACBB-A2C14E42EB78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t>11</a:t>
            </a:r>
            <a:endParaRPr sz="1350" b="0">
              <a:solidFill>
                <a:srgbClr val="292929"/>
              </a:solidFill>
            </a:endParaRP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7C0BB84C-8785-4339-97AB-428F7780A470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929"/>
                </a:solidFill>
              </a:defRPr>
            </a:defPPr>
            <a:lvl1pPr>
              <a:buNone/>
              <a:defRPr sz="2700" b="1">
                <a:solidFill>
                  <a:srgbClr val="292929"/>
                </a:solidFill>
              </a:defRPr>
            </a:lvl1pPr>
            <a:lvl2pPr>
              <a:buNone/>
              <a:defRPr sz="2700" b="1">
                <a:solidFill>
                  <a:srgbClr val="292929"/>
                </a:solidFill>
              </a:defRPr>
            </a:lvl2pPr>
            <a:lvl3pPr>
              <a:buNone/>
              <a:defRPr sz="2700" b="1">
                <a:solidFill>
                  <a:srgbClr val="292929"/>
                </a:solidFill>
              </a:defRPr>
            </a:lvl3pPr>
            <a:lvl4pPr>
              <a:buNone/>
              <a:defRPr sz="2700" b="1">
                <a:solidFill>
                  <a:srgbClr val="292929"/>
                </a:solidFill>
              </a:defRPr>
            </a:lvl4pPr>
            <a:lvl5pPr>
              <a:buNone/>
              <a:defRPr sz="2700" b="1">
                <a:solidFill>
                  <a:srgbClr val="292929"/>
                </a:solidFill>
              </a:defRPr>
            </a:lvl5pPr>
            <a:lvl6pPr>
              <a:buNone/>
              <a:defRPr sz="2700" b="1">
                <a:solidFill>
                  <a:srgbClr val="292929"/>
                </a:solidFill>
              </a:defRPr>
            </a:lvl6pPr>
            <a:lvl7pPr>
              <a:buNone/>
              <a:defRPr sz="2700" b="1">
                <a:solidFill>
                  <a:srgbClr val="292929"/>
                </a:solidFill>
              </a:defRPr>
            </a:lvl7pPr>
            <a:lvl8pPr>
              <a:buNone/>
              <a:defRPr sz="2700" b="1">
                <a:solidFill>
                  <a:srgbClr val="292929"/>
                </a:solidFill>
              </a:defRPr>
            </a:lvl8pPr>
            <a:lvl9pPr>
              <a:buNone/>
              <a:defRPr sz="27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700" b="1">
                <a:solidFill>
                  <a:srgbClr val="292929"/>
                </a:solidFill>
              </a:defRPr>
            </a:pPr>
            <a:r>
              <a:rPr sz="2700" b="1">
                <a:solidFill>
                  <a:srgbClr val="292929"/>
                </a:solidFill>
              </a:rPr>
              <a:t>Baseline: билинейная интерполяция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C11185-481B-42E1-B2CD-FF676D1F95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200"/>
          <a:stretch>
            <a:fillRect/>
          </a:stretch>
        </p:blipFill>
        <p:spPr>
          <a:xfrm>
            <a:off x="688866" y="2034493"/>
            <a:ext cx="3652632" cy="2487168"/>
          </a:xfrm>
          <a:prstGeom prst="rect">
            <a:avLst/>
          </a:prstGeom>
        </p:spPr>
      </p:pic>
      <p:sp>
        <p:nvSpPr>
          <p:cNvPr id="7" name="content">
            <a:extLst>
              <a:ext uri="{FF2B5EF4-FFF2-40B4-BE49-F238E27FC236}">
                <a16:creationId xmlns:a16="http://schemas.microsoft.com/office/drawing/2014/main" id="{22B069E1-0CF9-42B0-960F-E24F8479CD57}"/>
              </a:ext>
            </a:extLst>
          </p:cNvPr>
          <p:cNvSpPr>
            <a:spLocks noGrp="1"/>
          </p:cNvSpPr>
          <p:nvPr/>
        </p:nvSpPr>
        <p:spPr>
          <a:xfrm>
            <a:off x="787677" y="1176546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92929"/>
                </a:solidFill>
              </a:defRPr>
            </a:defPPr>
            <a:lvl1pPr>
              <a:buNone/>
              <a:defRPr sz="1875" b="1">
                <a:solidFill>
                  <a:srgbClr val="292929"/>
                </a:solidFill>
              </a:defRPr>
            </a:lvl1pPr>
            <a:lvl2pPr>
              <a:buNone/>
              <a:defRPr sz="1875" b="1">
                <a:solidFill>
                  <a:srgbClr val="292929"/>
                </a:solidFill>
              </a:defRPr>
            </a:lvl2pPr>
            <a:lvl3pPr>
              <a:buNone/>
              <a:defRPr sz="1875" b="1">
                <a:solidFill>
                  <a:srgbClr val="292929"/>
                </a:solidFill>
              </a:defRPr>
            </a:lvl3pPr>
            <a:lvl4pPr>
              <a:buNone/>
              <a:defRPr sz="1875" b="1">
                <a:solidFill>
                  <a:srgbClr val="292929"/>
                </a:solidFill>
              </a:defRPr>
            </a:lvl4pPr>
            <a:lvl5pPr>
              <a:buNone/>
              <a:defRPr sz="1875" b="1">
                <a:solidFill>
                  <a:srgbClr val="292929"/>
                </a:solidFill>
              </a:defRPr>
            </a:lvl5pPr>
            <a:lvl6pPr>
              <a:buNone/>
              <a:defRPr sz="1875" b="1">
                <a:solidFill>
                  <a:srgbClr val="292929"/>
                </a:solidFill>
              </a:defRPr>
            </a:lvl6pPr>
            <a:lvl7pPr>
              <a:buNone/>
              <a:defRPr sz="1875" b="1">
                <a:solidFill>
                  <a:srgbClr val="292929"/>
                </a:solidFill>
              </a:defRPr>
            </a:lvl7pPr>
            <a:lvl8pPr>
              <a:buNone/>
              <a:defRPr sz="1875" b="1">
                <a:solidFill>
                  <a:srgbClr val="292929"/>
                </a:solidFill>
              </a:defRPr>
            </a:lvl8pPr>
            <a:lvl9pPr>
              <a:buNone/>
              <a:defRPr sz="187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875" b="1">
                <a:solidFill>
                  <a:srgbClr val="292929"/>
                </a:solidFill>
              </a:defRPr>
            </a:pPr>
            <a:r>
              <a:rPr sz="1875" b="1">
                <a:solidFill>
                  <a:srgbClr val="292929"/>
                </a:solidFill>
              </a:rPr>
              <a:t>Проверка точности:</a:t>
            </a:r>
          </a:p>
        </p:txBody>
      </p:sp>
      <p:sp>
        <p:nvSpPr>
          <p:cNvPr id="8" name="content">
            <a:extLst>
              <a:ext uri="{FF2B5EF4-FFF2-40B4-BE49-F238E27FC236}">
                <a16:creationId xmlns:a16="http://schemas.microsoft.com/office/drawing/2014/main" id="{3B74FDF5-F222-41F6-BEA4-BEB69BFB7DA2}"/>
              </a:ext>
            </a:extLst>
          </p:cNvPr>
          <p:cNvSpPr>
            <a:spLocks noGrp="1"/>
          </p:cNvSpPr>
          <p:nvPr/>
        </p:nvSpPr>
        <p:spPr>
          <a:xfrm>
            <a:off x="787677" y="1576596"/>
            <a:ext cx="383402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92929"/>
                </a:solidFill>
              </a:defRPr>
            </a:defPPr>
            <a:lvl1pPr>
              <a:buNone/>
              <a:defRPr sz="1650" b="0">
                <a:solidFill>
                  <a:srgbClr val="292929"/>
                </a:solidFill>
              </a:defRPr>
            </a:lvl1pPr>
            <a:lvl2pPr>
              <a:buNone/>
              <a:defRPr sz="1650" b="0">
                <a:solidFill>
                  <a:srgbClr val="292929"/>
                </a:solidFill>
              </a:defRPr>
            </a:lvl2pPr>
            <a:lvl3pPr>
              <a:buNone/>
              <a:defRPr sz="1650" b="0">
                <a:solidFill>
                  <a:srgbClr val="292929"/>
                </a:solidFill>
              </a:defRPr>
            </a:lvl3pPr>
            <a:lvl4pPr>
              <a:buNone/>
              <a:defRPr sz="1650" b="0">
                <a:solidFill>
                  <a:srgbClr val="292929"/>
                </a:solidFill>
              </a:defRPr>
            </a:lvl4pPr>
            <a:lvl5pPr>
              <a:buNone/>
              <a:defRPr sz="1650" b="0">
                <a:solidFill>
                  <a:srgbClr val="292929"/>
                </a:solidFill>
              </a:defRPr>
            </a:lvl5pPr>
            <a:lvl6pPr>
              <a:buNone/>
              <a:defRPr sz="1650" b="0">
                <a:solidFill>
                  <a:srgbClr val="292929"/>
                </a:solidFill>
              </a:defRPr>
            </a:lvl6pPr>
            <a:lvl7pPr>
              <a:buNone/>
              <a:defRPr sz="1650" b="0">
                <a:solidFill>
                  <a:srgbClr val="292929"/>
                </a:solidFill>
              </a:defRPr>
            </a:lvl7pPr>
            <a:lvl8pPr>
              <a:buNone/>
              <a:defRPr sz="1650" b="0">
                <a:solidFill>
                  <a:srgbClr val="292929"/>
                </a:solidFill>
              </a:defRPr>
            </a:lvl8pPr>
            <a:lvl9pPr>
              <a:buNone/>
              <a:defRPr sz="16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00" b="0">
                <a:solidFill>
                  <a:srgbClr val="292929"/>
                </a:solidFill>
              </a:rPr>
              <a:t>Интерполятор построен по train-узлам.</a:t>
            </a:r>
          </a:p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00" b="0">
                <a:solidFill>
                  <a:srgbClr val="292929"/>
                </a:solidFill>
              </a:rPr>
              <a:t>Test: 674 826 точек из 20 областей.</a:t>
            </a:r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85F2B414-B1F5-44E2-86FA-BA75CB9BA5C0}"/>
              </a:ext>
            </a:extLst>
          </p:cNvPr>
          <p:cNvSpPr>
            <a:spLocks noGrp="1"/>
          </p:cNvSpPr>
          <p:nvPr/>
        </p:nvSpPr>
        <p:spPr>
          <a:xfrm>
            <a:off x="4810124" y="1170334"/>
            <a:ext cx="3476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875" b="1">
                <a:solidFill>
                  <a:srgbClr val="292929"/>
                </a:solidFill>
              </a:defRPr>
            </a:defPPr>
            <a:lvl1pPr>
              <a:buNone/>
              <a:defRPr sz="1875" b="1">
                <a:solidFill>
                  <a:srgbClr val="292929"/>
                </a:solidFill>
              </a:defRPr>
            </a:lvl1pPr>
            <a:lvl2pPr>
              <a:buNone/>
              <a:defRPr sz="1875" b="1">
                <a:solidFill>
                  <a:srgbClr val="292929"/>
                </a:solidFill>
              </a:defRPr>
            </a:lvl2pPr>
            <a:lvl3pPr>
              <a:buNone/>
              <a:defRPr sz="1875" b="1">
                <a:solidFill>
                  <a:srgbClr val="292929"/>
                </a:solidFill>
              </a:defRPr>
            </a:lvl3pPr>
            <a:lvl4pPr>
              <a:buNone/>
              <a:defRPr sz="1875" b="1">
                <a:solidFill>
                  <a:srgbClr val="292929"/>
                </a:solidFill>
              </a:defRPr>
            </a:lvl4pPr>
            <a:lvl5pPr>
              <a:buNone/>
              <a:defRPr sz="1875" b="1">
                <a:solidFill>
                  <a:srgbClr val="292929"/>
                </a:solidFill>
              </a:defRPr>
            </a:lvl5pPr>
            <a:lvl6pPr>
              <a:buNone/>
              <a:defRPr sz="1875" b="1">
                <a:solidFill>
                  <a:srgbClr val="292929"/>
                </a:solidFill>
              </a:defRPr>
            </a:lvl6pPr>
            <a:lvl7pPr>
              <a:buNone/>
              <a:defRPr sz="1875" b="1">
                <a:solidFill>
                  <a:srgbClr val="292929"/>
                </a:solidFill>
              </a:defRPr>
            </a:lvl7pPr>
            <a:lvl8pPr>
              <a:buNone/>
              <a:defRPr sz="1875" b="1">
                <a:solidFill>
                  <a:srgbClr val="292929"/>
                </a:solidFill>
              </a:defRPr>
            </a:lvl8pPr>
            <a:lvl9pPr>
              <a:buNone/>
              <a:defRPr sz="187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875" b="1">
                <a:solidFill>
                  <a:srgbClr val="292929"/>
                </a:solidFill>
              </a:defRPr>
            </a:pPr>
            <a:r>
              <a:t>М</a:t>
            </a:r>
            <a:r>
              <a:rPr sz="1875" b="1">
                <a:solidFill>
                  <a:srgbClr val="292929"/>
                </a:solidFill>
              </a:rPr>
              <a:t>етрики:</a:t>
            </a:r>
          </a:p>
        </p:txBody>
      </p:sp>
      <p:sp>
        <p:nvSpPr>
          <p:cNvPr id="10" name="content">
            <a:extLst>
              <a:ext uri="{FF2B5EF4-FFF2-40B4-BE49-F238E27FC236}">
                <a16:creationId xmlns:a16="http://schemas.microsoft.com/office/drawing/2014/main" id="{F15E1F97-BE35-4FE4-8D94-E6734C88FF7A}"/>
              </a:ext>
            </a:extLst>
          </p:cNvPr>
          <p:cNvSpPr>
            <a:spLocks noGrp="1"/>
          </p:cNvSpPr>
          <p:nvPr/>
        </p:nvSpPr>
        <p:spPr>
          <a:xfrm>
            <a:off x="4810124" y="1466070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650" b="0">
                <a:solidFill>
                  <a:srgbClr val="292929"/>
                </a:solidFill>
              </a:defRPr>
            </a:defPPr>
            <a:lvl1pPr>
              <a:buNone/>
              <a:defRPr sz="1650" b="0">
                <a:solidFill>
                  <a:srgbClr val="292929"/>
                </a:solidFill>
              </a:defRPr>
            </a:lvl1pPr>
            <a:lvl2pPr>
              <a:buNone/>
              <a:defRPr sz="1650" b="0">
                <a:solidFill>
                  <a:srgbClr val="292929"/>
                </a:solidFill>
              </a:defRPr>
            </a:lvl2pPr>
            <a:lvl3pPr>
              <a:buNone/>
              <a:defRPr sz="1650" b="0">
                <a:solidFill>
                  <a:srgbClr val="292929"/>
                </a:solidFill>
              </a:defRPr>
            </a:lvl3pPr>
            <a:lvl4pPr>
              <a:buNone/>
              <a:defRPr sz="1650" b="0">
                <a:solidFill>
                  <a:srgbClr val="292929"/>
                </a:solidFill>
              </a:defRPr>
            </a:lvl4pPr>
            <a:lvl5pPr>
              <a:buNone/>
              <a:defRPr sz="1650" b="0">
                <a:solidFill>
                  <a:srgbClr val="292929"/>
                </a:solidFill>
              </a:defRPr>
            </a:lvl5pPr>
            <a:lvl6pPr>
              <a:buNone/>
              <a:defRPr sz="1650" b="0">
                <a:solidFill>
                  <a:srgbClr val="292929"/>
                </a:solidFill>
              </a:defRPr>
            </a:lvl6pPr>
            <a:lvl7pPr>
              <a:buNone/>
              <a:defRPr sz="1650" b="0">
                <a:solidFill>
                  <a:srgbClr val="292929"/>
                </a:solidFill>
              </a:defRPr>
            </a:lvl7pPr>
            <a:lvl8pPr>
              <a:buNone/>
              <a:defRPr sz="1650" b="0">
                <a:solidFill>
                  <a:srgbClr val="292929"/>
                </a:solidFill>
              </a:defRPr>
            </a:lvl8pPr>
            <a:lvl9pPr>
              <a:buNone/>
              <a:defRPr sz="16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00" b="0" dirty="0">
                <a:solidFill>
                  <a:srgbClr val="292929"/>
                </a:solidFill>
              </a:rPr>
              <a:t>Медиана </a:t>
            </a:r>
            <a:r>
              <a:rPr sz="1600" b="0" dirty="0" err="1">
                <a:solidFill>
                  <a:srgbClr val="292929"/>
                </a:solidFill>
              </a:rPr>
              <a:t>ошибки</a:t>
            </a:r>
            <a:r>
              <a:rPr sz="1600" b="0" dirty="0">
                <a:solidFill>
                  <a:srgbClr val="292929"/>
                </a:solidFill>
              </a:rPr>
              <a:t> P: 0,000453%.</a:t>
            </a:r>
          </a:p>
          <a:p>
            <a:pPr>
              <a:buNone/>
              <a:defRPr sz="1650" b="0">
                <a:solidFill>
                  <a:srgbClr val="292929"/>
                </a:solidFill>
              </a:defRPr>
            </a:pPr>
            <a:r>
              <a:rPr sz="1600" b="0" dirty="0">
                <a:solidFill>
                  <a:srgbClr val="292929"/>
                </a:solidFill>
              </a:rPr>
              <a:t>Медиана </a:t>
            </a:r>
            <a:r>
              <a:rPr sz="1600" b="0" dirty="0" err="1">
                <a:solidFill>
                  <a:srgbClr val="292929"/>
                </a:solidFill>
              </a:rPr>
              <a:t>ошибки</a:t>
            </a:r>
            <a:r>
              <a:rPr sz="1600" b="0" dirty="0">
                <a:solidFill>
                  <a:srgbClr val="292929"/>
                </a:solidFill>
              </a:rPr>
              <a:t> E: 0,00396%.</a:t>
            </a:r>
          </a:p>
          <a:p>
            <a:pPr>
              <a:defRPr sz="1650" b="0">
                <a:solidFill>
                  <a:srgbClr val="292929"/>
                </a:solidFill>
              </a:defRPr>
            </a:pPr>
            <a:r>
              <a:rPr sz="1600" b="0" dirty="0">
                <a:solidFill>
                  <a:srgbClr val="292929"/>
                </a:solidFill>
              </a:rPr>
              <a:t>Максимум </a:t>
            </a:r>
            <a:r>
              <a:rPr sz="1600" b="0" dirty="0" err="1">
                <a:solidFill>
                  <a:srgbClr val="292929"/>
                </a:solidFill>
              </a:rPr>
              <a:t>ошибки</a:t>
            </a:r>
            <a:r>
              <a:rPr sz="1600" b="0" dirty="0">
                <a:solidFill>
                  <a:srgbClr val="292929"/>
                </a:solidFill>
              </a:rPr>
              <a:t> P</a:t>
            </a:r>
            <a:r>
              <a:rPr lang="en-US" sz="1600" dirty="0"/>
              <a:t>:</a:t>
            </a:r>
            <a:r>
              <a:rPr lang="ru-RU" sz="1600" dirty="0"/>
              <a:t> 20,39%.</a:t>
            </a:r>
            <a:endParaRPr lang="ru-RU" sz="1600" b="0" dirty="0">
              <a:solidFill>
                <a:srgbClr val="292929"/>
              </a:solidFill>
            </a:endParaRPr>
          </a:p>
          <a:p>
            <a:pPr>
              <a:defRPr sz="1650" b="0">
                <a:solidFill>
                  <a:srgbClr val="292929"/>
                </a:solidFill>
              </a:defRPr>
            </a:pPr>
            <a:r>
              <a:rPr lang="ru-RU" sz="1600" dirty="0"/>
              <a:t>Максимум ошибки </a:t>
            </a:r>
            <a:r>
              <a:rPr lang="en-US" sz="1600" dirty="0"/>
              <a:t>E: </a:t>
            </a:r>
            <a:r>
              <a:rPr lang="ru-RU" sz="1600" dirty="0"/>
              <a:t>13,62</a:t>
            </a:r>
            <a:r>
              <a:rPr sz="1600" b="0" dirty="0">
                <a:solidFill>
                  <a:srgbClr val="292929"/>
                </a:solidFill>
              </a:rPr>
              <a:t> %.</a:t>
            </a:r>
            <a:br>
              <a:rPr lang="ru-RU" sz="1600" b="0" dirty="0">
                <a:solidFill>
                  <a:srgbClr val="292929"/>
                </a:solidFill>
              </a:rPr>
            </a:br>
            <a:endParaRPr sz="1600" b="0" dirty="0">
              <a:solidFill>
                <a:srgbClr val="292929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CB867DA-0356-48B3-9ABC-D775200A95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200"/>
          <a:stretch>
            <a:fillRect/>
          </a:stretch>
        </p:blipFill>
        <p:spPr>
          <a:xfrm>
            <a:off x="4138546" y="2529096"/>
            <a:ext cx="3910079" cy="2662470"/>
          </a:xfrm>
          <a:prstGeom prst="rect">
            <a:avLst/>
          </a:prstGeom>
        </p:spPr>
      </p:pic>
      <p:sp>
        <p:nvSpPr>
          <p:cNvPr id="11" name="content">
            <a:extLst>
              <a:ext uri="{FF2B5EF4-FFF2-40B4-BE49-F238E27FC236}">
                <a16:creationId xmlns:a16="http://schemas.microsoft.com/office/drawing/2014/main" id="{ED98279B-CCC3-49EB-BB88-5108B5C71338}"/>
              </a:ext>
            </a:extLst>
          </p:cNvPr>
          <p:cNvSpPr>
            <a:spLocks noGrp="1"/>
          </p:cNvSpPr>
          <p:nvPr/>
        </p:nvSpPr>
        <p:spPr>
          <a:xfrm>
            <a:off x="902101" y="4471445"/>
            <a:ext cx="3407051" cy="4739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425" b="0">
                <a:solidFill>
                  <a:srgbClr val="292929"/>
                </a:solidFill>
              </a:defRPr>
            </a:defPPr>
            <a:lvl1pPr>
              <a:buNone/>
              <a:defRPr sz="1425" b="0">
                <a:solidFill>
                  <a:srgbClr val="292929"/>
                </a:solidFill>
              </a:defRPr>
            </a:lvl1pPr>
            <a:lvl2pPr>
              <a:buNone/>
              <a:defRPr sz="1425" b="0">
                <a:solidFill>
                  <a:srgbClr val="292929"/>
                </a:solidFill>
              </a:defRPr>
            </a:lvl2pPr>
            <a:lvl3pPr>
              <a:buNone/>
              <a:defRPr sz="1425" b="0">
                <a:solidFill>
                  <a:srgbClr val="292929"/>
                </a:solidFill>
              </a:defRPr>
            </a:lvl3pPr>
            <a:lvl4pPr>
              <a:buNone/>
              <a:defRPr sz="1425" b="0">
                <a:solidFill>
                  <a:srgbClr val="292929"/>
                </a:solidFill>
              </a:defRPr>
            </a:lvl4pPr>
            <a:lvl5pPr>
              <a:buNone/>
              <a:defRPr sz="1425" b="0">
                <a:solidFill>
                  <a:srgbClr val="292929"/>
                </a:solidFill>
              </a:defRPr>
            </a:lvl5pPr>
            <a:lvl6pPr>
              <a:buNone/>
              <a:defRPr sz="1425" b="0">
                <a:solidFill>
                  <a:srgbClr val="292929"/>
                </a:solidFill>
              </a:defRPr>
            </a:lvl6pPr>
            <a:lvl7pPr>
              <a:buNone/>
              <a:defRPr sz="1425" b="0">
                <a:solidFill>
                  <a:srgbClr val="292929"/>
                </a:solidFill>
              </a:defRPr>
            </a:lvl7pPr>
            <a:lvl8pPr>
              <a:buNone/>
              <a:defRPr sz="1425" b="0">
                <a:solidFill>
                  <a:srgbClr val="292929"/>
                </a:solidFill>
              </a:defRPr>
            </a:lvl8pPr>
            <a:lvl9pPr>
              <a:buNone/>
              <a:defRPr sz="1425" b="0">
                <a:solidFill>
                  <a:srgbClr val="292929"/>
                </a:solidFill>
              </a:defRPr>
            </a:lvl9pPr>
          </a:lstStyle>
          <a:p>
            <a:pPr algn="r">
              <a:buNone/>
              <a:defRPr sz="1425" b="0">
                <a:solidFill>
                  <a:srgbClr val="292929"/>
                </a:solidFill>
              </a:defRPr>
            </a:pPr>
            <a:r>
              <a:rPr sz="1400" b="0">
                <a:solidFill>
                  <a:srgbClr val="292929"/>
                </a:solidFill>
              </a:rPr>
              <a:t>Наибольшие ошибки давления связаны со скачком таблицы около T ≈ 142 K.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AFF6313-C003-400D-A1B6-49C6D71367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945" t="7229" r="33206" b="27655"/>
          <a:stretch>
            <a:fillRect/>
          </a:stretch>
        </p:blipFill>
        <p:spPr>
          <a:xfrm>
            <a:off x="8048625" y="4258024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D1E969-9396-4A07-8931-3C4BE1AE35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48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92B2BE-8238-4A9B-B08D-EDD13E8101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026F83-EC7B-496E-96DF-FE9B015EF7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page-number">
            <a:extLst>
              <a:ext uri="{FF2B5EF4-FFF2-40B4-BE49-F238E27FC236}">
                <a16:creationId xmlns:a16="http://schemas.microsoft.com/office/drawing/2014/main" id="{6757E29C-83F2-496F-80E4-79DDAE5B0E1B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sz="1350" b="0" dirty="0">
                <a:solidFill>
                  <a:srgbClr val="292929"/>
                </a:solidFill>
              </a:rPr>
              <a:t>1</a:t>
            </a:r>
            <a:r>
              <a:rPr lang="ru-RU" sz="1350" b="0" dirty="0">
                <a:solidFill>
                  <a:srgbClr val="292929"/>
                </a:solidFill>
              </a:rPr>
              <a:t>2</a:t>
            </a:r>
            <a:endParaRPr sz="1350" b="0" dirty="0">
              <a:solidFill>
                <a:srgbClr val="292929"/>
              </a:solidFill>
            </a:endParaRP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EE51ED4A-7223-4C19-A083-9334FAF585F1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929"/>
                </a:solidFill>
              </a:defRPr>
            </a:defPPr>
            <a:lvl1pPr>
              <a:buNone/>
              <a:defRPr sz="2700" b="1">
                <a:solidFill>
                  <a:srgbClr val="292929"/>
                </a:solidFill>
              </a:defRPr>
            </a:lvl1pPr>
            <a:lvl2pPr>
              <a:buNone/>
              <a:defRPr sz="2700" b="1">
                <a:solidFill>
                  <a:srgbClr val="292929"/>
                </a:solidFill>
              </a:defRPr>
            </a:lvl2pPr>
            <a:lvl3pPr>
              <a:buNone/>
              <a:defRPr sz="2700" b="1">
                <a:solidFill>
                  <a:srgbClr val="292929"/>
                </a:solidFill>
              </a:defRPr>
            </a:lvl3pPr>
            <a:lvl4pPr>
              <a:buNone/>
              <a:defRPr sz="2700" b="1">
                <a:solidFill>
                  <a:srgbClr val="292929"/>
                </a:solidFill>
              </a:defRPr>
            </a:lvl4pPr>
            <a:lvl5pPr>
              <a:buNone/>
              <a:defRPr sz="2700" b="1">
                <a:solidFill>
                  <a:srgbClr val="292929"/>
                </a:solidFill>
              </a:defRPr>
            </a:lvl5pPr>
            <a:lvl6pPr>
              <a:buNone/>
              <a:defRPr sz="2700" b="1">
                <a:solidFill>
                  <a:srgbClr val="292929"/>
                </a:solidFill>
              </a:defRPr>
            </a:lvl6pPr>
            <a:lvl7pPr>
              <a:buNone/>
              <a:defRPr sz="2700" b="1">
                <a:solidFill>
                  <a:srgbClr val="292929"/>
                </a:solidFill>
              </a:defRPr>
            </a:lvl7pPr>
            <a:lvl8pPr>
              <a:buNone/>
              <a:defRPr sz="2700" b="1">
                <a:solidFill>
                  <a:srgbClr val="292929"/>
                </a:solidFill>
              </a:defRPr>
            </a:lvl8pPr>
            <a:lvl9pPr>
              <a:buNone/>
              <a:defRPr sz="27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700" b="1">
                <a:solidFill>
                  <a:srgbClr val="292929"/>
                </a:solidFill>
              </a:defRPr>
            </a:pPr>
            <a:r>
              <a:rPr sz="2700" b="1">
                <a:solidFill>
                  <a:srgbClr val="292929"/>
                </a:solidFill>
              </a:rPr>
              <a:t>Vanilla: обучение по табличным данным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F15439-0357-4309-91D5-017A09291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730809" y="1120429"/>
            <a:ext cx="4679766" cy="2902639"/>
          </a:xfrm>
          <a:prstGeom prst="rect">
            <a:avLst/>
          </a:prstGeom>
        </p:spPr>
      </p:pic>
      <p:sp>
        <p:nvSpPr>
          <p:cNvPr id="7" name="content">
            <a:extLst>
              <a:ext uri="{FF2B5EF4-FFF2-40B4-BE49-F238E27FC236}">
                <a16:creationId xmlns:a16="http://schemas.microsoft.com/office/drawing/2014/main" id="{84ED2E8A-F423-4EF1-9D8E-CA223EEF81A6}"/>
              </a:ext>
            </a:extLst>
          </p:cNvPr>
          <p:cNvSpPr>
            <a:spLocks noGrp="1"/>
          </p:cNvSpPr>
          <p:nvPr/>
        </p:nvSpPr>
        <p:spPr>
          <a:xfrm>
            <a:off x="762000" y="1209676"/>
            <a:ext cx="3381375" cy="13620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92929"/>
                </a:solidFill>
              </a:defRPr>
            </a:defPPr>
            <a:lvl1pPr>
              <a:buNone/>
              <a:defRPr sz="2025" b="1">
                <a:solidFill>
                  <a:srgbClr val="292929"/>
                </a:solidFill>
              </a:defRPr>
            </a:lvl1pPr>
            <a:lvl2pPr>
              <a:buNone/>
              <a:defRPr sz="2025" b="1">
                <a:solidFill>
                  <a:srgbClr val="292929"/>
                </a:solidFill>
              </a:defRPr>
            </a:lvl2pPr>
            <a:lvl3pPr>
              <a:buNone/>
              <a:defRPr sz="2025" b="1">
                <a:solidFill>
                  <a:srgbClr val="292929"/>
                </a:solidFill>
              </a:defRPr>
            </a:lvl3pPr>
            <a:lvl4pPr>
              <a:buNone/>
              <a:defRPr sz="2025" b="1">
                <a:solidFill>
                  <a:srgbClr val="292929"/>
                </a:solidFill>
              </a:defRPr>
            </a:lvl4pPr>
            <a:lvl5pPr>
              <a:buNone/>
              <a:defRPr sz="2025" b="1">
                <a:solidFill>
                  <a:srgbClr val="292929"/>
                </a:solidFill>
              </a:defRPr>
            </a:lvl5pPr>
            <a:lvl6pPr>
              <a:buNone/>
              <a:defRPr sz="2025" b="1">
                <a:solidFill>
                  <a:srgbClr val="292929"/>
                </a:solidFill>
              </a:defRPr>
            </a:lvl6pPr>
            <a:lvl7pPr>
              <a:buNone/>
              <a:defRPr sz="2025" b="1">
                <a:solidFill>
                  <a:srgbClr val="292929"/>
                </a:solidFill>
              </a:defRPr>
            </a:lvl7pPr>
            <a:lvl8pPr>
              <a:buNone/>
              <a:defRPr sz="2025" b="1">
                <a:solidFill>
                  <a:srgbClr val="292929"/>
                </a:solidFill>
              </a:defRPr>
            </a:lvl8pPr>
            <a:lvl9pPr>
              <a:buNone/>
              <a:defRPr sz="202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025" b="1">
                <a:solidFill>
                  <a:srgbClr val="292929"/>
                </a:solidFill>
              </a:defRPr>
            </a:pPr>
            <a:r>
              <a:rPr sz="1800" b="1">
                <a:solidFill>
                  <a:srgbClr val="292929"/>
                </a:solidFill>
              </a:rPr>
              <a:t>MLP: </a:t>
            </a:r>
          </a:p>
          <a:p>
            <a:pPr marL="342900" indent="-342900">
              <a:buFont typeface="Arial"/>
              <a:buChar char="•"/>
              <a:defRPr sz="2025" b="1">
                <a:solidFill>
                  <a:srgbClr val="292929"/>
                </a:solidFill>
              </a:defRPr>
            </a:pPr>
            <a:r>
              <a:rPr sz="1800" b="0"/>
              <a:t>2 входа</a:t>
            </a:r>
          </a:p>
          <a:p>
            <a:pPr marL="342900" indent="-342900">
              <a:buFont typeface="Arial"/>
              <a:buChar char="•"/>
              <a:defRPr sz="2025" b="1">
                <a:solidFill>
                  <a:srgbClr val="292929"/>
                </a:solidFill>
              </a:defRPr>
            </a:pPr>
            <a:r>
              <a:rPr sz="1800" b="0"/>
              <a:t>4 скрытых слоя по 256 нейронов</a:t>
            </a:r>
          </a:p>
          <a:p>
            <a:pPr marL="342900" indent="-342900">
              <a:buFont typeface="Arial"/>
              <a:buChar char="•"/>
              <a:defRPr sz="2025" b="1">
                <a:solidFill>
                  <a:srgbClr val="292929"/>
                </a:solidFill>
              </a:defRPr>
            </a:pPr>
            <a:r>
              <a:rPr sz="1800" b="0"/>
              <a:t>2 выхода</a:t>
            </a:r>
          </a:p>
        </p:txBody>
      </p:sp>
    </p:spTree>
    <p:extLst>
      <p:ext uri="{BB962C8B-B14F-4D97-AF65-F5344CB8AC3E}">
        <p14:creationId xmlns:p14="http://schemas.microsoft.com/office/powerpoint/2010/main" val="1362452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EF6F3F-E5F4-418E-BE27-ADAC59467C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425B77-1D99-49A0-82B1-9AB5D1D47C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page-number">
            <a:extLst>
              <a:ext uri="{FF2B5EF4-FFF2-40B4-BE49-F238E27FC236}">
                <a16:creationId xmlns:a16="http://schemas.microsoft.com/office/drawing/2014/main" id="{50E32E40-DC97-327C-747A-9210E9EAAD4E}"/>
              </a:ext>
            </a:extLst>
          </p:cNvPr>
          <p:cNvSpPr>
            <a:spLocks noGrp="1"/>
          </p:cNvSpPr>
          <p:nvPr/>
        </p:nvSpPr>
        <p:spPr>
          <a:xfrm>
            <a:off x="775252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sz="1350" b="0" dirty="0">
                <a:solidFill>
                  <a:srgbClr val="292929"/>
                </a:solidFill>
              </a:rPr>
              <a:t>1</a:t>
            </a:r>
            <a:r>
              <a:rPr lang="ru-RU" sz="1350" b="0" dirty="0">
                <a:solidFill>
                  <a:srgbClr val="292929"/>
                </a:solidFill>
              </a:rPr>
              <a:t>3</a:t>
            </a:r>
            <a:endParaRPr sz="1350" b="0" dirty="0">
              <a:solidFill>
                <a:srgbClr val="292929"/>
              </a:solidFill>
            </a:endParaRP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4BAC4BCE-A926-DFE2-6131-CF2C23C89E2E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929"/>
                </a:solidFill>
              </a:defRPr>
            </a:defPPr>
            <a:lvl1pPr>
              <a:buNone/>
              <a:defRPr sz="2700" b="1">
                <a:solidFill>
                  <a:srgbClr val="292929"/>
                </a:solidFill>
              </a:defRPr>
            </a:lvl1pPr>
            <a:lvl2pPr>
              <a:buNone/>
              <a:defRPr sz="2700" b="1">
                <a:solidFill>
                  <a:srgbClr val="292929"/>
                </a:solidFill>
              </a:defRPr>
            </a:lvl2pPr>
            <a:lvl3pPr>
              <a:buNone/>
              <a:defRPr sz="2700" b="1">
                <a:solidFill>
                  <a:srgbClr val="292929"/>
                </a:solidFill>
              </a:defRPr>
            </a:lvl3pPr>
            <a:lvl4pPr>
              <a:buNone/>
              <a:defRPr sz="2700" b="1">
                <a:solidFill>
                  <a:srgbClr val="292929"/>
                </a:solidFill>
              </a:defRPr>
            </a:lvl4pPr>
            <a:lvl5pPr>
              <a:buNone/>
              <a:defRPr sz="2700" b="1">
                <a:solidFill>
                  <a:srgbClr val="292929"/>
                </a:solidFill>
              </a:defRPr>
            </a:lvl5pPr>
            <a:lvl6pPr>
              <a:buNone/>
              <a:defRPr sz="2700" b="1">
                <a:solidFill>
                  <a:srgbClr val="292929"/>
                </a:solidFill>
              </a:defRPr>
            </a:lvl6pPr>
            <a:lvl7pPr>
              <a:buNone/>
              <a:defRPr sz="2700" b="1">
                <a:solidFill>
                  <a:srgbClr val="292929"/>
                </a:solidFill>
              </a:defRPr>
            </a:lvl7pPr>
            <a:lvl8pPr>
              <a:buNone/>
              <a:defRPr sz="2700" b="1">
                <a:solidFill>
                  <a:srgbClr val="292929"/>
                </a:solidFill>
              </a:defRPr>
            </a:lvl8pPr>
            <a:lvl9pPr>
              <a:buNone/>
              <a:defRPr sz="27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700" b="1">
                <a:solidFill>
                  <a:srgbClr val="292929"/>
                </a:solidFill>
              </a:defRPr>
            </a:pPr>
            <a:r>
              <a:rPr sz="2700" b="1">
                <a:solidFill>
                  <a:srgbClr val="292929"/>
                </a:solidFill>
              </a:rPr>
              <a:t>Vanilla: обучение по табличным данным</a:t>
            </a:r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CCBE32A4-765A-C920-0103-B3C13D3DCC32}"/>
              </a:ext>
            </a:extLst>
          </p:cNvPr>
          <p:cNvSpPr>
            <a:spLocks noGrp="1"/>
          </p:cNvSpPr>
          <p:nvPr/>
        </p:nvSpPr>
        <p:spPr>
          <a:xfrm>
            <a:off x="4867483" y="1212079"/>
            <a:ext cx="33813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1">
                <a:solidFill>
                  <a:srgbClr val="292929"/>
                </a:solidFill>
              </a:defRPr>
            </a:defPPr>
            <a:lvl1pPr>
              <a:buNone/>
              <a:defRPr sz="2025" b="1">
                <a:solidFill>
                  <a:srgbClr val="292929"/>
                </a:solidFill>
              </a:defRPr>
            </a:lvl1pPr>
            <a:lvl2pPr>
              <a:buNone/>
              <a:defRPr sz="2025" b="1">
                <a:solidFill>
                  <a:srgbClr val="292929"/>
                </a:solidFill>
              </a:defRPr>
            </a:lvl2pPr>
            <a:lvl3pPr>
              <a:buNone/>
              <a:defRPr sz="2025" b="1">
                <a:solidFill>
                  <a:srgbClr val="292929"/>
                </a:solidFill>
              </a:defRPr>
            </a:lvl3pPr>
            <a:lvl4pPr>
              <a:buNone/>
              <a:defRPr sz="2025" b="1">
                <a:solidFill>
                  <a:srgbClr val="292929"/>
                </a:solidFill>
              </a:defRPr>
            </a:lvl4pPr>
            <a:lvl5pPr>
              <a:buNone/>
              <a:defRPr sz="2025" b="1">
                <a:solidFill>
                  <a:srgbClr val="292929"/>
                </a:solidFill>
              </a:defRPr>
            </a:lvl5pPr>
            <a:lvl6pPr>
              <a:buNone/>
              <a:defRPr sz="2025" b="1">
                <a:solidFill>
                  <a:srgbClr val="292929"/>
                </a:solidFill>
              </a:defRPr>
            </a:lvl6pPr>
            <a:lvl7pPr>
              <a:buNone/>
              <a:defRPr sz="2025" b="1">
                <a:solidFill>
                  <a:srgbClr val="292929"/>
                </a:solidFill>
              </a:defRPr>
            </a:lvl7pPr>
            <a:lvl8pPr>
              <a:buNone/>
              <a:defRPr sz="2025" b="1">
                <a:solidFill>
                  <a:srgbClr val="292929"/>
                </a:solidFill>
              </a:defRPr>
            </a:lvl8pPr>
            <a:lvl9pPr>
              <a:buNone/>
              <a:defRPr sz="202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025" b="1">
                <a:solidFill>
                  <a:srgbClr val="292929"/>
                </a:solidFill>
              </a:defRPr>
            </a:pPr>
            <a:r>
              <a:rPr sz="1800" b="1">
                <a:solidFill>
                  <a:srgbClr val="292929"/>
                </a:solidFill>
              </a:rPr>
              <a:t>SiLU</a:t>
            </a:r>
            <a:r>
              <a:rPr sz="2000"/>
              <a:t>:</a:t>
            </a:r>
          </a:p>
          <a:p>
            <a:pPr>
              <a:buNone/>
              <a:defRPr sz="2025" b="1">
                <a:solidFill>
                  <a:srgbClr val="292929"/>
                </a:solidFill>
              </a:defRPr>
            </a:pPr>
            <a:endParaRPr sz="2000" b="1">
              <a:solidFill>
                <a:srgbClr val="292929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8BFB0-9102-31C8-A298-56FAE58774F7}"/>
              </a:ext>
            </a:extLst>
          </p:cNvPr>
          <p:cNvSpPr>
            <a:spLocks noGrp="1"/>
          </p:cNvSpPr>
          <p:nvPr/>
        </p:nvSpPr>
        <p:spPr>
          <a:xfrm>
            <a:off x="4805984" y="4357480"/>
            <a:ext cx="22988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2025" b="1">
                <a:solidFill>
                  <a:srgbClr val="292929"/>
                </a:solidFill>
              </a:defRPr>
            </a:pPr>
            <a:r>
              <a:rPr sz="1600" b="1" dirty="0">
                <a:solidFill>
                  <a:srgbClr val="292929"/>
                </a:solidFill>
              </a:rPr>
              <a:t>198 658 </a:t>
            </a:r>
            <a:r>
              <a:rPr sz="1600" b="1" dirty="0" err="1">
                <a:solidFill>
                  <a:srgbClr val="292929"/>
                </a:solidFill>
              </a:rPr>
              <a:t>параметров</a:t>
            </a:r>
            <a:endParaRPr sz="1600" b="1" dirty="0">
              <a:solidFill>
                <a:srgbClr val="292929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A9111D4-C270-4958-A90B-C3AA32E73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333" y="1610361"/>
            <a:ext cx="3644417" cy="2695575"/>
          </a:xfrm>
          <a:prstGeom prst="rect">
            <a:avLst/>
          </a:prstGeom>
        </p:spPr>
      </p:pic>
      <p:sp>
        <p:nvSpPr>
          <p:cNvPr id="12" name="content">
            <a:extLst>
              <a:ext uri="{FF2B5EF4-FFF2-40B4-BE49-F238E27FC236}">
                <a16:creationId xmlns:a16="http://schemas.microsoft.com/office/drawing/2014/main" id="{AC5C4B23-D37E-38F2-10DC-56B95362F0F2}"/>
              </a:ext>
            </a:extLst>
          </p:cNvPr>
          <p:cNvSpPr>
            <a:spLocks noGrp="1"/>
          </p:cNvSpPr>
          <p:nvPr/>
        </p:nvSpPr>
        <p:spPr>
          <a:xfrm>
            <a:off x="432283" y="1312762"/>
            <a:ext cx="4499941" cy="319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725" b="0">
                <a:solidFill>
                  <a:srgbClr val="292929"/>
                </a:solidFill>
              </a:defRPr>
            </a:defPPr>
            <a:lvl1pPr>
              <a:buNone/>
              <a:defRPr sz="1725" b="0">
                <a:solidFill>
                  <a:srgbClr val="292929"/>
                </a:solidFill>
              </a:defRPr>
            </a:lvl1pPr>
            <a:lvl2pPr>
              <a:buNone/>
              <a:defRPr sz="1725" b="0">
                <a:solidFill>
                  <a:srgbClr val="292929"/>
                </a:solidFill>
              </a:defRPr>
            </a:lvl2pPr>
            <a:lvl3pPr>
              <a:buNone/>
              <a:defRPr sz="1725" b="0">
                <a:solidFill>
                  <a:srgbClr val="292929"/>
                </a:solidFill>
              </a:defRPr>
            </a:lvl3pPr>
            <a:lvl4pPr>
              <a:buNone/>
              <a:defRPr sz="1725" b="0">
                <a:solidFill>
                  <a:srgbClr val="292929"/>
                </a:solidFill>
              </a:defRPr>
            </a:lvl4pPr>
            <a:lvl5pPr>
              <a:buNone/>
              <a:defRPr sz="1725" b="0">
                <a:solidFill>
                  <a:srgbClr val="292929"/>
                </a:solidFill>
              </a:defRPr>
            </a:lvl5pPr>
            <a:lvl6pPr>
              <a:buNone/>
              <a:defRPr sz="1725" b="0">
                <a:solidFill>
                  <a:srgbClr val="292929"/>
                </a:solidFill>
              </a:defRPr>
            </a:lvl6pPr>
            <a:lvl7pPr>
              <a:buNone/>
              <a:defRPr sz="1725" b="0">
                <a:solidFill>
                  <a:srgbClr val="292929"/>
                </a:solidFill>
              </a:defRPr>
            </a:lvl7pPr>
            <a:lvl8pPr>
              <a:buNone/>
              <a:defRPr sz="1725" b="0">
                <a:solidFill>
                  <a:srgbClr val="292929"/>
                </a:solidFill>
              </a:defRPr>
            </a:lvl8pPr>
            <a:lvl9pPr>
              <a:buNone/>
              <a:defRPr sz="1725" b="0">
                <a:solidFill>
                  <a:srgbClr val="292929"/>
                </a:solidFill>
              </a:defRPr>
            </a:lvl9pPr>
          </a:lstStyle>
          <a:p>
            <a:r>
              <a:rPr sz="1600" b="1"/>
              <a:t>Настройки обучения</a:t>
            </a:r>
            <a:endParaRPr sz="1600"/>
          </a:p>
          <a:p>
            <a:pPr marL="285750" indent="-285750">
              <a:buFont typeface="Arial"/>
              <a:buChar char="•"/>
            </a:pPr>
            <a:r>
              <a:rPr sz="1600"/>
              <a:t>Оптимизатор: AdamW</a:t>
            </a:r>
          </a:p>
          <a:p>
            <a:pPr marL="285750" indent="-285750">
              <a:buFont typeface="Arial"/>
              <a:buChar char="•"/>
            </a:pPr>
            <a:r>
              <a:rPr sz="1600"/>
              <a:t>Начальная скорость: lr = 10⁻³</a:t>
            </a:r>
          </a:p>
          <a:p>
            <a:pPr marL="285750" indent="-285750">
              <a:buFont typeface="Arial"/>
              <a:buChar char="•"/>
            </a:pPr>
            <a:r>
              <a:rPr sz="1600"/>
              <a:t>Размер батча: 8192</a:t>
            </a:r>
          </a:p>
          <a:p>
            <a:pPr marL="285750" indent="-285750">
              <a:buFont typeface="Arial"/>
              <a:buChar char="•"/>
            </a:pPr>
            <a:r>
              <a:rPr sz="1600"/>
              <a:t>Снижение скорости: ReduceLROnPlateau</a:t>
            </a:r>
          </a:p>
          <a:p>
            <a:pPr marL="285750" indent="-285750">
              <a:buFont typeface="Arial"/>
              <a:buChar char="•"/>
            </a:pPr>
            <a:r>
              <a:rPr sz="1600"/>
              <a:t>Ранняя остановка: early stopping</a:t>
            </a:r>
          </a:p>
          <a:p>
            <a:r>
              <a:rPr sz="1600" b="1"/>
              <a:t>Функция потерь</a:t>
            </a:r>
            <a:endParaRPr sz="1600"/>
          </a:p>
          <a:p>
            <a:pPr marL="285750" indent="-285750">
              <a:buFont typeface="Arial"/>
              <a:buChar char="•"/>
            </a:pPr>
            <a:r>
              <a:rPr sz="1600"/>
              <a:t>Взвешенная MSE</a:t>
            </a:r>
          </a:p>
          <a:p>
            <a:pPr marL="285750" indent="-285750">
              <a:buFont typeface="Arial"/>
              <a:buChar char="•"/>
            </a:pPr>
            <a:r>
              <a:rPr sz="1600"/>
              <a:t>Без физических штрафов</a:t>
            </a:r>
          </a:p>
          <a:p>
            <a:r>
              <a:rPr sz="1600" b="1"/>
              <a:t>Результат обучения</a:t>
            </a:r>
            <a:endParaRPr sz="1600"/>
          </a:p>
          <a:p>
            <a:pPr marL="285750" indent="-285750">
              <a:buFont typeface="Arial"/>
              <a:buChar char="•"/>
            </a:pPr>
            <a:r>
              <a:rPr sz="1600"/>
              <a:t>До 300 эпох, ранняя остановка</a:t>
            </a:r>
          </a:p>
          <a:p>
            <a:pPr marL="285750" indent="-285750">
              <a:buFont typeface="Arial"/>
              <a:buChar char="•"/>
            </a:pPr>
            <a:r>
              <a:rPr sz="1600"/>
              <a:t>Медиана ошибки P на test: 1,03%</a:t>
            </a:r>
          </a:p>
        </p:txBody>
      </p:sp>
    </p:spTree>
    <p:extLst>
      <p:ext uri="{BB962C8B-B14F-4D97-AF65-F5344CB8AC3E}">
        <p14:creationId xmlns:p14="http://schemas.microsoft.com/office/powerpoint/2010/main" val="914154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7A53103-6413-45A6-9C21-1A7156A318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B0C5466-8451-45D5-BA5E-8035EBF18F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added-content">
            <a:extLst>
              <a:ext uri="{FF2B5EF4-FFF2-40B4-BE49-F238E27FC236}">
                <a16:creationId xmlns:a16="http://schemas.microsoft.com/office/drawing/2014/main" id="{2C435DB8-E208-4B37-8737-D28815E22250}"/>
              </a:ext>
            </a:extLst>
          </p:cNvPr>
          <p:cNvSpPr>
            <a:spLocks noGrp="1"/>
          </p:cNvSpPr>
          <p:nvPr/>
        </p:nvSpPr>
        <p:spPr>
          <a:xfrm>
            <a:off x="762000" y="571500"/>
            <a:ext cx="752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292929"/>
                </a:solidFill>
              </a:defRPr>
            </a:defPPr>
            <a:lvl1pPr>
              <a:buNone/>
              <a:defRPr sz="2550" b="1">
                <a:solidFill>
                  <a:srgbClr val="292929"/>
                </a:solidFill>
              </a:defRPr>
            </a:lvl1pPr>
            <a:lvl2pPr>
              <a:buNone/>
              <a:defRPr sz="2550" b="1">
                <a:solidFill>
                  <a:srgbClr val="292929"/>
                </a:solidFill>
              </a:defRPr>
            </a:lvl2pPr>
            <a:lvl3pPr>
              <a:buNone/>
              <a:defRPr sz="2550" b="1">
                <a:solidFill>
                  <a:srgbClr val="292929"/>
                </a:solidFill>
              </a:defRPr>
            </a:lvl3pPr>
            <a:lvl4pPr>
              <a:buNone/>
              <a:defRPr sz="2550" b="1">
                <a:solidFill>
                  <a:srgbClr val="292929"/>
                </a:solidFill>
              </a:defRPr>
            </a:lvl4pPr>
            <a:lvl5pPr>
              <a:buNone/>
              <a:defRPr sz="2550" b="1">
                <a:solidFill>
                  <a:srgbClr val="292929"/>
                </a:solidFill>
              </a:defRPr>
            </a:lvl5pPr>
            <a:lvl6pPr>
              <a:buNone/>
              <a:defRPr sz="2550" b="1">
                <a:solidFill>
                  <a:srgbClr val="292929"/>
                </a:solidFill>
              </a:defRPr>
            </a:lvl6pPr>
            <a:lvl7pPr>
              <a:buNone/>
              <a:defRPr sz="2550" b="1">
                <a:solidFill>
                  <a:srgbClr val="292929"/>
                </a:solidFill>
              </a:defRPr>
            </a:lvl7pPr>
            <a:lvl8pPr>
              <a:buNone/>
              <a:defRPr sz="2550" b="1">
                <a:solidFill>
                  <a:srgbClr val="292929"/>
                </a:solidFill>
              </a:defRPr>
            </a:lvl8pPr>
            <a:lvl9pPr>
              <a:buNone/>
              <a:defRPr sz="255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550" b="1">
                <a:solidFill>
                  <a:srgbClr val="292929"/>
                </a:solidFill>
              </a:defRPr>
            </a:pPr>
            <a:r>
              <a:rPr sz="2550" b="1">
                <a:solidFill>
                  <a:srgbClr val="292929"/>
                </a:solidFill>
              </a:rPr>
              <a:t>Vanilla: карта ошибок на test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463B24-2D45-4A42-9457-3E3C4BFDCE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4553" y="1364651"/>
            <a:ext cx="7667625" cy="2652323"/>
          </a:xfrm>
          <a:prstGeom prst="rect">
            <a:avLst/>
          </a:prstGeom>
        </p:spPr>
      </p:pic>
      <p:sp>
        <p:nvSpPr>
          <p:cNvPr id="7" name="page-number">
            <a:extLst>
              <a:ext uri="{FF2B5EF4-FFF2-40B4-BE49-F238E27FC236}">
                <a16:creationId xmlns:a16="http://schemas.microsoft.com/office/drawing/2014/main" id="{9B7B29E5-FADE-4AAB-A404-C10E3680D803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lang="ru-RU" dirty="0"/>
              <a:t>14</a:t>
            </a:r>
            <a:endParaRPr sz="1350" b="0" dirty="0">
              <a:solidFill>
                <a:srgbClr val="2929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13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69584B9-4ED7-4F23-BA9A-CAB1E04A52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37B918-0B16-46FD-AB8C-D6CCDBB434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added-content">
            <a:extLst>
              <a:ext uri="{FF2B5EF4-FFF2-40B4-BE49-F238E27FC236}">
                <a16:creationId xmlns:a16="http://schemas.microsoft.com/office/drawing/2014/main" id="{43C5302C-4599-4EAC-8B31-BE39C6C4FBF9}"/>
              </a:ext>
            </a:extLst>
          </p:cNvPr>
          <p:cNvSpPr>
            <a:spLocks noGrp="1"/>
          </p:cNvSpPr>
          <p:nvPr/>
        </p:nvSpPr>
        <p:spPr>
          <a:xfrm>
            <a:off x="762000" y="571500"/>
            <a:ext cx="752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292929"/>
                </a:solidFill>
              </a:defRPr>
            </a:defPPr>
            <a:lvl1pPr>
              <a:buNone/>
              <a:defRPr sz="2550" b="1">
                <a:solidFill>
                  <a:srgbClr val="292929"/>
                </a:solidFill>
              </a:defRPr>
            </a:lvl1pPr>
            <a:lvl2pPr>
              <a:buNone/>
              <a:defRPr sz="2550" b="1">
                <a:solidFill>
                  <a:srgbClr val="292929"/>
                </a:solidFill>
              </a:defRPr>
            </a:lvl2pPr>
            <a:lvl3pPr>
              <a:buNone/>
              <a:defRPr sz="2550" b="1">
                <a:solidFill>
                  <a:srgbClr val="292929"/>
                </a:solidFill>
              </a:defRPr>
            </a:lvl3pPr>
            <a:lvl4pPr>
              <a:buNone/>
              <a:defRPr sz="2550" b="1">
                <a:solidFill>
                  <a:srgbClr val="292929"/>
                </a:solidFill>
              </a:defRPr>
            </a:lvl4pPr>
            <a:lvl5pPr>
              <a:buNone/>
              <a:defRPr sz="2550" b="1">
                <a:solidFill>
                  <a:srgbClr val="292929"/>
                </a:solidFill>
              </a:defRPr>
            </a:lvl5pPr>
            <a:lvl6pPr>
              <a:buNone/>
              <a:defRPr sz="2550" b="1">
                <a:solidFill>
                  <a:srgbClr val="292929"/>
                </a:solidFill>
              </a:defRPr>
            </a:lvl6pPr>
            <a:lvl7pPr>
              <a:buNone/>
              <a:defRPr sz="2550" b="1">
                <a:solidFill>
                  <a:srgbClr val="292929"/>
                </a:solidFill>
              </a:defRPr>
            </a:lvl7pPr>
            <a:lvl8pPr>
              <a:buNone/>
              <a:defRPr sz="2550" b="1">
                <a:solidFill>
                  <a:srgbClr val="292929"/>
                </a:solidFill>
              </a:defRPr>
            </a:lvl8pPr>
            <a:lvl9pPr>
              <a:buNone/>
              <a:defRPr sz="255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550" b="1">
                <a:solidFill>
                  <a:srgbClr val="292929"/>
                </a:solidFill>
              </a:defRPr>
            </a:pPr>
            <a:r>
              <a:rPr sz="2550" b="1">
                <a:solidFill>
                  <a:srgbClr val="292929"/>
                </a:solidFill>
              </a:rPr>
              <a:t>Vanilla: где нарушаются условия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13D1B0-EF6C-448E-8BBD-A04CB5859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13929" y="1537997"/>
            <a:ext cx="7810500" cy="2162756"/>
          </a:xfrm>
          <a:prstGeom prst="rect">
            <a:avLst/>
          </a:prstGeom>
        </p:spPr>
      </p:pic>
      <p:sp>
        <p:nvSpPr>
          <p:cNvPr id="7" name="page-number">
            <a:extLst>
              <a:ext uri="{FF2B5EF4-FFF2-40B4-BE49-F238E27FC236}">
                <a16:creationId xmlns:a16="http://schemas.microsoft.com/office/drawing/2014/main" id="{9B7B29E5-FADE-4AAB-A404-C10E3680D803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dirty="0"/>
              <a:t>1</a:t>
            </a:r>
            <a:r>
              <a:rPr lang="ru-RU" dirty="0"/>
              <a:t>5</a:t>
            </a:r>
            <a:endParaRPr sz="1350" b="0" dirty="0">
              <a:solidFill>
                <a:srgbClr val="2929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68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30F26C1-9C8B-46A6-A328-73301184FF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1DE87C-C1E0-439B-BD26-F21FB882D8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page-number">
            <a:extLst>
              <a:ext uri="{FF2B5EF4-FFF2-40B4-BE49-F238E27FC236}">
                <a16:creationId xmlns:a16="http://schemas.microsoft.com/office/drawing/2014/main" id="{D8831215-6B9F-4C2C-8D42-09DFF5759B1F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sz="1350" b="0" dirty="0">
                <a:solidFill>
                  <a:srgbClr val="292929"/>
                </a:solidFill>
              </a:rPr>
              <a:t>1</a:t>
            </a:r>
            <a:r>
              <a:rPr lang="ru-RU" sz="1350" b="0" dirty="0">
                <a:solidFill>
                  <a:srgbClr val="292929"/>
                </a:solidFill>
              </a:rPr>
              <a:t>6</a:t>
            </a:r>
            <a:endParaRPr sz="1350" b="0" dirty="0">
              <a:solidFill>
                <a:srgbClr val="292929"/>
              </a:solidFill>
            </a:endParaRP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D3CF2AB8-34F3-4AAA-95F3-2E3DEEFD2F33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929"/>
                </a:solidFill>
              </a:defRPr>
            </a:defPPr>
            <a:lvl1pPr>
              <a:buNone/>
              <a:defRPr sz="2700" b="1">
                <a:solidFill>
                  <a:srgbClr val="292929"/>
                </a:solidFill>
              </a:defRPr>
            </a:lvl1pPr>
            <a:lvl2pPr>
              <a:buNone/>
              <a:defRPr sz="2700" b="1">
                <a:solidFill>
                  <a:srgbClr val="292929"/>
                </a:solidFill>
              </a:defRPr>
            </a:lvl2pPr>
            <a:lvl3pPr>
              <a:buNone/>
              <a:defRPr sz="2700" b="1">
                <a:solidFill>
                  <a:srgbClr val="292929"/>
                </a:solidFill>
              </a:defRPr>
            </a:lvl3pPr>
            <a:lvl4pPr>
              <a:buNone/>
              <a:defRPr sz="2700" b="1">
                <a:solidFill>
                  <a:srgbClr val="292929"/>
                </a:solidFill>
              </a:defRPr>
            </a:lvl4pPr>
            <a:lvl5pPr>
              <a:buNone/>
              <a:defRPr sz="2700" b="1">
                <a:solidFill>
                  <a:srgbClr val="292929"/>
                </a:solidFill>
              </a:defRPr>
            </a:lvl5pPr>
            <a:lvl6pPr>
              <a:buNone/>
              <a:defRPr sz="2700" b="1">
                <a:solidFill>
                  <a:srgbClr val="292929"/>
                </a:solidFill>
              </a:defRPr>
            </a:lvl6pPr>
            <a:lvl7pPr>
              <a:buNone/>
              <a:defRPr sz="2700" b="1">
                <a:solidFill>
                  <a:srgbClr val="292929"/>
                </a:solidFill>
              </a:defRPr>
            </a:lvl7pPr>
            <a:lvl8pPr>
              <a:buNone/>
              <a:defRPr sz="2700" b="1">
                <a:solidFill>
                  <a:srgbClr val="292929"/>
                </a:solidFill>
              </a:defRPr>
            </a:lvl8pPr>
            <a:lvl9pPr>
              <a:buNone/>
              <a:defRPr sz="27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700" b="1">
                <a:solidFill>
                  <a:srgbClr val="292929"/>
                </a:solidFill>
              </a:defRPr>
            </a:pPr>
            <a:r>
              <a:rPr sz="2700" b="1">
                <a:solidFill>
                  <a:srgbClr val="292929"/>
                </a:solidFill>
              </a:rPr>
              <a:t>PINN: функция потерь</a:t>
            </a:r>
          </a:p>
        </p:txBody>
      </p:sp>
      <p:sp>
        <p:nvSpPr>
          <p:cNvPr id="6" name="formula-card">
            <a:extLst>
              <a:ext uri="{FF2B5EF4-FFF2-40B4-BE49-F238E27FC236}">
                <a16:creationId xmlns:a16="http://schemas.microsoft.com/office/drawing/2014/main" id="{507B9EDB-A081-439A-B351-E3AC59D709BD}"/>
              </a:ext>
            </a:extLst>
          </p:cNvPr>
          <p:cNvSpPr>
            <a:spLocks noGrp="1"/>
          </p:cNvSpPr>
          <p:nvPr/>
        </p:nvSpPr>
        <p:spPr>
          <a:xfrm>
            <a:off x="857250" y="1340000"/>
            <a:ext cx="7272750" cy="560000"/>
          </a:xfrm>
          <a:prstGeom prst="roundRect">
            <a:avLst>
              <a:gd name="adj" fmla="val 6000"/>
            </a:avLst>
          </a:prstGeom>
          <a:solidFill>
            <a:srgbClr val="B1C9D3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formula">
            <a:extLst>
              <a:ext uri="{FF2B5EF4-FFF2-40B4-BE49-F238E27FC236}">
                <a16:creationId xmlns:a16="http://schemas.microsoft.com/office/drawing/2014/main" id="{18506B85-24FC-49B6-A9CA-1AE3F8D44B54}"/>
              </a:ext>
            </a:extLst>
          </p:cNvPr>
          <p:cNvSpPr>
            <a:spLocks noGrp="1"/>
          </p:cNvSpPr>
          <p:nvPr/>
        </p:nvSpPr>
        <p:spPr>
          <a:xfrm>
            <a:off x="857250" y="1340000"/>
            <a:ext cx="727275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2000" b="1" i="0">
                <a:solidFill>
                  <a:srgbClr val="292929"/>
                </a:solidFill>
              </a:rPr>
              <a:t>L = MSE</a:t>
            </a:r>
            <a:r>
              <a:rPr sz="2000" b="1" i="0" baseline="-25000">
                <a:solidFill>
                  <a:srgbClr val="292929"/>
                </a:solidFill>
              </a:rPr>
              <a:t>данные</a:t>
            </a:r>
            <a:r>
              <a:rPr sz="2000" b="1" i="0">
                <a:solidFill>
                  <a:srgbClr val="292929"/>
                </a:solidFill>
              </a:rPr>
              <a:t> + λ</a:t>
            </a:r>
            <a:r>
              <a:rPr sz="2000" b="1" i="0" baseline="-25000">
                <a:solidFill>
                  <a:srgbClr val="292929"/>
                </a:solidFill>
              </a:rPr>
              <a:t>ρ</a:t>
            </a:r>
            <a:r>
              <a:rPr sz="2000" b="1" i="0">
                <a:solidFill>
                  <a:srgbClr val="292929"/>
                </a:solidFill>
              </a:rPr>
              <a:t> L</a:t>
            </a:r>
            <a:r>
              <a:rPr sz="2000" b="1" i="0" baseline="-25000">
                <a:solidFill>
                  <a:srgbClr val="292929"/>
                </a:solidFill>
              </a:rPr>
              <a:t>ρ</a:t>
            </a:r>
            <a:r>
              <a:rPr sz="2000" b="1" i="0">
                <a:solidFill>
                  <a:srgbClr val="292929"/>
                </a:solidFill>
              </a:rPr>
              <a:t> + λ</a:t>
            </a:r>
            <a:r>
              <a:rPr sz="2000" b="1" i="0" baseline="-25000">
                <a:solidFill>
                  <a:srgbClr val="292929"/>
                </a:solidFill>
              </a:rPr>
              <a:t>T</a:t>
            </a:r>
            <a:r>
              <a:rPr sz="2000" b="1" i="0">
                <a:solidFill>
                  <a:srgbClr val="292929"/>
                </a:solidFill>
              </a:rPr>
              <a:t> L</a:t>
            </a:r>
            <a:r>
              <a:rPr sz="2000" b="1" i="0" baseline="-25000">
                <a:solidFill>
                  <a:srgbClr val="292929"/>
                </a:solidFill>
              </a:rPr>
              <a:t>T</a:t>
            </a:r>
            <a:r>
              <a:rPr sz="2000" b="1" i="0">
                <a:solidFill>
                  <a:srgbClr val="292929"/>
                </a:solidFill>
              </a:rPr>
              <a:t> + λ</a:t>
            </a:r>
            <a:r>
              <a:rPr sz="2000" b="1" i="0" baseline="-25000">
                <a:solidFill>
                  <a:srgbClr val="292929"/>
                </a:solidFill>
              </a:rPr>
              <a:t>c</a:t>
            </a:r>
            <a:r>
              <a:rPr sz="2000" b="1" i="0">
                <a:solidFill>
                  <a:srgbClr val="292929"/>
                </a:solidFill>
              </a:rPr>
              <a:t> L</a:t>
            </a:r>
            <a:r>
              <a:rPr sz="2000" b="1" i="0" baseline="-25000">
                <a:solidFill>
                  <a:srgbClr val="292929"/>
                </a:solidFill>
              </a:rPr>
              <a:t>c</a:t>
            </a:r>
          </a:p>
        </p:txBody>
      </p:sp>
      <p:sp>
        <p:nvSpPr>
          <p:cNvPr id="8" name="term-card-1">
            <a:extLst>
              <a:ext uri="{FF2B5EF4-FFF2-40B4-BE49-F238E27FC236}">
                <a16:creationId xmlns:a16="http://schemas.microsoft.com/office/drawing/2014/main" id="{0C05CC47-07B7-4C32-9AFA-6AE3E442B2F3}"/>
              </a:ext>
            </a:extLst>
          </p:cNvPr>
          <p:cNvSpPr>
            <a:spLocks noGrp="1"/>
          </p:cNvSpPr>
          <p:nvPr/>
        </p:nvSpPr>
        <p:spPr>
          <a:xfrm>
            <a:off x="857250" y="208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EEF3F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rm-text-1">
            <a:extLst>
              <a:ext uri="{FF2B5EF4-FFF2-40B4-BE49-F238E27FC236}">
                <a16:creationId xmlns:a16="http://schemas.microsoft.com/office/drawing/2014/main" id="{AF18E4EC-861F-4EC1-A894-51E424869EBF}"/>
              </a:ext>
            </a:extLst>
          </p:cNvPr>
          <p:cNvSpPr>
            <a:spLocks noGrp="1"/>
          </p:cNvSpPr>
          <p:nvPr/>
        </p:nvSpPr>
        <p:spPr>
          <a:xfrm>
            <a:off x="977250" y="2200000"/>
            <a:ext cx="2110000" cy="1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292929"/>
                </a:solidFill>
              </a:rPr>
              <a:t>L</a:t>
            </a:r>
            <a:r>
              <a:rPr sz="1400" b="1" i="0" baseline="-25000">
                <a:solidFill>
                  <a:srgbClr val="292929"/>
                </a:solidFill>
              </a:rPr>
              <a:t>ρ</a:t>
            </a:r>
            <a:r>
              <a:rPr sz="1400" b="1" i="0">
                <a:solidFill>
                  <a:srgbClr val="292929"/>
                </a:solidFill>
              </a:rPr>
              <a:t>: механическая устойчивость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92929"/>
                </a:solidFill>
              </a:rPr>
              <a:t>Штраф mean max(0, −∂lnP/∂lnρ). Требует (∂P/∂ρ)</a:t>
            </a:r>
            <a:r>
              <a:rPr sz="1300" b="0" i="0" baseline="-25000">
                <a:solidFill>
                  <a:srgbClr val="292929"/>
                </a:solidFill>
              </a:rPr>
              <a:t>T</a:t>
            </a:r>
            <a:r>
              <a:rPr sz="1300" b="0" i="0">
                <a:solidFill>
                  <a:srgbClr val="292929"/>
                </a:solidFill>
              </a:rPr>
              <a:t> &gt; 0: давление растёт при сжатии.</a:t>
            </a:r>
          </a:p>
        </p:txBody>
      </p:sp>
      <p:sp>
        <p:nvSpPr>
          <p:cNvPr id="10" name="term-card-2">
            <a:extLst>
              <a:ext uri="{FF2B5EF4-FFF2-40B4-BE49-F238E27FC236}">
                <a16:creationId xmlns:a16="http://schemas.microsoft.com/office/drawing/2014/main" id="{44BB5D70-AE33-467A-9F9D-13D1B459F35B}"/>
              </a:ext>
            </a:extLst>
          </p:cNvPr>
          <p:cNvSpPr>
            <a:spLocks noGrp="1"/>
          </p:cNvSpPr>
          <p:nvPr/>
        </p:nvSpPr>
        <p:spPr>
          <a:xfrm>
            <a:off x="3396625" y="208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EEF3F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rm-text-2">
            <a:extLst>
              <a:ext uri="{FF2B5EF4-FFF2-40B4-BE49-F238E27FC236}">
                <a16:creationId xmlns:a16="http://schemas.microsoft.com/office/drawing/2014/main" id="{5BEB1165-B53B-45AD-91C5-E17D024D6900}"/>
              </a:ext>
            </a:extLst>
          </p:cNvPr>
          <p:cNvSpPr>
            <a:spLocks noGrp="1"/>
          </p:cNvSpPr>
          <p:nvPr/>
        </p:nvSpPr>
        <p:spPr>
          <a:xfrm>
            <a:off x="3516625" y="2200000"/>
            <a:ext cx="2110000" cy="1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292929"/>
                </a:solidFill>
              </a:rPr>
              <a:t>L</a:t>
            </a:r>
            <a:r>
              <a:rPr sz="1400" b="1" i="0" baseline="-25000">
                <a:solidFill>
                  <a:srgbClr val="292929"/>
                </a:solidFill>
              </a:rPr>
              <a:t>T</a:t>
            </a:r>
            <a:r>
              <a:rPr sz="1400" b="1" i="0">
                <a:solidFill>
                  <a:srgbClr val="292929"/>
                </a:solidFill>
              </a:rPr>
              <a:t>: термическая устойчивость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92929"/>
                </a:solidFill>
              </a:rPr>
              <a:t>Штраф mean max(0, −∂e/∂lnT) / (|e| + 1). Требует (∂e/∂T)</a:t>
            </a:r>
            <a:r>
              <a:rPr sz="1300" b="0" i="0" baseline="-25000">
                <a:solidFill>
                  <a:srgbClr val="292929"/>
                </a:solidFill>
              </a:rPr>
              <a:t>ρ</a:t>
            </a:r>
            <a:r>
              <a:rPr sz="1300" b="0" i="0">
                <a:solidFill>
                  <a:srgbClr val="292929"/>
                </a:solidFill>
              </a:rPr>
              <a:t> ≥ 0; в таблице при T ≲ 7 K плато.</a:t>
            </a:r>
          </a:p>
        </p:txBody>
      </p:sp>
      <p:sp>
        <p:nvSpPr>
          <p:cNvPr id="12" name="term-card-3">
            <a:extLst>
              <a:ext uri="{FF2B5EF4-FFF2-40B4-BE49-F238E27FC236}">
                <a16:creationId xmlns:a16="http://schemas.microsoft.com/office/drawing/2014/main" id="{9A42762D-F3BD-4DC6-B277-68CC0A79C266}"/>
              </a:ext>
            </a:extLst>
          </p:cNvPr>
          <p:cNvSpPr>
            <a:spLocks noGrp="1"/>
          </p:cNvSpPr>
          <p:nvPr/>
        </p:nvSpPr>
        <p:spPr>
          <a:xfrm>
            <a:off x="5936000" y="2080000"/>
            <a:ext cx="2350000" cy="1500000"/>
          </a:xfrm>
          <a:prstGeom prst="roundRect">
            <a:avLst>
              <a:gd name="adj" fmla="val 6000"/>
            </a:avLst>
          </a:prstGeom>
          <a:solidFill>
            <a:srgbClr val="EEF3F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rm-text-3">
            <a:extLst>
              <a:ext uri="{FF2B5EF4-FFF2-40B4-BE49-F238E27FC236}">
                <a16:creationId xmlns:a16="http://schemas.microsoft.com/office/drawing/2014/main" id="{3527B67A-1E5B-4D98-9A40-0085DC70D73B}"/>
              </a:ext>
            </a:extLst>
          </p:cNvPr>
          <p:cNvSpPr>
            <a:spLocks noGrp="1"/>
          </p:cNvSpPr>
          <p:nvPr/>
        </p:nvSpPr>
        <p:spPr>
          <a:xfrm>
            <a:off x="6056000" y="2200000"/>
            <a:ext cx="2110000" cy="1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292929"/>
                </a:solidFill>
              </a:rPr>
              <a:t>L</a:t>
            </a:r>
            <a:r>
              <a:rPr sz="1400" b="1" i="0" baseline="-25000">
                <a:solidFill>
                  <a:srgbClr val="292929"/>
                </a:solidFill>
              </a:rPr>
              <a:t>c</a:t>
            </a:r>
            <a:r>
              <a:rPr sz="1400" b="1" i="0">
                <a:solidFill>
                  <a:srgbClr val="292929"/>
                </a:solidFill>
              </a:rPr>
              <a:t>: скорость звука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92929"/>
                </a:solidFill>
              </a:rPr>
              <a:t>Штраф за нарушение 0 &lt; c</a:t>
            </a:r>
            <a:r>
              <a:rPr sz="1300" b="0" i="0" baseline="-25000">
                <a:solidFill>
                  <a:srgbClr val="292929"/>
                </a:solidFill>
              </a:rPr>
              <a:t>s</a:t>
            </a:r>
            <a:r>
              <a:rPr sz="1300" b="0" i="0">
                <a:solidFill>
                  <a:srgbClr val="292929"/>
                </a:solidFill>
              </a:rPr>
              <a:t> &lt; c, где c — скорость света (п. 3.3 задания).</a:t>
            </a:r>
          </a:p>
        </p:txBody>
      </p:sp>
      <p:sp>
        <p:nvSpPr>
          <p:cNvPr id="14" name="footnote">
            <a:extLst>
              <a:ext uri="{FF2B5EF4-FFF2-40B4-BE49-F238E27FC236}">
                <a16:creationId xmlns:a16="http://schemas.microsoft.com/office/drawing/2014/main" id="{6F3DD1B6-94F7-49D5-A6FF-870C472DE5CA}"/>
              </a:ext>
            </a:extLst>
          </p:cNvPr>
          <p:cNvSpPr>
            <a:spLocks noGrp="1"/>
          </p:cNvSpPr>
          <p:nvPr/>
        </p:nvSpPr>
        <p:spPr>
          <a:xfrm>
            <a:off x="857250" y="3780000"/>
            <a:ext cx="727275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5F6B72"/>
                </a:solidFill>
              </a:rPr>
              <a:t>Производные считаются через autograd по ln ρ и ln T, штрафы безразмерные. Они вычисляются в 1024 случайных точках коллокации по всему домену на каждом шаге.</a:t>
            </a:r>
          </a:p>
        </p:txBody>
      </p:sp>
    </p:spTree>
    <p:extLst>
      <p:ext uri="{BB962C8B-B14F-4D97-AF65-F5344CB8AC3E}">
        <p14:creationId xmlns:p14="http://schemas.microsoft.com/office/powerpoint/2010/main" val="233626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91E3B-32A2-1F36-9A3A-B8970453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7346DFE-B1D0-2C91-0D57-7B9F22E71C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145A2B-239E-2C78-3B84-28E5A3B54E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page-number">
            <a:extLst>
              <a:ext uri="{FF2B5EF4-FFF2-40B4-BE49-F238E27FC236}">
                <a16:creationId xmlns:a16="http://schemas.microsoft.com/office/drawing/2014/main" id="{B2B5A1C8-B107-FF24-23E3-A8644DC45A19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sz="1350" b="0" dirty="0">
                <a:solidFill>
                  <a:srgbClr val="292929"/>
                </a:solidFill>
              </a:rPr>
              <a:t>1</a:t>
            </a:r>
            <a:r>
              <a:rPr lang="ru-RU" sz="1350" b="0" dirty="0">
                <a:solidFill>
                  <a:srgbClr val="292929"/>
                </a:solidFill>
              </a:rPr>
              <a:t>7</a:t>
            </a:r>
            <a:endParaRPr sz="1350" b="0" dirty="0">
              <a:solidFill>
                <a:srgbClr val="292929"/>
              </a:solidFill>
            </a:endParaRP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840A24BE-E81D-09CC-75BB-4F64E88AEF23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929"/>
                </a:solidFill>
              </a:defRPr>
            </a:defPPr>
            <a:lvl1pPr>
              <a:buNone/>
              <a:defRPr sz="2700" b="1">
                <a:solidFill>
                  <a:srgbClr val="292929"/>
                </a:solidFill>
              </a:defRPr>
            </a:lvl1pPr>
            <a:lvl2pPr>
              <a:buNone/>
              <a:defRPr sz="2700" b="1">
                <a:solidFill>
                  <a:srgbClr val="292929"/>
                </a:solidFill>
              </a:defRPr>
            </a:lvl2pPr>
            <a:lvl3pPr>
              <a:buNone/>
              <a:defRPr sz="2700" b="1">
                <a:solidFill>
                  <a:srgbClr val="292929"/>
                </a:solidFill>
              </a:defRPr>
            </a:lvl3pPr>
            <a:lvl4pPr>
              <a:buNone/>
              <a:defRPr sz="2700" b="1">
                <a:solidFill>
                  <a:srgbClr val="292929"/>
                </a:solidFill>
              </a:defRPr>
            </a:lvl4pPr>
            <a:lvl5pPr>
              <a:buNone/>
              <a:defRPr sz="2700" b="1">
                <a:solidFill>
                  <a:srgbClr val="292929"/>
                </a:solidFill>
              </a:defRPr>
            </a:lvl5pPr>
            <a:lvl6pPr>
              <a:buNone/>
              <a:defRPr sz="2700" b="1">
                <a:solidFill>
                  <a:srgbClr val="292929"/>
                </a:solidFill>
              </a:defRPr>
            </a:lvl6pPr>
            <a:lvl7pPr>
              <a:buNone/>
              <a:defRPr sz="2700" b="1">
                <a:solidFill>
                  <a:srgbClr val="292929"/>
                </a:solidFill>
              </a:defRPr>
            </a:lvl7pPr>
            <a:lvl8pPr>
              <a:buNone/>
              <a:defRPr sz="2700" b="1">
                <a:solidFill>
                  <a:srgbClr val="292929"/>
                </a:solidFill>
              </a:defRPr>
            </a:lvl8pPr>
            <a:lvl9pPr>
              <a:buNone/>
              <a:defRPr sz="27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700" b="1">
                <a:solidFill>
                  <a:srgbClr val="292929"/>
                </a:solidFill>
              </a:defRPr>
            </a:pPr>
            <a:r>
              <a:rPr sz="2700" b="1">
                <a:solidFill>
                  <a:srgbClr val="292929"/>
                </a:solidFill>
              </a:rPr>
              <a:t>PINN: обучение и согласованность</a:t>
            </a:r>
          </a:p>
        </p:txBody>
      </p:sp>
      <p:sp>
        <p:nvSpPr>
          <p:cNvPr id="6" name="left-head">
            <a:extLst>
              <a:ext uri="{FF2B5EF4-FFF2-40B4-BE49-F238E27FC236}">
                <a16:creationId xmlns:a16="http://schemas.microsoft.com/office/drawing/2014/main" id="{83A3E896-13A0-2935-8C3C-CBC427B1B114}"/>
              </a:ext>
            </a:extLst>
          </p:cNvPr>
          <p:cNvSpPr>
            <a:spLocks noGrp="1"/>
          </p:cNvSpPr>
          <p:nvPr/>
        </p:nvSpPr>
        <p:spPr>
          <a:xfrm>
            <a:off x="857250" y="1380000"/>
            <a:ext cx="348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 i="0">
                <a:solidFill>
                  <a:srgbClr val="292929"/>
                </a:solidFill>
              </a:rPr>
              <a:t>Настройки обучения</a:t>
            </a:r>
          </a:p>
        </p:txBody>
      </p:sp>
      <p:sp>
        <p:nvSpPr>
          <p:cNvPr id="7" name="left-list">
            <a:extLst>
              <a:ext uri="{FF2B5EF4-FFF2-40B4-BE49-F238E27FC236}">
                <a16:creationId xmlns:a16="http://schemas.microsoft.com/office/drawing/2014/main" id="{EC80AE24-E147-4F07-DEF2-6B2228DE6448}"/>
              </a:ext>
            </a:extLst>
          </p:cNvPr>
          <p:cNvSpPr>
            <a:spLocks noGrp="1"/>
          </p:cNvSpPr>
          <p:nvPr/>
        </p:nvSpPr>
        <p:spPr>
          <a:xfrm>
            <a:off x="857250" y="1780000"/>
            <a:ext cx="348000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600"/>
              </a:spcAft>
              <a:buChar char="•"/>
            </a:pPr>
            <a:r>
              <a:rPr sz="1300" b="0" i="0" dirty="0" err="1">
                <a:solidFill>
                  <a:srgbClr val="292929"/>
                </a:solidFill>
              </a:rPr>
              <a:t>Сеть</a:t>
            </a:r>
            <a:r>
              <a:rPr sz="1300" b="0" i="0" dirty="0">
                <a:solidFill>
                  <a:srgbClr val="292929"/>
                </a:solidFill>
              </a:rPr>
              <a:t> 2 → 4×256 → 2, GELU: </a:t>
            </a:r>
            <a:r>
              <a:rPr sz="1300" b="0" i="0" dirty="0" err="1">
                <a:solidFill>
                  <a:srgbClr val="292929"/>
                </a:solidFill>
              </a:rPr>
              <a:t>гладкая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активация</a:t>
            </a:r>
            <a:r>
              <a:rPr sz="1300" b="0" i="0" dirty="0">
                <a:solidFill>
                  <a:srgbClr val="292929"/>
                </a:solidFill>
              </a:rPr>
              <a:t>, </a:t>
            </a:r>
            <a:r>
              <a:rPr sz="1300" b="0" i="0" dirty="0" err="1">
                <a:solidFill>
                  <a:srgbClr val="292929"/>
                </a:solidFill>
              </a:rPr>
              <a:t>потому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что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производные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сети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входят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в</a:t>
            </a:r>
            <a:r>
              <a:rPr sz="1300" b="0" i="0" dirty="0">
                <a:solidFill>
                  <a:srgbClr val="292929"/>
                </a:solidFill>
              </a:rPr>
              <a:t> loss</a:t>
            </a:r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sz="1300" b="0" i="0" dirty="0">
                <a:solidFill>
                  <a:srgbClr val="292929"/>
                </a:solidFill>
              </a:rPr>
              <a:t>30 000 </a:t>
            </a:r>
            <a:r>
              <a:rPr sz="1300" b="0" i="0" dirty="0" err="1">
                <a:solidFill>
                  <a:srgbClr val="292929"/>
                </a:solidFill>
              </a:rPr>
              <a:t>шагов</a:t>
            </a:r>
            <a:r>
              <a:rPr sz="1300" b="0" i="0" dirty="0">
                <a:solidFill>
                  <a:srgbClr val="292929"/>
                </a:solidFill>
              </a:rPr>
              <a:t>, </a:t>
            </a:r>
            <a:r>
              <a:rPr sz="1300" b="0" i="0" dirty="0" err="1">
                <a:solidFill>
                  <a:srgbClr val="292929"/>
                </a:solidFill>
              </a:rPr>
              <a:t>батч</a:t>
            </a:r>
            <a:r>
              <a:rPr sz="1300" b="0" i="0" dirty="0">
                <a:solidFill>
                  <a:srgbClr val="292929"/>
                </a:solidFill>
              </a:rPr>
              <a:t> 8192, </a:t>
            </a:r>
            <a:r>
              <a:rPr sz="1300" b="0" i="0" dirty="0" err="1">
                <a:solidFill>
                  <a:srgbClr val="292929"/>
                </a:solidFill>
              </a:rPr>
              <a:t>lr</a:t>
            </a:r>
            <a:r>
              <a:rPr sz="1300" b="0" i="0" dirty="0">
                <a:solidFill>
                  <a:srgbClr val="292929"/>
                </a:solidFill>
              </a:rPr>
              <a:t> = 2·10⁻³</a:t>
            </a:r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sz="1300" b="0" i="0" dirty="0">
                <a:solidFill>
                  <a:srgbClr val="292929"/>
                </a:solidFill>
              </a:rPr>
              <a:t>1024 </a:t>
            </a:r>
            <a:r>
              <a:rPr sz="1300" b="0" i="0" dirty="0" err="1">
                <a:solidFill>
                  <a:srgbClr val="292929"/>
                </a:solidFill>
              </a:rPr>
              <a:t>точки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коллокации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на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шаг</a:t>
            </a:r>
            <a:endParaRPr sz="1300" b="0" i="0" dirty="0">
              <a:solidFill>
                <a:srgbClr val="292929"/>
              </a:solidFill>
            </a:endParaRPr>
          </a:p>
        </p:txBody>
      </p:sp>
      <p:sp>
        <p:nvSpPr>
          <p:cNvPr id="11" name="left-list">
            <a:extLst>
              <a:ext uri="{FF2B5EF4-FFF2-40B4-BE49-F238E27FC236}">
                <a16:creationId xmlns:a16="http://schemas.microsoft.com/office/drawing/2014/main" id="{66F2E372-B40A-D6F8-9F0F-4522890D4276}"/>
              </a:ext>
            </a:extLst>
          </p:cNvPr>
          <p:cNvSpPr>
            <a:spLocks noGrp="1"/>
          </p:cNvSpPr>
          <p:nvPr/>
        </p:nvSpPr>
        <p:spPr>
          <a:xfrm>
            <a:off x="4524375" y="1655137"/>
            <a:ext cx="3480000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600"/>
              </a:spcAft>
              <a:buChar char="•"/>
            </a:pPr>
            <a:r>
              <a:rPr sz="1300" b="0" i="0" dirty="0" err="1">
                <a:solidFill>
                  <a:srgbClr val="292929"/>
                </a:solidFill>
              </a:rPr>
              <a:t>λ</a:t>
            </a:r>
            <a:r>
              <a:rPr sz="1300" b="0" i="0" baseline="-25000" dirty="0" err="1">
                <a:solidFill>
                  <a:srgbClr val="292929"/>
                </a:solidFill>
              </a:rPr>
              <a:t>ρ</a:t>
            </a:r>
            <a:r>
              <a:rPr sz="1300" b="0" i="0" dirty="0">
                <a:solidFill>
                  <a:srgbClr val="292929"/>
                </a:solidFill>
              </a:rPr>
              <a:t> = </a:t>
            </a:r>
            <a:r>
              <a:rPr sz="1300" b="0" i="0" dirty="0" err="1">
                <a:solidFill>
                  <a:srgbClr val="292929"/>
                </a:solidFill>
              </a:rPr>
              <a:t>λ</a:t>
            </a:r>
            <a:r>
              <a:rPr sz="1300" b="0" i="0" baseline="-25000" dirty="0" err="1">
                <a:solidFill>
                  <a:srgbClr val="292929"/>
                </a:solidFill>
              </a:rPr>
              <a:t>T</a:t>
            </a:r>
            <a:r>
              <a:rPr sz="1300" b="0" i="0" dirty="0">
                <a:solidFill>
                  <a:srgbClr val="292929"/>
                </a:solidFill>
              </a:rPr>
              <a:t> = </a:t>
            </a:r>
            <a:r>
              <a:rPr sz="1300" b="0" i="0" dirty="0" err="1">
                <a:solidFill>
                  <a:srgbClr val="292929"/>
                </a:solidFill>
              </a:rPr>
              <a:t>λ</a:t>
            </a:r>
            <a:r>
              <a:rPr sz="1300" b="0" i="0" baseline="-25000" dirty="0" err="1">
                <a:solidFill>
                  <a:srgbClr val="292929"/>
                </a:solidFill>
              </a:rPr>
              <a:t>c</a:t>
            </a:r>
            <a:r>
              <a:rPr sz="1300" b="0" i="0" dirty="0">
                <a:solidFill>
                  <a:srgbClr val="292929"/>
                </a:solidFill>
              </a:rPr>
              <a:t> = 1, </a:t>
            </a:r>
            <a:r>
              <a:rPr sz="1300" b="0" i="0" dirty="0" err="1">
                <a:solidFill>
                  <a:srgbClr val="292929"/>
                </a:solidFill>
              </a:rPr>
              <a:t>веса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плавно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растут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первые</a:t>
            </a:r>
            <a:r>
              <a:rPr sz="1300" b="0" i="0" dirty="0">
                <a:solidFill>
                  <a:srgbClr val="292929"/>
                </a:solidFill>
              </a:rPr>
              <a:t> 20% </a:t>
            </a:r>
            <a:r>
              <a:rPr sz="1300" b="0" i="0" dirty="0" err="1">
                <a:solidFill>
                  <a:srgbClr val="292929"/>
                </a:solidFill>
              </a:rPr>
              <a:t>шагов</a:t>
            </a:r>
            <a:endParaRPr sz="1300" b="0" i="0" dirty="0">
              <a:solidFill>
                <a:srgbClr val="292929"/>
              </a:solidFill>
            </a:endParaRPr>
          </a:p>
          <a:p>
            <a:pPr marL="171450" indent="-171450" algn="l">
              <a:spcAft>
                <a:spcPts val="600"/>
              </a:spcAft>
              <a:buChar char="•"/>
            </a:pPr>
            <a:r>
              <a:rPr sz="1300" b="0" i="0" dirty="0" err="1">
                <a:solidFill>
                  <a:srgbClr val="292929"/>
                </a:solidFill>
              </a:rPr>
              <a:t>Старт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с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той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же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нормировки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и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разбиения</a:t>
            </a:r>
            <a:r>
              <a:rPr sz="1300" b="0" i="0" dirty="0">
                <a:solidFill>
                  <a:srgbClr val="292929"/>
                </a:solidFill>
              </a:rPr>
              <a:t>, </a:t>
            </a:r>
            <a:r>
              <a:rPr sz="1300" b="0" i="0" dirty="0" err="1">
                <a:solidFill>
                  <a:srgbClr val="292929"/>
                </a:solidFill>
              </a:rPr>
              <a:t>что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у</a:t>
            </a:r>
            <a:r>
              <a:rPr sz="1300" b="0" i="0" dirty="0">
                <a:solidFill>
                  <a:srgbClr val="292929"/>
                </a:solidFill>
              </a:rPr>
              <a:t> Vanilla</a:t>
            </a:r>
          </a:p>
        </p:txBody>
      </p:sp>
    </p:spTree>
    <p:extLst>
      <p:ext uri="{BB962C8B-B14F-4D97-AF65-F5344CB8AC3E}">
        <p14:creationId xmlns:p14="http://schemas.microsoft.com/office/powerpoint/2010/main" val="847670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3CE82FE-B07B-4C99-897F-450E294184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910267-B9DA-497E-BE13-A428DD45BE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added-content">
            <a:extLst>
              <a:ext uri="{FF2B5EF4-FFF2-40B4-BE49-F238E27FC236}">
                <a16:creationId xmlns:a16="http://schemas.microsoft.com/office/drawing/2014/main" id="{F4B07FDC-8E44-4478-9090-808C1B9C20A6}"/>
              </a:ext>
            </a:extLst>
          </p:cNvPr>
          <p:cNvSpPr>
            <a:spLocks noGrp="1"/>
          </p:cNvSpPr>
          <p:nvPr/>
        </p:nvSpPr>
        <p:spPr>
          <a:xfrm>
            <a:off x="762000" y="571500"/>
            <a:ext cx="752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292929"/>
                </a:solidFill>
              </a:defRPr>
            </a:defPPr>
            <a:lvl1pPr>
              <a:buNone/>
              <a:defRPr sz="2550" b="1">
                <a:solidFill>
                  <a:srgbClr val="292929"/>
                </a:solidFill>
              </a:defRPr>
            </a:lvl1pPr>
            <a:lvl2pPr>
              <a:buNone/>
              <a:defRPr sz="2550" b="1">
                <a:solidFill>
                  <a:srgbClr val="292929"/>
                </a:solidFill>
              </a:defRPr>
            </a:lvl2pPr>
            <a:lvl3pPr>
              <a:buNone/>
              <a:defRPr sz="2550" b="1">
                <a:solidFill>
                  <a:srgbClr val="292929"/>
                </a:solidFill>
              </a:defRPr>
            </a:lvl3pPr>
            <a:lvl4pPr>
              <a:buNone/>
              <a:defRPr sz="2550" b="1">
                <a:solidFill>
                  <a:srgbClr val="292929"/>
                </a:solidFill>
              </a:defRPr>
            </a:lvl4pPr>
            <a:lvl5pPr>
              <a:buNone/>
              <a:defRPr sz="2550" b="1">
                <a:solidFill>
                  <a:srgbClr val="292929"/>
                </a:solidFill>
              </a:defRPr>
            </a:lvl5pPr>
            <a:lvl6pPr>
              <a:buNone/>
              <a:defRPr sz="2550" b="1">
                <a:solidFill>
                  <a:srgbClr val="292929"/>
                </a:solidFill>
              </a:defRPr>
            </a:lvl6pPr>
            <a:lvl7pPr>
              <a:buNone/>
              <a:defRPr sz="2550" b="1">
                <a:solidFill>
                  <a:srgbClr val="292929"/>
                </a:solidFill>
              </a:defRPr>
            </a:lvl7pPr>
            <a:lvl8pPr>
              <a:buNone/>
              <a:defRPr sz="2550" b="1">
                <a:solidFill>
                  <a:srgbClr val="292929"/>
                </a:solidFill>
              </a:defRPr>
            </a:lvl8pPr>
            <a:lvl9pPr>
              <a:buNone/>
              <a:defRPr sz="255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550" b="1">
                <a:solidFill>
                  <a:srgbClr val="292929"/>
                </a:solidFill>
              </a:defRPr>
            </a:pPr>
            <a:r>
              <a:rPr sz="2550" b="1" dirty="0">
                <a:solidFill>
                  <a:srgbClr val="292929"/>
                </a:solidFill>
              </a:rPr>
              <a:t>PINN: </a:t>
            </a:r>
            <a:r>
              <a:rPr sz="2550" b="1" dirty="0" err="1">
                <a:solidFill>
                  <a:srgbClr val="292929"/>
                </a:solidFill>
              </a:rPr>
              <a:t>динамика</a:t>
            </a:r>
            <a:r>
              <a:rPr sz="2550" b="1" dirty="0">
                <a:solidFill>
                  <a:srgbClr val="292929"/>
                </a:solidFill>
              </a:rPr>
              <a:t> </a:t>
            </a:r>
            <a:r>
              <a:rPr sz="2550" b="1" dirty="0" err="1">
                <a:solidFill>
                  <a:srgbClr val="292929"/>
                </a:solidFill>
              </a:rPr>
              <a:t>обучения</a:t>
            </a:r>
            <a:endParaRPr sz="2550" b="1" dirty="0">
              <a:solidFill>
                <a:srgbClr val="292929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F36B64-D691-4FFB-B75D-C0CB825612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" y="1542927"/>
            <a:ext cx="7667625" cy="2152897"/>
          </a:xfrm>
          <a:prstGeom prst="rect">
            <a:avLst/>
          </a:prstGeom>
        </p:spPr>
      </p:pic>
      <p:sp>
        <p:nvSpPr>
          <p:cNvPr id="6" name="added-content">
            <a:extLst>
              <a:ext uri="{FF2B5EF4-FFF2-40B4-BE49-F238E27FC236}">
                <a16:creationId xmlns:a16="http://schemas.microsoft.com/office/drawing/2014/main" id="{C9A53BB5-BA38-442F-922D-81669DE3650C}"/>
              </a:ext>
            </a:extLst>
          </p:cNvPr>
          <p:cNvSpPr>
            <a:spLocks noGrp="1"/>
          </p:cNvSpPr>
          <p:nvPr/>
        </p:nvSpPr>
        <p:spPr>
          <a:xfrm>
            <a:off x="857250" y="3952875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292929"/>
                </a:solidFill>
              </a:defRPr>
            </a:defPPr>
            <a:lvl1pPr>
              <a:buNone/>
              <a:defRPr sz="1875" b="1">
                <a:solidFill>
                  <a:srgbClr val="292929"/>
                </a:solidFill>
              </a:defRPr>
            </a:lvl1pPr>
            <a:lvl2pPr>
              <a:buNone/>
              <a:defRPr sz="1875" b="1">
                <a:solidFill>
                  <a:srgbClr val="292929"/>
                </a:solidFill>
              </a:defRPr>
            </a:lvl2pPr>
            <a:lvl3pPr>
              <a:buNone/>
              <a:defRPr sz="1875" b="1">
                <a:solidFill>
                  <a:srgbClr val="292929"/>
                </a:solidFill>
              </a:defRPr>
            </a:lvl3pPr>
            <a:lvl4pPr>
              <a:buNone/>
              <a:defRPr sz="1875" b="1">
                <a:solidFill>
                  <a:srgbClr val="292929"/>
                </a:solidFill>
              </a:defRPr>
            </a:lvl4pPr>
            <a:lvl5pPr>
              <a:buNone/>
              <a:defRPr sz="1875" b="1">
                <a:solidFill>
                  <a:srgbClr val="292929"/>
                </a:solidFill>
              </a:defRPr>
            </a:lvl5pPr>
            <a:lvl6pPr>
              <a:buNone/>
              <a:defRPr sz="1875" b="1">
                <a:solidFill>
                  <a:srgbClr val="292929"/>
                </a:solidFill>
              </a:defRPr>
            </a:lvl6pPr>
            <a:lvl7pPr>
              <a:buNone/>
              <a:defRPr sz="1875" b="1">
                <a:solidFill>
                  <a:srgbClr val="292929"/>
                </a:solidFill>
              </a:defRPr>
            </a:lvl7pPr>
            <a:lvl8pPr>
              <a:buNone/>
              <a:defRPr sz="1875" b="1">
                <a:solidFill>
                  <a:srgbClr val="292929"/>
                </a:solidFill>
              </a:defRPr>
            </a:lvl8pPr>
            <a:lvl9pPr>
              <a:buNone/>
              <a:defRPr sz="1875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875" b="1">
                <a:solidFill>
                  <a:srgbClr val="292929"/>
                </a:solidFill>
              </a:defRPr>
            </a:pPr>
            <a:r>
              <a:rPr sz="1875" b="1">
                <a:solidFill>
                  <a:srgbClr val="292929"/>
                </a:solidFill>
              </a:rPr>
              <a:t>30 000 шагов · 5,5 мин · лучший val MSE = 2,973·10⁻⁶</a:t>
            </a:r>
          </a:p>
        </p:txBody>
      </p:sp>
      <p:sp>
        <p:nvSpPr>
          <p:cNvPr id="7" name="added-content">
            <a:extLst>
              <a:ext uri="{FF2B5EF4-FFF2-40B4-BE49-F238E27FC236}">
                <a16:creationId xmlns:a16="http://schemas.microsoft.com/office/drawing/2014/main" id="{DD611BE5-690E-4B74-8B4A-B1EEB69791B7}"/>
              </a:ext>
            </a:extLst>
          </p:cNvPr>
          <p:cNvSpPr>
            <a:spLocks noGrp="1"/>
          </p:cNvSpPr>
          <p:nvPr/>
        </p:nvSpPr>
        <p:spPr>
          <a:xfrm>
            <a:off x="809625" y="4257675"/>
            <a:ext cx="752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sz="1350" b="0" dirty="0" err="1">
                <a:solidFill>
                  <a:srgbClr val="292929"/>
                </a:solidFill>
              </a:rPr>
              <a:t>Слева</a:t>
            </a:r>
            <a:r>
              <a:rPr sz="1350" b="0" dirty="0">
                <a:solidFill>
                  <a:srgbClr val="292929"/>
                </a:solidFill>
              </a:rPr>
              <a:t> </a:t>
            </a:r>
            <a:r>
              <a:rPr lang="ru-RU" sz="1350" b="0" dirty="0">
                <a:solidFill>
                  <a:srgbClr val="292929"/>
                </a:solidFill>
              </a:rPr>
              <a:t>-</a:t>
            </a:r>
            <a:r>
              <a:rPr sz="1350" b="0" dirty="0">
                <a:solidFill>
                  <a:srgbClr val="292929"/>
                </a:solidFill>
              </a:rPr>
              <a:t> </a:t>
            </a:r>
            <a:r>
              <a:rPr sz="1350" b="0" dirty="0" err="1">
                <a:solidFill>
                  <a:srgbClr val="292929"/>
                </a:solidFill>
              </a:rPr>
              <a:t>ошибка</a:t>
            </a:r>
            <a:r>
              <a:rPr sz="1350" b="0" dirty="0">
                <a:solidFill>
                  <a:srgbClr val="292929"/>
                </a:solidFill>
              </a:rPr>
              <a:t> </a:t>
            </a:r>
            <a:r>
              <a:rPr sz="1350" b="0" dirty="0" err="1">
                <a:solidFill>
                  <a:srgbClr val="292929"/>
                </a:solidFill>
              </a:rPr>
              <a:t>на</a:t>
            </a:r>
            <a:r>
              <a:rPr sz="1350" b="0" dirty="0">
                <a:solidFill>
                  <a:srgbClr val="292929"/>
                </a:solidFill>
              </a:rPr>
              <a:t> validation, </a:t>
            </a:r>
            <a:r>
              <a:rPr sz="1350" b="0" dirty="0" err="1">
                <a:solidFill>
                  <a:srgbClr val="292929"/>
                </a:solidFill>
              </a:rPr>
              <a:t>справа</a:t>
            </a:r>
            <a:r>
              <a:rPr sz="1350" b="0" dirty="0">
                <a:solidFill>
                  <a:srgbClr val="292929"/>
                </a:solidFill>
              </a:rPr>
              <a:t> </a:t>
            </a:r>
            <a:r>
              <a:rPr lang="ru-RU" dirty="0"/>
              <a:t>-</a:t>
            </a:r>
            <a:r>
              <a:rPr sz="1350" b="0" dirty="0">
                <a:solidFill>
                  <a:srgbClr val="292929"/>
                </a:solidFill>
              </a:rPr>
              <a:t> </a:t>
            </a:r>
            <a:r>
              <a:rPr sz="1350" b="0" dirty="0" err="1">
                <a:solidFill>
                  <a:srgbClr val="292929"/>
                </a:solidFill>
              </a:rPr>
              <a:t>взвешенный</a:t>
            </a:r>
            <a:r>
              <a:rPr sz="1350" b="0" dirty="0">
                <a:solidFill>
                  <a:srgbClr val="292929"/>
                </a:solidFill>
              </a:rPr>
              <a:t> </a:t>
            </a:r>
            <a:r>
              <a:rPr sz="1350" b="0" dirty="0" err="1">
                <a:solidFill>
                  <a:srgbClr val="292929"/>
                </a:solidFill>
              </a:rPr>
              <a:t>физический</a:t>
            </a:r>
            <a:r>
              <a:rPr sz="1350" b="0" dirty="0">
                <a:solidFill>
                  <a:srgbClr val="292929"/>
                </a:solidFill>
              </a:rPr>
              <a:t> </a:t>
            </a:r>
            <a:r>
              <a:rPr sz="1350" b="0" dirty="0" err="1">
                <a:solidFill>
                  <a:srgbClr val="292929"/>
                </a:solidFill>
              </a:rPr>
              <a:t>штраф</a:t>
            </a:r>
            <a:r>
              <a:rPr sz="1350" b="0" dirty="0">
                <a:solidFill>
                  <a:srgbClr val="292929"/>
                </a:solidFill>
              </a:rPr>
              <a:t>. </a:t>
            </a:r>
            <a:r>
              <a:rPr sz="1350" b="0" dirty="0" err="1">
                <a:solidFill>
                  <a:srgbClr val="292929"/>
                </a:solidFill>
              </a:rPr>
              <a:t>Для</a:t>
            </a:r>
            <a:r>
              <a:rPr sz="1350" b="0" dirty="0">
                <a:solidFill>
                  <a:srgbClr val="292929"/>
                </a:solidFill>
              </a:rPr>
              <a:t> </a:t>
            </a:r>
            <a:r>
              <a:rPr sz="1350" b="0" dirty="0" err="1">
                <a:solidFill>
                  <a:srgbClr val="292929"/>
                </a:solidFill>
              </a:rPr>
              <a:t>обоих</a:t>
            </a:r>
            <a:r>
              <a:rPr sz="1350" b="0" dirty="0">
                <a:solidFill>
                  <a:srgbClr val="292929"/>
                </a:solidFill>
              </a:rPr>
              <a:t> </a:t>
            </a:r>
            <a:r>
              <a:rPr sz="1350" b="0" dirty="0" err="1">
                <a:solidFill>
                  <a:srgbClr val="292929"/>
                </a:solidFill>
              </a:rPr>
              <a:t>графиков</a:t>
            </a:r>
            <a:r>
              <a:rPr sz="1350" b="0" dirty="0">
                <a:solidFill>
                  <a:srgbClr val="292929"/>
                </a:solidFill>
              </a:rPr>
              <a:t> </a:t>
            </a:r>
            <a:r>
              <a:rPr sz="1350" b="0" dirty="0" err="1">
                <a:solidFill>
                  <a:srgbClr val="292929"/>
                </a:solidFill>
              </a:rPr>
              <a:t>используются</a:t>
            </a:r>
            <a:r>
              <a:rPr sz="1350" b="0" dirty="0">
                <a:solidFill>
                  <a:srgbClr val="292929"/>
                </a:solidFill>
              </a:rPr>
              <a:t> </a:t>
            </a:r>
            <a:r>
              <a:rPr sz="1350" b="0" dirty="0" err="1">
                <a:solidFill>
                  <a:srgbClr val="292929"/>
                </a:solidFill>
              </a:rPr>
              <a:t>нелинейные</a:t>
            </a:r>
            <a:r>
              <a:rPr sz="1350" b="0" dirty="0">
                <a:solidFill>
                  <a:srgbClr val="292929"/>
                </a:solidFill>
              </a:rPr>
              <a:t> </a:t>
            </a:r>
            <a:r>
              <a:rPr sz="1350" b="0" dirty="0" err="1">
                <a:solidFill>
                  <a:srgbClr val="292929"/>
                </a:solidFill>
              </a:rPr>
              <a:t>шкалы</a:t>
            </a:r>
            <a:r>
              <a:rPr sz="1350" b="0" dirty="0">
                <a:solidFill>
                  <a:srgbClr val="292929"/>
                </a:solidFill>
              </a:rPr>
              <a:t>.</a:t>
            </a:r>
          </a:p>
        </p:txBody>
      </p:sp>
      <p:sp>
        <p:nvSpPr>
          <p:cNvPr id="8" name="page-number">
            <a:extLst>
              <a:ext uri="{FF2B5EF4-FFF2-40B4-BE49-F238E27FC236}">
                <a16:creationId xmlns:a16="http://schemas.microsoft.com/office/drawing/2014/main" id="{9B7B29E5-FADE-4AAB-A404-C10E3680D803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lang="ru-RU" dirty="0"/>
              <a:t>18</a:t>
            </a:r>
            <a:endParaRPr sz="1350" b="0" dirty="0">
              <a:solidFill>
                <a:srgbClr val="2929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430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F8C0C-2DEA-1C7D-A1DD-F15B4957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810" y="333929"/>
            <a:ext cx="7704000" cy="1159717"/>
          </a:xfrm>
        </p:spPr>
        <p:txBody>
          <a:bodyPr/>
          <a:lstStyle/>
          <a:p>
            <a:pPr algn="l"/>
            <a:r>
              <a:rPr lang="en" sz="2400" dirty="0">
                <a:solidFill>
                  <a:srgbClr val="292929"/>
                </a:solidFill>
                <a:latin typeface="+mn-lt"/>
              </a:rPr>
              <a:t>PINN: </a:t>
            </a:r>
            <a:r>
              <a:rPr lang="ru-RU" sz="2400" dirty="0">
                <a:solidFill>
                  <a:srgbClr val="292929"/>
                </a:solidFill>
                <a:latin typeface="+mn-lt"/>
              </a:rPr>
              <a:t>карта и сечения скорости звука без учета свойств термодинамики</a:t>
            </a:r>
            <a:br>
              <a:rPr lang="ru-RU" sz="2400" dirty="0">
                <a:solidFill>
                  <a:srgbClr val="292929"/>
                </a:solidFill>
                <a:latin typeface="+mn-lt"/>
              </a:rPr>
            </a:br>
            <a:endParaRPr lang="ru-RU" sz="2400" dirty="0">
              <a:latin typeface="+mn-l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3FB004-2F05-16F5-2E35-EBEAE4AE92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605B66ED-AD2E-2B98-580D-D632624AD6DF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8C0CCDBE-EA9A-2F8E-FB35-310042D73E5A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C03B493A-7595-725C-C9E7-3B3CFEA30633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246164-20B8-5DA9-C890-250FFE73E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10" y="1493646"/>
            <a:ext cx="7772400" cy="2686600"/>
          </a:xfrm>
          <a:prstGeom prst="rect">
            <a:avLst/>
          </a:prstGeom>
        </p:spPr>
      </p:pic>
      <p:sp>
        <p:nvSpPr>
          <p:cNvPr id="8" name="page-number">
            <a:extLst>
              <a:ext uri="{FF2B5EF4-FFF2-40B4-BE49-F238E27FC236}">
                <a16:creationId xmlns:a16="http://schemas.microsoft.com/office/drawing/2014/main" id="{D309F964-9506-903F-24FD-9B897741A00E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lang="ru-RU" dirty="0"/>
              <a:t>19</a:t>
            </a:r>
            <a:endParaRPr sz="1350" b="0" dirty="0">
              <a:solidFill>
                <a:srgbClr val="2929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918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94360FE-17A1-440A-A601-B10E2DA3A5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84B278-45D6-4E93-AF8B-2436C1D0FE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added-content">
            <a:extLst>
              <a:ext uri="{FF2B5EF4-FFF2-40B4-BE49-F238E27FC236}">
                <a16:creationId xmlns:a16="http://schemas.microsoft.com/office/drawing/2014/main" id="{FB8982A3-97F8-4CEB-AFB2-28EEBB182A23}"/>
              </a:ext>
            </a:extLst>
          </p:cNvPr>
          <p:cNvSpPr>
            <a:spLocks noGrp="1"/>
          </p:cNvSpPr>
          <p:nvPr/>
        </p:nvSpPr>
        <p:spPr>
          <a:xfrm>
            <a:off x="762000" y="438149"/>
            <a:ext cx="752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292929"/>
                </a:solidFill>
              </a:defRPr>
            </a:defPPr>
            <a:lvl1pPr>
              <a:buNone/>
              <a:defRPr sz="2550" b="1">
                <a:solidFill>
                  <a:srgbClr val="292929"/>
                </a:solidFill>
              </a:defRPr>
            </a:lvl1pPr>
            <a:lvl2pPr>
              <a:buNone/>
              <a:defRPr sz="2550" b="1">
                <a:solidFill>
                  <a:srgbClr val="292929"/>
                </a:solidFill>
              </a:defRPr>
            </a:lvl2pPr>
            <a:lvl3pPr>
              <a:buNone/>
              <a:defRPr sz="2550" b="1">
                <a:solidFill>
                  <a:srgbClr val="292929"/>
                </a:solidFill>
              </a:defRPr>
            </a:lvl3pPr>
            <a:lvl4pPr>
              <a:buNone/>
              <a:defRPr sz="2550" b="1">
                <a:solidFill>
                  <a:srgbClr val="292929"/>
                </a:solidFill>
              </a:defRPr>
            </a:lvl4pPr>
            <a:lvl5pPr>
              <a:buNone/>
              <a:defRPr sz="2550" b="1">
                <a:solidFill>
                  <a:srgbClr val="292929"/>
                </a:solidFill>
              </a:defRPr>
            </a:lvl5pPr>
            <a:lvl6pPr>
              <a:buNone/>
              <a:defRPr sz="2550" b="1">
                <a:solidFill>
                  <a:srgbClr val="292929"/>
                </a:solidFill>
              </a:defRPr>
            </a:lvl6pPr>
            <a:lvl7pPr>
              <a:buNone/>
              <a:defRPr sz="2550" b="1">
                <a:solidFill>
                  <a:srgbClr val="292929"/>
                </a:solidFill>
              </a:defRPr>
            </a:lvl7pPr>
            <a:lvl8pPr>
              <a:buNone/>
              <a:defRPr sz="2550" b="1">
                <a:solidFill>
                  <a:srgbClr val="292929"/>
                </a:solidFill>
              </a:defRPr>
            </a:lvl8pPr>
            <a:lvl9pPr>
              <a:buNone/>
              <a:defRPr sz="255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550" b="1">
                <a:solidFill>
                  <a:srgbClr val="292929"/>
                </a:solidFill>
              </a:defRPr>
            </a:pPr>
            <a:r>
              <a:rPr sz="2400" b="1" dirty="0">
                <a:solidFill>
                  <a:srgbClr val="292929"/>
                </a:solidFill>
              </a:rPr>
              <a:t>PINN: </a:t>
            </a:r>
            <a:r>
              <a:rPr sz="2400" b="1" dirty="0" err="1">
                <a:solidFill>
                  <a:srgbClr val="292929"/>
                </a:solidFill>
              </a:rPr>
              <a:t>карта</a:t>
            </a:r>
            <a:r>
              <a:rPr sz="2400" b="1" dirty="0">
                <a:solidFill>
                  <a:srgbClr val="292929"/>
                </a:solidFill>
              </a:rPr>
              <a:t> </a:t>
            </a:r>
            <a:r>
              <a:rPr sz="2400" b="1" dirty="0" err="1">
                <a:solidFill>
                  <a:srgbClr val="292929"/>
                </a:solidFill>
              </a:rPr>
              <a:t>и</a:t>
            </a:r>
            <a:r>
              <a:rPr sz="2400" b="1" dirty="0">
                <a:solidFill>
                  <a:srgbClr val="292929"/>
                </a:solidFill>
              </a:rPr>
              <a:t> </a:t>
            </a:r>
            <a:r>
              <a:rPr sz="2400" b="1" dirty="0" err="1">
                <a:solidFill>
                  <a:srgbClr val="292929"/>
                </a:solidFill>
              </a:rPr>
              <a:t>сечения</a:t>
            </a:r>
            <a:r>
              <a:rPr sz="2400" b="1" dirty="0">
                <a:solidFill>
                  <a:srgbClr val="292929"/>
                </a:solidFill>
              </a:rPr>
              <a:t> </a:t>
            </a:r>
            <a:r>
              <a:rPr sz="2400" b="1" dirty="0" err="1">
                <a:solidFill>
                  <a:srgbClr val="292929"/>
                </a:solidFill>
              </a:rPr>
              <a:t>скорости</a:t>
            </a:r>
            <a:r>
              <a:rPr sz="2400" b="1" dirty="0">
                <a:solidFill>
                  <a:srgbClr val="292929"/>
                </a:solidFill>
              </a:rPr>
              <a:t> </a:t>
            </a:r>
            <a:r>
              <a:rPr sz="2400" b="1" dirty="0" err="1">
                <a:solidFill>
                  <a:srgbClr val="292929"/>
                </a:solidFill>
              </a:rPr>
              <a:t>звука</a:t>
            </a:r>
            <a:r>
              <a:rPr lang="ru-RU" sz="2400" b="1" dirty="0">
                <a:solidFill>
                  <a:srgbClr val="292929"/>
                </a:solidFill>
              </a:rPr>
              <a:t> с учетом свойств термодинамики</a:t>
            </a:r>
            <a:endParaRPr sz="2400" b="1" dirty="0">
              <a:solidFill>
                <a:srgbClr val="292929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3646EB-00D5-4343-89DB-89601D0B15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5363" y="1269674"/>
            <a:ext cx="7667625" cy="2699401"/>
          </a:xfrm>
          <a:prstGeom prst="rect">
            <a:avLst/>
          </a:prstGeom>
        </p:spPr>
      </p:pic>
      <p:sp>
        <p:nvSpPr>
          <p:cNvPr id="6" name="added-content">
            <a:extLst>
              <a:ext uri="{FF2B5EF4-FFF2-40B4-BE49-F238E27FC236}">
                <a16:creationId xmlns:a16="http://schemas.microsoft.com/office/drawing/2014/main" id="{A3974B49-E681-4A58-8AD5-41C269D8A45F}"/>
              </a:ext>
            </a:extLst>
          </p:cNvPr>
          <p:cNvSpPr>
            <a:spLocks noGrp="1"/>
          </p:cNvSpPr>
          <p:nvPr/>
        </p:nvSpPr>
        <p:spPr>
          <a:xfrm>
            <a:off x="809625" y="4257675"/>
            <a:ext cx="752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92929"/>
                </a:solidFill>
              </a:defRPr>
            </a:defPPr>
            <a:lvl1pPr>
              <a:buNone/>
              <a:defRPr sz="1425" b="0">
                <a:solidFill>
                  <a:srgbClr val="292929"/>
                </a:solidFill>
              </a:defRPr>
            </a:lvl1pPr>
            <a:lvl2pPr>
              <a:buNone/>
              <a:defRPr sz="1425" b="0">
                <a:solidFill>
                  <a:srgbClr val="292929"/>
                </a:solidFill>
              </a:defRPr>
            </a:lvl2pPr>
            <a:lvl3pPr>
              <a:buNone/>
              <a:defRPr sz="1425" b="0">
                <a:solidFill>
                  <a:srgbClr val="292929"/>
                </a:solidFill>
              </a:defRPr>
            </a:lvl3pPr>
            <a:lvl4pPr>
              <a:buNone/>
              <a:defRPr sz="1425" b="0">
                <a:solidFill>
                  <a:srgbClr val="292929"/>
                </a:solidFill>
              </a:defRPr>
            </a:lvl4pPr>
            <a:lvl5pPr>
              <a:buNone/>
              <a:defRPr sz="1425" b="0">
                <a:solidFill>
                  <a:srgbClr val="292929"/>
                </a:solidFill>
              </a:defRPr>
            </a:lvl5pPr>
            <a:lvl6pPr>
              <a:buNone/>
              <a:defRPr sz="1425" b="0">
                <a:solidFill>
                  <a:srgbClr val="292929"/>
                </a:solidFill>
              </a:defRPr>
            </a:lvl6pPr>
            <a:lvl7pPr>
              <a:buNone/>
              <a:defRPr sz="1425" b="0">
                <a:solidFill>
                  <a:srgbClr val="292929"/>
                </a:solidFill>
              </a:defRPr>
            </a:lvl7pPr>
            <a:lvl8pPr>
              <a:buNone/>
              <a:defRPr sz="1425" b="0">
                <a:solidFill>
                  <a:srgbClr val="292929"/>
                </a:solidFill>
              </a:defRPr>
            </a:lvl8pPr>
            <a:lvl9pPr>
              <a:buNone/>
              <a:defRPr sz="1425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425" b="0">
                <a:solidFill>
                  <a:srgbClr val="292929"/>
                </a:solidFill>
              </a:defRPr>
            </a:pPr>
            <a:r>
              <a:rPr sz="1425" b="0" dirty="0">
                <a:solidFill>
                  <a:srgbClr val="292929"/>
                </a:solidFill>
              </a:rPr>
              <a:t>100 000 </a:t>
            </a:r>
            <a:r>
              <a:rPr sz="1425" b="0" dirty="0" err="1">
                <a:solidFill>
                  <a:srgbClr val="292929"/>
                </a:solidFill>
              </a:rPr>
              <a:t>случайных</a:t>
            </a:r>
            <a:r>
              <a:rPr sz="1425" b="0" dirty="0">
                <a:solidFill>
                  <a:srgbClr val="292929"/>
                </a:solidFill>
              </a:rPr>
              <a:t> </a:t>
            </a:r>
            <a:r>
              <a:rPr sz="1425" b="0" dirty="0" err="1">
                <a:solidFill>
                  <a:srgbClr val="292929"/>
                </a:solidFill>
              </a:rPr>
              <a:t>точек</a:t>
            </a:r>
            <a:r>
              <a:rPr sz="1425" b="0" dirty="0">
                <a:solidFill>
                  <a:srgbClr val="292929"/>
                </a:solidFill>
              </a:rPr>
              <a:t> </a:t>
            </a:r>
            <a:r>
              <a:rPr sz="1425" b="0" dirty="0" err="1">
                <a:solidFill>
                  <a:srgbClr val="292929"/>
                </a:solidFill>
              </a:rPr>
              <a:t>домена</a:t>
            </a:r>
            <a:r>
              <a:rPr sz="1425" b="0" dirty="0">
                <a:solidFill>
                  <a:srgbClr val="292929"/>
                </a:solidFill>
              </a:rPr>
              <a:t>: </a:t>
            </a:r>
            <a:r>
              <a:rPr sz="1425" b="0" dirty="0" err="1">
                <a:solidFill>
                  <a:srgbClr val="292929"/>
                </a:solidFill>
              </a:rPr>
              <a:t>нарушений</a:t>
            </a:r>
            <a:r>
              <a:rPr sz="1425" b="0" dirty="0">
                <a:solidFill>
                  <a:srgbClr val="292929"/>
                </a:solidFill>
              </a:rPr>
              <a:t> 0 &lt; cₛ &lt; c </a:t>
            </a:r>
            <a:r>
              <a:rPr sz="1425" b="0" dirty="0" err="1">
                <a:solidFill>
                  <a:srgbClr val="292929"/>
                </a:solidFill>
              </a:rPr>
              <a:t>у</a:t>
            </a:r>
            <a:r>
              <a:rPr sz="1425" b="0" dirty="0">
                <a:solidFill>
                  <a:srgbClr val="292929"/>
                </a:solidFill>
              </a:rPr>
              <a:t> PINN </a:t>
            </a:r>
            <a:r>
              <a:rPr lang="ru-RU" dirty="0"/>
              <a:t>- </a:t>
            </a:r>
            <a:r>
              <a:rPr sz="1425" b="0" dirty="0">
                <a:solidFill>
                  <a:srgbClr val="292929"/>
                </a:solidFill>
              </a:rPr>
              <a:t>0%, </a:t>
            </a:r>
            <a:r>
              <a:rPr sz="1425" b="0" dirty="0" err="1">
                <a:solidFill>
                  <a:srgbClr val="292929"/>
                </a:solidFill>
              </a:rPr>
              <a:t>у</a:t>
            </a:r>
            <a:r>
              <a:rPr sz="1425" b="0" dirty="0">
                <a:solidFill>
                  <a:srgbClr val="292929"/>
                </a:solidFill>
              </a:rPr>
              <a:t> </a:t>
            </a:r>
            <a:r>
              <a:rPr sz="1425" b="0" dirty="0" err="1">
                <a:solidFill>
                  <a:srgbClr val="292929"/>
                </a:solidFill>
              </a:rPr>
              <a:t>полной</a:t>
            </a:r>
            <a:r>
              <a:rPr sz="1425" b="0" dirty="0">
                <a:solidFill>
                  <a:srgbClr val="292929"/>
                </a:solidFill>
              </a:rPr>
              <a:t> </a:t>
            </a:r>
            <a:r>
              <a:rPr sz="1425" b="0" dirty="0" err="1">
                <a:solidFill>
                  <a:srgbClr val="292929"/>
                </a:solidFill>
              </a:rPr>
              <a:t>таблицы</a:t>
            </a:r>
            <a:r>
              <a:rPr sz="1425" b="0" dirty="0">
                <a:solidFill>
                  <a:srgbClr val="292929"/>
                </a:solidFill>
              </a:rPr>
              <a:t> </a:t>
            </a:r>
            <a:r>
              <a:rPr sz="1425" b="0" dirty="0" err="1">
                <a:solidFill>
                  <a:srgbClr val="292929"/>
                </a:solidFill>
              </a:rPr>
              <a:t>через</a:t>
            </a:r>
            <a:r>
              <a:rPr sz="1425" b="0" dirty="0">
                <a:solidFill>
                  <a:srgbClr val="292929"/>
                </a:solidFill>
              </a:rPr>
              <a:t> baseline </a:t>
            </a:r>
            <a:r>
              <a:rPr lang="ru-RU" sz="1425" b="0" dirty="0">
                <a:solidFill>
                  <a:srgbClr val="292929"/>
                </a:solidFill>
              </a:rPr>
              <a:t>-</a:t>
            </a:r>
            <a:r>
              <a:rPr sz="1425" b="0" dirty="0">
                <a:solidFill>
                  <a:srgbClr val="292929"/>
                </a:solidFill>
              </a:rPr>
              <a:t> 4,391%.</a:t>
            </a:r>
          </a:p>
        </p:txBody>
      </p:sp>
      <p:sp>
        <p:nvSpPr>
          <p:cNvPr id="7" name="page-number">
            <a:extLst>
              <a:ext uri="{FF2B5EF4-FFF2-40B4-BE49-F238E27FC236}">
                <a16:creationId xmlns:a16="http://schemas.microsoft.com/office/drawing/2014/main" id="{9B7B29E5-FADE-4AAB-A404-C10E3680D803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dirty="0"/>
              <a:t>2</a:t>
            </a:r>
            <a:r>
              <a:rPr lang="ru-RU" dirty="0"/>
              <a:t>0</a:t>
            </a:r>
            <a:endParaRPr sz="1350" b="0" dirty="0">
              <a:solidFill>
                <a:srgbClr val="2929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651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A4D5736-82D5-4E67-B1C4-7E791B3A09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3D8206-4A74-4C88-8806-ACA85AF879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page-number">
            <a:extLst>
              <a:ext uri="{FF2B5EF4-FFF2-40B4-BE49-F238E27FC236}">
                <a16:creationId xmlns:a16="http://schemas.microsoft.com/office/drawing/2014/main" id="{D8831215-6B9F-4C2C-8D42-09DFF5759B1F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sz="1350" b="0" dirty="0">
                <a:solidFill>
                  <a:srgbClr val="292929"/>
                </a:solidFill>
              </a:rPr>
              <a:t>2</a:t>
            </a:r>
            <a:r>
              <a:rPr lang="ru-RU" sz="1350" b="0" dirty="0">
                <a:solidFill>
                  <a:srgbClr val="292929"/>
                </a:solidFill>
              </a:rPr>
              <a:t>1</a:t>
            </a:r>
            <a:endParaRPr sz="1350" b="0" dirty="0">
              <a:solidFill>
                <a:srgbClr val="292929"/>
              </a:solidFill>
            </a:endParaRP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D3CF2AB8-34F3-4AAA-95F3-2E3DEEFD2F33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929"/>
                </a:solidFill>
              </a:defRPr>
            </a:defPPr>
            <a:lvl1pPr>
              <a:buNone/>
              <a:defRPr sz="2700" b="1">
                <a:solidFill>
                  <a:srgbClr val="292929"/>
                </a:solidFill>
              </a:defRPr>
            </a:lvl1pPr>
            <a:lvl2pPr>
              <a:buNone/>
              <a:defRPr sz="2700" b="1">
                <a:solidFill>
                  <a:srgbClr val="292929"/>
                </a:solidFill>
              </a:defRPr>
            </a:lvl2pPr>
            <a:lvl3pPr>
              <a:buNone/>
              <a:defRPr sz="2700" b="1">
                <a:solidFill>
                  <a:srgbClr val="292929"/>
                </a:solidFill>
              </a:defRPr>
            </a:lvl3pPr>
            <a:lvl4pPr>
              <a:buNone/>
              <a:defRPr sz="2700" b="1">
                <a:solidFill>
                  <a:srgbClr val="292929"/>
                </a:solidFill>
              </a:defRPr>
            </a:lvl4pPr>
            <a:lvl5pPr>
              <a:buNone/>
              <a:defRPr sz="2700" b="1">
                <a:solidFill>
                  <a:srgbClr val="292929"/>
                </a:solidFill>
              </a:defRPr>
            </a:lvl5pPr>
            <a:lvl6pPr>
              <a:buNone/>
              <a:defRPr sz="2700" b="1">
                <a:solidFill>
                  <a:srgbClr val="292929"/>
                </a:solidFill>
              </a:defRPr>
            </a:lvl6pPr>
            <a:lvl7pPr>
              <a:buNone/>
              <a:defRPr sz="2700" b="1">
                <a:solidFill>
                  <a:srgbClr val="292929"/>
                </a:solidFill>
              </a:defRPr>
            </a:lvl7pPr>
            <a:lvl8pPr>
              <a:buNone/>
              <a:defRPr sz="2700" b="1">
                <a:solidFill>
                  <a:srgbClr val="292929"/>
                </a:solidFill>
              </a:defRPr>
            </a:lvl8pPr>
            <a:lvl9pPr>
              <a:buNone/>
              <a:defRPr sz="27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700" b="1">
                <a:solidFill>
                  <a:srgbClr val="292929"/>
                </a:solidFill>
              </a:defRPr>
            </a:pPr>
            <a:r>
              <a:rPr sz="2700" b="1">
                <a:solidFill>
                  <a:srgbClr val="292929"/>
                </a:solidFill>
              </a:rPr>
              <a:t>Сжатие и скорость работы</a:t>
            </a:r>
          </a:p>
        </p:txBody>
      </p:sp>
      <p:sp>
        <p:nvSpPr>
          <p:cNvPr id="6" name="comp-card-1">
            <a:extLst>
              <a:ext uri="{FF2B5EF4-FFF2-40B4-BE49-F238E27FC236}">
                <a16:creationId xmlns:a16="http://schemas.microsoft.com/office/drawing/2014/main" id="{5DD50D6C-3787-4191-88F1-1282793A7FBD}"/>
              </a:ext>
            </a:extLst>
          </p:cNvPr>
          <p:cNvSpPr>
            <a:spLocks noGrp="1"/>
          </p:cNvSpPr>
          <p:nvPr/>
        </p:nvSpPr>
        <p:spPr>
          <a:xfrm>
            <a:off x="857250" y="1380000"/>
            <a:ext cx="2298000" cy="2200000"/>
          </a:xfrm>
          <a:prstGeom prst="roundRect">
            <a:avLst>
              <a:gd name="adj" fmla="val 6000"/>
            </a:avLst>
          </a:prstGeom>
          <a:solidFill>
            <a:srgbClr val="EEF3F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comp-text-1">
            <a:extLst>
              <a:ext uri="{FF2B5EF4-FFF2-40B4-BE49-F238E27FC236}">
                <a16:creationId xmlns:a16="http://schemas.microsoft.com/office/drawing/2014/main" id="{B85935B4-74A2-4716-BD25-0BA7AB49466A}"/>
              </a:ext>
            </a:extLst>
          </p:cNvPr>
          <p:cNvSpPr>
            <a:spLocks noGrp="1"/>
          </p:cNvSpPr>
          <p:nvPr/>
        </p:nvSpPr>
        <p:spPr>
          <a:xfrm>
            <a:off x="977250" y="1500000"/>
            <a:ext cx="2058000" cy="19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92929"/>
                </a:solidFill>
              </a:rPr>
              <a:t>float16</a:t>
            </a:r>
          </a:p>
          <a:p>
            <a:pPr algn="l">
              <a:spcAft>
                <a:spcPts val="600"/>
              </a:spcAft>
              <a:buNone/>
            </a:pPr>
            <a:r>
              <a:rPr sz="2400" b="1" i="0">
                <a:solidFill>
                  <a:srgbClr val="3D6375"/>
                </a:solidFill>
              </a:rPr>
              <a:t>0,383 МБ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92929"/>
                </a:solidFill>
              </a:rPr>
              <a:t>Вдвое меньше файл, точность та же: медиана ошибки P 0,231% против 0,226%, нарушений нет.</a:t>
            </a:r>
          </a:p>
        </p:txBody>
      </p:sp>
      <p:sp>
        <p:nvSpPr>
          <p:cNvPr id="8" name="comp-card-2">
            <a:extLst>
              <a:ext uri="{FF2B5EF4-FFF2-40B4-BE49-F238E27FC236}">
                <a16:creationId xmlns:a16="http://schemas.microsoft.com/office/drawing/2014/main" id="{2217F966-C90A-40BA-8B5C-9489F9B48447}"/>
              </a:ext>
            </a:extLst>
          </p:cNvPr>
          <p:cNvSpPr>
            <a:spLocks noGrp="1"/>
          </p:cNvSpPr>
          <p:nvPr/>
        </p:nvSpPr>
        <p:spPr>
          <a:xfrm>
            <a:off x="3344625" y="1380000"/>
            <a:ext cx="2298000" cy="2200000"/>
          </a:xfrm>
          <a:prstGeom prst="roundRect">
            <a:avLst>
              <a:gd name="adj" fmla="val 6000"/>
            </a:avLst>
          </a:prstGeom>
          <a:solidFill>
            <a:srgbClr val="EEF3F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comp-text-2">
            <a:extLst>
              <a:ext uri="{FF2B5EF4-FFF2-40B4-BE49-F238E27FC236}">
                <a16:creationId xmlns:a16="http://schemas.microsoft.com/office/drawing/2014/main" id="{2C9EF864-0A55-41F1-9863-DE3584F57B48}"/>
              </a:ext>
            </a:extLst>
          </p:cNvPr>
          <p:cNvSpPr>
            <a:spLocks noGrp="1"/>
          </p:cNvSpPr>
          <p:nvPr/>
        </p:nvSpPr>
        <p:spPr>
          <a:xfrm>
            <a:off x="3464625" y="1500000"/>
            <a:ext cx="2058000" cy="151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 dirty="0">
                <a:solidFill>
                  <a:srgbClr val="292929"/>
                </a:solidFill>
              </a:rPr>
              <a:t>int8, </a:t>
            </a:r>
            <a:r>
              <a:rPr sz="1400" b="1" i="0" dirty="0" err="1">
                <a:solidFill>
                  <a:srgbClr val="292929"/>
                </a:solidFill>
              </a:rPr>
              <a:t>только</a:t>
            </a:r>
            <a:r>
              <a:rPr sz="1400" b="1" i="0" dirty="0">
                <a:solidFill>
                  <a:srgbClr val="292929"/>
                </a:solidFill>
              </a:rPr>
              <a:t> </a:t>
            </a:r>
            <a:r>
              <a:rPr sz="1400" b="1" i="0" dirty="0" err="1">
                <a:solidFill>
                  <a:srgbClr val="292929"/>
                </a:solidFill>
              </a:rPr>
              <a:t>веса</a:t>
            </a:r>
            <a:endParaRPr sz="1400" b="1" i="0" dirty="0">
              <a:solidFill>
                <a:srgbClr val="292929"/>
              </a:solidFill>
            </a:endParaRPr>
          </a:p>
          <a:p>
            <a:pPr algn="l">
              <a:spcAft>
                <a:spcPts val="600"/>
              </a:spcAft>
              <a:buNone/>
            </a:pPr>
            <a:r>
              <a:rPr sz="2400" b="1" i="0" dirty="0">
                <a:solidFill>
                  <a:srgbClr val="3D6375"/>
                </a:solidFill>
              </a:rPr>
              <a:t>0,198 МБ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 dirty="0" err="1">
                <a:solidFill>
                  <a:srgbClr val="292929"/>
                </a:solidFill>
              </a:rPr>
              <a:t>Веса</a:t>
            </a:r>
            <a:r>
              <a:rPr sz="1300" b="0" i="0" dirty="0">
                <a:solidFill>
                  <a:srgbClr val="292929"/>
                </a:solidFill>
              </a:rPr>
              <a:t> int8 </a:t>
            </a:r>
            <a:r>
              <a:rPr sz="1300" b="0" i="0" dirty="0" err="1">
                <a:solidFill>
                  <a:srgbClr val="292929"/>
                </a:solidFill>
              </a:rPr>
              <a:t>с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масштабами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по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слоям</a:t>
            </a:r>
            <a:r>
              <a:rPr sz="1300" b="0" i="0" dirty="0">
                <a:solidFill>
                  <a:srgbClr val="292929"/>
                </a:solidFill>
              </a:rPr>
              <a:t>. Файл </a:t>
            </a:r>
            <a:r>
              <a:rPr sz="1300" b="0" i="0" dirty="0" err="1">
                <a:solidFill>
                  <a:srgbClr val="292929"/>
                </a:solidFill>
              </a:rPr>
              <a:t>меньше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в</a:t>
            </a:r>
            <a:r>
              <a:rPr sz="1300" b="0" i="0" dirty="0">
                <a:solidFill>
                  <a:srgbClr val="292929"/>
                </a:solidFill>
              </a:rPr>
              <a:t> 3,9 </a:t>
            </a:r>
            <a:r>
              <a:rPr sz="1300" b="0" i="0" dirty="0" err="1">
                <a:solidFill>
                  <a:srgbClr val="292929"/>
                </a:solidFill>
              </a:rPr>
              <a:t>раза</a:t>
            </a:r>
            <a:r>
              <a:rPr sz="1300" b="0" i="0" dirty="0">
                <a:solidFill>
                  <a:srgbClr val="292929"/>
                </a:solidFill>
              </a:rPr>
              <a:t>; </a:t>
            </a:r>
            <a:r>
              <a:rPr sz="1300" b="0" i="0" dirty="0" err="1">
                <a:solidFill>
                  <a:srgbClr val="292929"/>
                </a:solidFill>
              </a:rPr>
              <a:t>медиана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ошибки</a:t>
            </a:r>
            <a:r>
              <a:rPr sz="1300" b="0" i="0" dirty="0">
                <a:solidFill>
                  <a:srgbClr val="292929"/>
                </a:solidFill>
              </a:rPr>
              <a:t> P </a:t>
            </a:r>
            <a:r>
              <a:rPr lang="en-US" sz="1300" b="0" i="0" dirty="0">
                <a:solidFill>
                  <a:srgbClr val="292929"/>
                </a:solidFill>
              </a:rPr>
              <a:t>-</a:t>
            </a:r>
            <a:r>
              <a:rPr sz="1300" b="0" i="0" dirty="0">
                <a:solidFill>
                  <a:srgbClr val="292929"/>
                </a:solidFill>
              </a:rPr>
              <a:t> 1,276%, E </a:t>
            </a:r>
            <a:r>
              <a:rPr lang="en-US" sz="1300" b="0" i="0" dirty="0">
                <a:solidFill>
                  <a:srgbClr val="292929"/>
                </a:solidFill>
              </a:rPr>
              <a:t>-</a:t>
            </a:r>
            <a:r>
              <a:rPr sz="1300" b="0" i="0" dirty="0">
                <a:solidFill>
                  <a:srgbClr val="292929"/>
                </a:solidFill>
              </a:rPr>
              <a:t> 4,285%.</a:t>
            </a:r>
          </a:p>
        </p:txBody>
      </p:sp>
      <p:sp>
        <p:nvSpPr>
          <p:cNvPr id="10" name="comp-card-3">
            <a:extLst>
              <a:ext uri="{FF2B5EF4-FFF2-40B4-BE49-F238E27FC236}">
                <a16:creationId xmlns:a16="http://schemas.microsoft.com/office/drawing/2014/main" id="{D57DBA14-C809-4690-A8AB-8CF8A19D34DD}"/>
              </a:ext>
            </a:extLst>
          </p:cNvPr>
          <p:cNvSpPr>
            <a:spLocks noGrp="1"/>
          </p:cNvSpPr>
          <p:nvPr/>
        </p:nvSpPr>
        <p:spPr>
          <a:xfrm>
            <a:off x="5832000" y="1380000"/>
            <a:ext cx="2298000" cy="2200000"/>
          </a:xfrm>
          <a:prstGeom prst="roundRect">
            <a:avLst>
              <a:gd name="adj" fmla="val 6000"/>
            </a:avLst>
          </a:prstGeom>
          <a:solidFill>
            <a:srgbClr val="EEF3F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comp-text-3">
            <a:extLst>
              <a:ext uri="{FF2B5EF4-FFF2-40B4-BE49-F238E27FC236}">
                <a16:creationId xmlns:a16="http://schemas.microsoft.com/office/drawing/2014/main" id="{9BB22B2E-314F-4414-A3C0-C5FE8CA3866B}"/>
              </a:ext>
            </a:extLst>
          </p:cNvPr>
          <p:cNvSpPr>
            <a:spLocks noGrp="1"/>
          </p:cNvSpPr>
          <p:nvPr/>
        </p:nvSpPr>
        <p:spPr>
          <a:xfrm>
            <a:off x="5952000" y="1500000"/>
            <a:ext cx="2058000" cy="19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292929"/>
                </a:solidFill>
              </a:rPr>
              <a:t>int8 динамическая</a:t>
            </a:r>
          </a:p>
          <a:p>
            <a:pPr algn="l">
              <a:spcAft>
                <a:spcPts val="600"/>
              </a:spcAft>
              <a:buNone/>
            </a:pPr>
            <a:r>
              <a:rPr sz="2400" b="1" i="0">
                <a:solidFill>
                  <a:srgbClr val="3D6375"/>
                </a:solidFill>
              </a:rPr>
              <a:t>CPU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92929"/>
                </a:solidFill>
              </a:rPr>
              <a:t>Квантуются и веса, и активации. В блокноте признана непригодной по точности и не сохраняется.</a:t>
            </a:r>
          </a:p>
        </p:txBody>
      </p:sp>
      <p:sp>
        <p:nvSpPr>
          <p:cNvPr id="12" name="footnote">
            <a:extLst>
              <a:ext uri="{FF2B5EF4-FFF2-40B4-BE49-F238E27FC236}">
                <a16:creationId xmlns:a16="http://schemas.microsoft.com/office/drawing/2014/main" id="{A389643D-1EC3-42CA-8176-AE3F13C92390}"/>
              </a:ext>
            </a:extLst>
          </p:cNvPr>
          <p:cNvSpPr>
            <a:spLocks noGrp="1"/>
          </p:cNvSpPr>
          <p:nvPr/>
        </p:nvSpPr>
        <p:spPr>
          <a:xfrm>
            <a:off x="857250" y="3780000"/>
            <a:ext cx="727275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 dirty="0">
                <a:solidFill>
                  <a:srgbClr val="5F6B72"/>
                </a:solidFill>
              </a:rPr>
              <a:t>float16 </a:t>
            </a:r>
            <a:r>
              <a:rPr sz="1300" b="0" i="0" dirty="0" err="1">
                <a:solidFill>
                  <a:srgbClr val="5F6B72"/>
                </a:solidFill>
              </a:rPr>
              <a:t>и</a:t>
            </a:r>
            <a:r>
              <a:rPr sz="1300" b="0" i="0" dirty="0">
                <a:solidFill>
                  <a:srgbClr val="5F6B72"/>
                </a:solidFill>
              </a:rPr>
              <a:t> int8 </a:t>
            </a:r>
            <a:r>
              <a:rPr sz="1300" b="0" i="0" dirty="0" err="1">
                <a:solidFill>
                  <a:srgbClr val="5F6B72"/>
                </a:solidFill>
              </a:rPr>
              <a:t>измерены</a:t>
            </a:r>
            <a:r>
              <a:rPr sz="1300" b="0" i="0" dirty="0">
                <a:solidFill>
                  <a:srgbClr val="5F6B72"/>
                </a:solidFill>
              </a:rPr>
              <a:t> </a:t>
            </a:r>
            <a:r>
              <a:rPr sz="1300" b="0" i="0" dirty="0" err="1">
                <a:solidFill>
                  <a:srgbClr val="5F6B72"/>
                </a:solidFill>
              </a:rPr>
              <a:t>на</a:t>
            </a:r>
            <a:r>
              <a:rPr sz="1300" b="0" i="0" dirty="0">
                <a:solidFill>
                  <a:srgbClr val="5F6B72"/>
                </a:solidFill>
              </a:rPr>
              <a:t> </a:t>
            </a:r>
            <a:r>
              <a:rPr sz="1300" b="0" i="0" dirty="0" err="1">
                <a:solidFill>
                  <a:srgbClr val="5F6B72"/>
                </a:solidFill>
              </a:rPr>
              <a:t>общем</a:t>
            </a:r>
            <a:r>
              <a:rPr sz="1300" b="0" i="0" dirty="0">
                <a:solidFill>
                  <a:srgbClr val="5F6B72"/>
                </a:solidFill>
              </a:rPr>
              <a:t> test. Итоговым </a:t>
            </a:r>
            <a:r>
              <a:rPr sz="1300" b="0" i="0" dirty="0" err="1">
                <a:solidFill>
                  <a:srgbClr val="5F6B72"/>
                </a:solidFill>
              </a:rPr>
              <a:t>сжатым</a:t>
            </a:r>
            <a:r>
              <a:rPr sz="1300" b="0" i="0" dirty="0">
                <a:solidFill>
                  <a:srgbClr val="5F6B72"/>
                </a:solidFill>
              </a:rPr>
              <a:t> </a:t>
            </a:r>
            <a:r>
              <a:rPr sz="1300" b="0" i="0" dirty="0" err="1">
                <a:solidFill>
                  <a:srgbClr val="5F6B72"/>
                </a:solidFill>
              </a:rPr>
              <a:t>вариантом</a:t>
            </a:r>
            <a:r>
              <a:rPr sz="1300" b="0" i="0" dirty="0">
                <a:solidFill>
                  <a:srgbClr val="5F6B72"/>
                </a:solidFill>
              </a:rPr>
              <a:t> </a:t>
            </a:r>
            <a:r>
              <a:rPr sz="1300" b="0" i="0" dirty="0" err="1">
                <a:solidFill>
                  <a:srgbClr val="5F6B72"/>
                </a:solidFill>
              </a:rPr>
              <a:t>выбрана</a:t>
            </a:r>
            <a:r>
              <a:rPr sz="1300" b="0" i="0" dirty="0">
                <a:solidFill>
                  <a:srgbClr val="5F6B72"/>
                </a:solidFill>
              </a:rPr>
              <a:t> </a:t>
            </a:r>
            <a:r>
              <a:rPr sz="1300" b="0" i="0" dirty="0" err="1">
                <a:solidFill>
                  <a:srgbClr val="5F6B72"/>
                </a:solidFill>
              </a:rPr>
              <a:t>модель</a:t>
            </a:r>
            <a:r>
              <a:rPr sz="1300" b="0" i="0" dirty="0">
                <a:solidFill>
                  <a:srgbClr val="5F6B72"/>
                </a:solidFill>
              </a:rPr>
              <a:t> float16.</a:t>
            </a:r>
          </a:p>
        </p:txBody>
      </p:sp>
    </p:spTree>
    <p:extLst>
      <p:ext uri="{BB962C8B-B14F-4D97-AF65-F5344CB8AC3E}">
        <p14:creationId xmlns:p14="http://schemas.microsoft.com/office/powerpoint/2010/main" val="233626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663D8C0-8DF8-422B-A964-EAC7499771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8910FA-078C-471C-B410-88D6C41920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page-number">
            <a:extLst>
              <a:ext uri="{FF2B5EF4-FFF2-40B4-BE49-F238E27FC236}">
                <a16:creationId xmlns:a16="http://schemas.microsoft.com/office/drawing/2014/main" id="{9B7B29E5-FADE-4AAB-A404-C10E3680D803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dirty="0"/>
              <a:t>2</a:t>
            </a:r>
            <a:r>
              <a:rPr lang="ru-RU" dirty="0"/>
              <a:t>2</a:t>
            </a:r>
            <a:endParaRPr sz="1350" b="0" dirty="0">
              <a:solidFill>
                <a:srgbClr val="292929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49A7A11-7DD0-4B09-B429-CB69496D2249}"/>
              </a:ext>
            </a:extLst>
          </p:cNvPr>
          <p:cNvSpPr>
            <a:spLocks noGrp="1"/>
          </p:cNvSpPr>
          <p:nvPr/>
        </p:nvSpPr>
        <p:spPr>
          <a:xfrm>
            <a:off x="762000" y="571500"/>
            <a:ext cx="7524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292929"/>
                </a:solidFill>
              </a:defRPr>
            </a:defPPr>
            <a:lvl1pPr>
              <a:buNone/>
              <a:defRPr sz="2550" b="1">
                <a:solidFill>
                  <a:srgbClr val="292929"/>
                </a:solidFill>
              </a:defRPr>
            </a:lvl1pPr>
            <a:lvl2pPr>
              <a:buNone/>
              <a:defRPr sz="2550" b="1">
                <a:solidFill>
                  <a:srgbClr val="292929"/>
                </a:solidFill>
              </a:defRPr>
            </a:lvl2pPr>
            <a:lvl3pPr>
              <a:buNone/>
              <a:defRPr sz="2550" b="1">
                <a:solidFill>
                  <a:srgbClr val="292929"/>
                </a:solidFill>
              </a:defRPr>
            </a:lvl3pPr>
            <a:lvl4pPr>
              <a:buNone/>
              <a:defRPr sz="2550" b="1">
                <a:solidFill>
                  <a:srgbClr val="292929"/>
                </a:solidFill>
              </a:defRPr>
            </a:lvl4pPr>
            <a:lvl5pPr>
              <a:buNone/>
              <a:defRPr sz="2550" b="1">
                <a:solidFill>
                  <a:srgbClr val="292929"/>
                </a:solidFill>
              </a:defRPr>
            </a:lvl5pPr>
            <a:lvl6pPr>
              <a:buNone/>
              <a:defRPr sz="2550" b="1">
                <a:solidFill>
                  <a:srgbClr val="292929"/>
                </a:solidFill>
              </a:defRPr>
            </a:lvl6pPr>
            <a:lvl7pPr>
              <a:buNone/>
              <a:defRPr sz="2550" b="1">
                <a:solidFill>
                  <a:srgbClr val="292929"/>
                </a:solidFill>
              </a:defRPr>
            </a:lvl7pPr>
            <a:lvl8pPr>
              <a:buNone/>
              <a:defRPr sz="2550" b="1">
                <a:solidFill>
                  <a:srgbClr val="292929"/>
                </a:solidFill>
              </a:defRPr>
            </a:lvl8pPr>
            <a:lvl9pPr>
              <a:buNone/>
              <a:defRPr sz="255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550" b="1">
                <a:solidFill>
                  <a:srgbClr val="292929"/>
                </a:solidFill>
              </a:defRPr>
            </a:pPr>
            <a:r>
              <a:rPr sz="2550" b="1">
                <a:solidFill>
                  <a:srgbClr val="292929"/>
                </a:solidFill>
              </a:rPr>
              <a:t>SVD: сжатие с дообучением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98F785-BDCB-4F16-BD9B-812F84EBE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36385" y="1190625"/>
            <a:ext cx="7071230" cy="223837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270E57-9CE2-4F01-9DAD-FB1C7D238AC3}"/>
              </a:ext>
            </a:extLst>
          </p:cNvPr>
          <p:cNvSpPr>
            <a:spLocks noGrp="1"/>
          </p:cNvSpPr>
          <p:nvPr/>
        </p:nvSpPr>
        <p:spPr>
          <a:xfrm>
            <a:off x="809625" y="3476625"/>
            <a:ext cx="7524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92929"/>
                </a:solidFill>
              </a:defRPr>
            </a:defPPr>
            <a:lvl1pPr>
              <a:buNone/>
              <a:defRPr sz="1650" b="1">
                <a:solidFill>
                  <a:srgbClr val="292929"/>
                </a:solidFill>
              </a:defRPr>
            </a:lvl1pPr>
            <a:lvl2pPr>
              <a:buNone/>
              <a:defRPr sz="1650" b="1">
                <a:solidFill>
                  <a:srgbClr val="292929"/>
                </a:solidFill>
              </a:defRPr>
            </a:lvl2pPr>
            <a:lvl3pPr>
              <a:buNone/>
              <a:defRPr sz="1650" b="1">
                <a:solidFill>
                  <a:srgbClr val="292929"/>
                </a:solidFill>
              </a:defRPr>
            </a:lvl3pPr>
            <a:lvl4pPr>
              <a:buNone/>
              <a:defRPr sz="1650" b="1">
                <a:solidFill>
                  <a:srgbClr val="292929"/>
                </a:solidFill>
              </a:defRPr>
            </a:lvl4pPr>
            <a:lvl5pPr>
              <a:buNone/>
              <a:defRPr sz="1650" b="1">
                <a:solidFill>
                  <a:srgbClr val="292929"/>
                </a:solidFill>
              </a:defRPr>
            </a:lvl5pPr>
            <a:lvl6pPr>
              <a:buNone/>
              <a:defRPr sz="1650" b="1">
                <a:solidFill>
                  <a:srgbClr val="292929"/>
                </a:solidFill>
              </a:defRPr>
            </a:lvl6pPr>
            <a:lvl7pPr>
              <a:buNone/>
              <a:defRPr sz="1650" b="1">
                <a:solidFill>
                  <a:srgbClr val="292929"/>
                </a:solidFill>
              </a:defRPr>
            </a:lvl7pPr>
            <a:lvl8pPr>
              <a:buNone/>
              <a:defRPr sz="1650" b="1">
                <a:solidFill>
                  <a:srgbClr val="292929"/>
                </a:solidFill>
              </a:defRPr>
            </a:lvl8pPr>
            <a:lvl9pPr>
              <a:buNone/>
              <a:defRPr sz="165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1650" b="1">
                <a:solidFill>
                  <a:srgbClr val="292929"/>
                </a:solidFill>
              </a:defRPr>
            </a:pPr>
            <a:r>
              <a:rPr sz="1650" b="1">
                <a:solidFill>
                  <a:srgbClr val="292929"/>
                </a:solidFill>
              </a:rPr>
              <a:t>SVD требует дообучения с физическими штрафами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7F449FD-2BD7-4E8D-9B50-84E52DF5D5E8}"/>
              </a:ext>
            </a:extLst>
          </p:cNvPr>
          <p:cNvSpPr>
            <a:spLocks noGrp="1"/>
          </p:cNvSpPr>
          <p:nvPr/>
        </p:nvSpPr>
        <p:spPr>
          <a:xfrm>
            <a:off x="809625" y="3848100"/>
            <a:ext cx="7524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292929"/>
                </a:solidFill>
              </a:defRPr>
            </a:defPPr>
            <a:lvl1pPr>
              <a:buNone/>
              <a:defRPr sz="1425" b="0">
                <a:solidFill>
                  <a:srgbClr val="292929"/>
                </a:solidFill>
              </a:defRPr>
            </a:lvl1pPr>
            <a:lvl2pPr>
              <a:buNone/>
              <a:defRPr sz="1425" b="0">
                <a:solidFill>
                  <a:srgbClr val="292929"/>
                </a:solidFill>
              </a:defRPr>
            </a:lvl2pPr>
            <a:lvl3pPr>
              <a:buNone/>
              <a:defRPr sz="1425" b="0">
                <a:solidFill>
                  <a:srgbClr val="292929"/>
                </a:solidFill>
              </a:defRPr>
            </a:lvl3pPr>
            <a:lvl4pPr>
              <a:buNone/>
              <a:defRPr sz="1425" b="0">
                <a:solidFill>
                  <a:srgbClr val="292929"/>
                </a:solidFill>
              </a:defRPr>
            </a:lvl4pPr>
            <a:lvl5pPr>
              <a:buNone/>
              <a:defRPr sz="1425" b="0">
                <a:solidFill>
                  <a:srgbClr val="292929"/>
                </a:solidFill>
              </a:defRPr>
            </a:lvl5pPr>
            <a:lvl6pPr>
              <a:buNone/>
              <a:defRPr sz="1425" b="0">
                <a:solidFill>
                  <a:srgbClr val="292929"/>
                </a:solidFill>
              </a:defRPr>
            </a:lvl6pPr>
            <a:lvl7pPr>
              <a:buNone/>
              <a:defRPr sz="1425" b="0">
                <a:solidFill>
                  <a:srgbClr val="292929"/>
                </a:solidFill>
              </a:defRPr>
            </a:lvl7pPr>
            <a:lvl8pPr>
              <a:buNone/>
              <a:defRPr sz="1425" b="0">
                <a:solidFill>
                  <a:srgbClr val="292929"/>
                </a:solidFill>
              </a:defRPr>
            </a:lvl8pPr>
            <a:lvl9pPr>
              <a:buNone/>
              <a:defRPr sz="1425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425" b="0">
                <a:solidFill>
                  <a:srgbClr val="292929"/>
                </a:solidFill>
              </a:defRPr>
            </a:pPr>
            <a:r>
              <a:rPr sz="1425" b="0" dirty="0">
                <a:solidFill>
                  <a:srgbClr val="292929"/>
                </a:solidFill>
              </a:rPr>
              <a:t>r = 64, 1000 </a:t>
            </a:r>
            <a:r>
              <a:rPr sz="1425" b="0" dirty="0" err="1">
                <a:solidFill>
                  <a:srgbClr val="292929"/>
                </a:solidFill>
              </a:rPr>
              <a:t>шагов</a:t>
            </a:r>
            <a:r>
              <a:rPr sz="1425" b="0" dirty="0">
                <a:solidFill>
                  <a:srgbClr val="292929"/>
                </a:solidFill>
              </a:rPr>
              <a:t> (~17 </a:t>
            </a:r>
            <a:r>
              <a:rPr sz="1425" b="0" dirty="0" err="1">
                <a:solidFill>
                  <a:srgbClr val="292929"/>
                </a:solidFill>
              </a:rPr>
              <a:t>с</a:t>
            </a:r>
            <a:r>
              <a:rPr sz="1425" b="0" dirty="0">
                <a:solidFill>
                  <a:srgbClr val="292929"/>
                </a:solidFill>
              </a:rPr>
              <a:t>): P/E </a:t>
            </a:r>
            <a:r>
              <a:rPr lang="en-US" sz="1425" b="0" dirty="0">
                <a:solidFill>
                  <a:srgbClr val="292929"/>
                </a:solidFill>
              </a:rPr>
              <a:t>-</a:t>
            </a:r>
            <a:r>
              <a:rPr sz="1425" b="0" dirty="0">
                <a:solidFill>
                  <a:srgbClr val="292929"/>
                </a:solidFill>
              </a:rPr>
              <a:t> 0,33% / 0,40%; </a:t>
            </a:r>
            <a:r>
              <a:rPr sz="1425" b="0" dirty="0" err="1">
                <a:solidFill>
                  <a:srgbClr val="292929"/>
                </a:solidFill>
              </a:rPr>
              <a:t>нарушений</a:t>
            </a:r>
            <a:r>
              <a:rPr sz="1425" b="0" dirty="0">
                <a:solidFill>
                  <a:srgbClr val="292929"/>
                </a:solidFill>
              </a:rPr>
              <a:t> </a:t>
            </a:r>
            <a:r>
              <a:rPr lang="en-US" sz="1425" b="0" dirty="0">
                <a:solidFill>
                  <a:srgbClr val="292929"/>
                </a:solidFill>
              </a:rPr>
              <a:t>-</a:t>
            </a:r>
            <a:r>
              <a:rPr sz="1425" b="0" dirty="0">
                <a:solidFill>
                  <a:srgbClr val="292929"/>
                </a:solidFill>
              </a:rPr>
              <a:t> 0%.</a:t>
            </a:r>
          </a:p>
          <a:p>
            <a:pPr>
              <a:buNone/>
              <a:defRPr sz="1425" b="0">
                <a:solidFill>
                  <a:srgbClr val="292929"/>
                </a:solidFill>
              </a:defRPr>
            </a:pPr>
            <a:r>
              <a:rPr sz="1425" b="0" dirty="0" err="1">
                <a:solidFill>
                  <a:srgbClr val="292929"/>
                </a:solidFill>
              </a:rPr>
              <a:t>Файл</a:t>
            </a:r>
            <a:r>
              <a:rPr sz="1425" b="0" dirty="0">
                <a:solidFill>
                  <a:srgbClr val="292929"/>
                </a:solidFill>
              </a:rPr>
              <a:t>: 0,20 </a:t>
            </a:r>
            <a:r>
              <a:rPr sz="1425" b="0" dirty="0" err="1">
                <a:solidFill>
                  <a:srgbClr val="292929"/>
                </a:solidFill>
              </a:rPr>
              <a:t>МиБ</a:t>
            </a:r>
            <a:r>
              <a:rPr sz="1425" b="0" dirty="0">
                <a:solidFill>
                  <a:srgbClr val="292929"/>
                </a:solidFill>
              </a:rPr>
              <a:t> (×2 </a:t>
            </a:r>
            <a:r>
              <a:rPr sz="1425" b="0" dirty="0" err="1">
                <a:solidFill>
                  <a:srgbClr val="292929"/>
                </a:solidFill>
              </a:rPr>
              <a:t>меньше</a:t>
            </a:r>
            <a:r>
              <a:rPr sz="1425" b="0" dirty="0">
                <a:solidFill>
                  <a:srgbClr val="292929"/>
                </a:solidFill>
              </a:rPr>
              <a:t>); CPU ONNX: 0,40 </a:t>
            </a:r>
            <a:r>
              <a:rPr sz="1425" b="0" dirty="0" err="1">
                <a:solidFill>
                  <a:srgbClr val="292929"/>
                </a:solidFill>
              </a:rPr>
              <a:t>с</a:t>
            </a:r>
            <a:r>
              <a:rPr sz="1425" b="0" dirty="0">
                <a:solidFill>
                  <a:srgbClr val="292929"/>
                </a:solidFill>
              </a:rPr>
              <a:t> </a:t>
            </a:r>
            <a:r>
              <a:rPr sz="1425" b="0" dirty="0" err="1">
                <a:solidFill>
                  <a:srgbClr val="292929"/>
                </a:solidFill>
              </a:rPr>
              <a:t>на</a:t>
            </a:r>
            <a:r>
              <a:rPr sz="1425" b="0" dirty="0">
                <a:solidFill>
                  <a:srgbClr val="292929"/>
                </a:solidFill>
              </a:rPr>
              <a:t> 10⁵ </a:t>
            </a:r>
            <a:r>
              <a:rPr sz="1425" b="0" dirty="0" err="1">
                <a:solidFill>
                  <a:srgbClr val="292929"/>
                </a:solidFill>
              </a:rPr>
              <a:t>запросов</a:t>
            </a:r>
            <a:r>
              <a:rPr sz="1425" b="0" dirty="0">
                <a:solidFill>
                  <a:srgbClr val="292929"/>
                </a:solidFill>
              </a:rPr>
              <a:t> (×1,3 </a:t>
            </a:r>
            <a:r>
              <a:rPr sz="1425" b="0" dirty="0" err="1">
                <a:solidFill>
                  <a:srgbClr val="292929"/>
                </a:solidFill>
              </a:rPr>
              <a:t>быстрее</a:t>
            </a:r>
            <a:r>
              <a:rPr sz="1425" b="0" dirty="0">
                <a:solidFill>
                  <a:srgbClr val="292929"/>
                </a:solidFill>
              </a:rPr>
              <a:t>).</a:t>
            </a:r>
          </a:p>
          <a:p>
            <a:pPr>
              <a:buNone/>
              <a:defRPr sz="1425" b="0">
                <a:solidFill>
                  <a:srgbClr val="292929"/>
                </a:solidFill>
              </a:defRPr>
            </a:pPr>
            <a:r>
              <a:rPr sz="1425" b="0" dirty="0">
                <a:solidFill>
                  <a:srgbClr val="292929"/>
                </a:solidFill>
              </a:rPr>
              <a:t>r = 32: 0,10 </a:t>
            </a:r>
            <a:r>
              <a:rPr sz="1425" b="0" dirty="0" err="1">
                <a:solidFill>
                  <a:srgbClr val="292929"/>
                </a:solidFill>
              </a:rPr>
              <a:t>МиБ</a:t>
            </a:r>
            <a:r>
              <a:rPr sz="1425" b="0" dirty="0">
                <a:solidFill>
                  <a:srgbClr val="292929"/>
                </a:solidFill>
              </a:rPr>
              <a:t>; P/E </a:t>
            </a:r>
            <a:r>
              <a:rPr lang="en-US" sz="1425" b="0" dirty="0">
                <a:solidFill>
                  <a:srgbClr val="292929"/>
                </a:solidFill>
              </a:rPr>
              <a:t>-</a:t>
            </a:r>
            <a:r>
              <a:rPr sz="1425" b="0" dirty="0">
                <a:solidFill>
                  <a:srgbClr val="292929"/>
                </a:solidFill>
              </a:rPr>
              <a:t> 0,43% / 0,50%; </a:t>
            </a:r>
            <a:r>
              <a:rPr sz="1425" b="0" dirty="0" err="1">
                <a:solidFill>
                  <a:srgbClr val="292929"/>
                </a:solidFill>
              </a:rPr>
              <a:t>сохраняются</a:t>
            </a:r>
            <a:r>
              <a:rPr sz="1425" b="0" dirty="0">
                <a:solidFill>
                  <a:srgbClr val="292929"/>
                </a:solidFill>
              </a:rPr>
              <a:t> </a:t>
            </a:r>
            <a:r>
              <a:rPr sz="1425" b="0" dirty="0" err="1">
                <a:solidFill>
                  <a:srgbClr val="292929"/>
                </a:solidFill>
              </a:rPr>
              <a:t>редкие</a:t>
            </a:r>
            <a:r>
              <a:rPr sz="1425" b="0" dirty="0">
                <a:solidFill>
                  <a:srgbClr val="292929"/>
                </a:solidFill>
              </a:rPr>
              <a:t> </a:t>
            </a:r>
            <a:r>
              <a:rPr sz="1425" b="0" dirty="0" err="1">
                <a:solidFill>
                  <a:srgbClr val="292929"/>
                </a:solidFill>
              </a:rPr>
              <a:t>нарушения</a:t>
            </a:r>
            <a:r>
              <a:rPr sz="1425" b="0" dirty="0">
                <a:solidFill>
                  <a:srgbClr val="29292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450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2CCCDE1-C980-4873-ADB4-CDB3C75F9A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AB6A7A-3224-4112-A965-A168A9EF75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page-number">
            <a:extLst>
              <a:ext uri="{FF2B5EF4-FFF2-40B4-BE49-F238E27FC236}">
                <a16:creationId xmlns:a16="http://schemas.microsoft.com/office/drawing/2014/main" id="{D8831215-6B9F-4C2C-8D42-09DFF5759B1F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sz="1350" b="0" dirty="0">
                <a:solidFill>
                  <a:srgbClr val="292929"/>
                </a:solidFill>
              </a:rPr>
              <a:t>2</a:t>
            </a:r>
            <a:r>
              <a:rPr lang="ru-RU" sz="1350" b="0" dirty="0">
                <a:solidFill>
                  <a:srgbClr val="292929"/>
                </a:solidFill>
              </a:rPr>
              <a:t>3</a:t>
            </a:r>
            <a:endParaRPr sz="1350" b="0" dirty="0">
              <a:solidFill>
                <a:srgbClr val="292929"/>
              </a:solidFill>
            </a:endParaRP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D3CF2AB8-34F3-4AAA-95F3-2E3DEEFD2F33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929"/>
                </a:solidFill>
              </a:defRPr>
            </a:defPPr>
            <a:lvl1pPr>
              <a:buNone/>
              <a:defRPr sz="2700" b="1">
                <a:solidFill>
                  <a:srgbClr val="292929"/>
                </a:solidFill>
              </a:defRPr>
            </a:lvl1pPr>
            <a:lvl2pPr>
              <a:buNone/>
              <a:defRPr sz="2700" b="1">
                <a:solidFill>
                  <a:srgbClr val="292929"/>
                </a:solidFill>
              </a:defRPr>
            </a:lvl2pPr>
            <a:lvl3pPr>
              <a:buNone/>
              <a:defRPr sz="2700" b="1">
                <a:solidFill>
                  <a:srgbClr val="292929"/>
                </a:solidFill>
              </a:defRPr>
            </a:lvl3pPr>
            <a:lvl4pPr>
              <a:buNone/>
              <a:defRPr sz="2700" b="1">
                <a:solidFill>
                  <a:srgbClr val="292929"/>
                </a:solidFill>
              </a:defRPr>
            </a:lvl4pPr>
            <a:lvl5pPr>
              <a:buNone/>
              <a:defRPr sz="2700" b="1">
                <a:solidFill>
                  <a:srgbClr val="292929"/>
                </a:solidFill>
              </a:defRPr>
            </a:lvl5pPr>
            <a:lvl6pPr>
              <a:buNone/>
              <a:defRPr sz="2700" b="1">
                <a:solidFill>
                  <a:srgbClr val="292929"/>
                </a:solidFill>
              </a:defRPr>
            </a:lvl6pPr>
            <a:lvl7pPr>
              <a:buNone/>
              <a:defRPr sz="2700" b="1">
                <a:solidFill>
                  <a:srgbClr val="292929"/>
                </a:solidFill>
              </a:defRPr>
            </a:lvl7pPr>
            <a:lvl8pPr>
              <a:buNone/>
              <a:defRPr sz="2700" b="1">
                <a:solidFill>
                  <a:srgbClr val="292929"/>
                </a:solidFill>
              </a:defRPr>
            </a:lvl8pPr>
            <a:lvl9pPr>
              <a:buNone/>
              <a:defRPr sz="27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700" b="1">
                <a:solidFill>
                  <a:srgbClr val="292929"/>
                </a:solidFill>
              </a:defRPr>
            </a:pPr>
            <a:r>
              <a:rPr sz="2700" b="1">
                <a:solidFill>
                  <a:srgbClr val="292929"/>
                </a:solidFill>
              </a:rPr>
              <a:t>PINN: результаты на тестовой выборке</a:t>
            </a:r>
          </a:p>
        </p:txBody>
      </p:sp>
      <p:pic>
        <p:nvPicPr>
          <p:cNvPr id="6" name="results-chart">
            <a:extLst>
              <a:ext uri="{FF2B5EF4-FFF2-40B4-BE49-F238E27FC236}">
                <a16:creationId xmlns:a16="http://schemas.microsoft.com/office/drawing/2014/main" id="{EA6C1E23-CEF2-43E0-A026-6B52F5056E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450000"/>
            <a:ext cx="5050000" cy="2231181"/>
          </a:xfrm>
          <a:prstGeom prst="rect">
            <a:avLst/>
          </a:prstGeom>
        </p:spPr>
      </p:pic>
      <p:sp>
        <p:nvSpPr>
          <p:cNvPr id="7" name="res-card-1">
            <a:extLst>
              <a:ext uri="{FF2B5EF4-FFF2-40B4-BE49-F238E27FC236}">
                <a16:creationId xmlns:a16="http://schemas.microsoft.com/office/drawing/2014/main" id="{A61B8237-E2CE-4C9E-B408-2A9613E132E9}"/>
              </a:ext>
            </a:extLst>
          </p:cNvPr>
          <p:cNvSpPr>
            <a:spLocks noGrp="1"/>
          </p:cNvSpPr>
          <p:nvPr/>
        </p:nvSpPr>
        <p:spPr>
          <a:xfrm>
            <a:off x="6107250" y="1380000"/>
            <a:ext cx="2022750" cy="900000"/>
          </a:xfrm>
          <a:prstGeom prst="roundRect">
            <a:avLst>
              <a:gd name="adj" fmla="val 6000"/>
            </a:avLst>
          </a:prstGeom>
          <a:solidFill>
            <a:srgbClr val="EEF3F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s-text-1">
            <a:extLst>
              <a:ext uri="{FF2B5EF4-FFF2-40B4-BE49-F238E27FC236}">
                <a16:creationId xmlns:a16="http://schemas.microsoft.com/office/drawing/2014/main" id="{71E714AC-6A3B-4E59-A225-54664011A04E}"/>
              </a:ext>
            </a:extLst>
          </p:cNvPr>
          <p:cNvSpPr>
            <a:spLocks noGrp="1"/>
          </p:cNvSpPr>
          <p:nvPr/>
        </p:nvSpPr>
        <p:spPr>
          <a:xfrm>
            <a:off x="6217250" y="1450000"/>
            <a:ext cx="1802750" cy="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3D6375"/>
                </a:solidFill>
              </a:rPr>
              <a:t>0,23%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92929"/>
                </a:solidFill>
              </a:rPr>
              <a:t>медиана ошибки P (у Vanilla 1,03%)</a:t>
            </a:r>
          </a:p>
        </p:txBody>
      </p:sp>
      <p:sp>
        <p:nvSpPr>
          <p:cNvPr id="9" name="res-card-2">
            <a:extLst>
              <a:ext uri="{FF2B5EF4-FFF2-40B4-BE49-F238E27FC236}">
                <a16:creationId xmlns:a16="http://schemas.microsoft.com/office/drawing/2014/main" id="{2EEEB9ED-FAE1-462E-BB36-6B9090223932}"/>
              </a:ext>
            </a:extLst>
          </p:cNvPr>
          <p:cNvSpPr>
            <a:spLocks noGrp="1"/>
          </p:cNvSpPr>
          <p:nvPr/>
        </p:nvSpPr>
        <p:spPr>
          <a:xfrm>
            <a:off x="6107250" y="2380000"/>
            <a:ext cx="2022750" cy="900000"/>
          </a:xfrm>
          <a:prstGeom prst="roundRect">
            <a:avLst>
              <a:gd name="adj" fmla="val 6000"/>
            </a:avLst>
          </a:prstGeom>
          <a:solidFill>
            <a:srgbClr val="EEF3F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s-text-2">
            <a:extLst>
              <a:ext uri="{FF2B5EF4-FFF2-40B4-BE49-F238E27FC236}">
                <a16:creationId xmlns:a16="http://schemas.microsoft.com/office/drawing/2014/main" id="{D6E7BD71-0425-4E11-9345-64A4D0555532}"/>
              </a:ext>
            </a:extLst>
          </p:cNvPr>
          <p:cNvSpPr>
            <a:spLocks noGrp="1"/>
          </p:cNvSpPr>
          <p:nvPr/>
        </p:nvSpPr>
        <p:spPr>
          <a:xfrm>
            <a:off x="6217250" y="2450000"/>
            <a:ext cx="1802750" cy="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3D6375"/>
                </a:solidFill>
              </a:rPr>
              <a:t>0%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92929"/>
                </a:solidFill>
              </a:rPr>
              <a:t>нарушений устойчивости (у Vanilla 4,8% и 10,7%)</a:t>
            </a:r>
          </a:p>
        </p:txBody>
      </p:sp>
      <p:sp>
        <p:nvSpPr>
          <p:cNvPr id="11" name="res-card-3">
            <a:extLst>
              <a:ext uri="{FF2B5EF4-FFF2-40B4-BE49-F238E27FC236}">
                <a16:creationId xmlns:a16="http://schemas.microsoft.com/office/drawing/2014/main" id="{2C5B012F-5A9B-4085-A665-26031B990589}"/>
              </a:ext>
            </a:extLst>
          </p:cNvPr>
          <p:cNvSpPr>
            <a:spLocks noGrp="1"/>
          </p:cNvSpPr>
          <p:nvPr/>
        </p:nvSpPr>
        <p:spPr>
          <a:xfrm>
            <a:off x="6107250" y="3380000"/>
            <a:ext cx="2022750" cy="900000"/>
          </a:xfrm>
          <a:prstGeom prst="roundRect">
            <a:avLst>
              <a:gd name="adj" fmla="val 6000"/>
            </a:avLst>
          </a:prstGeom>
          <a:solidFill>
            <a:srgbClr val="EEF3F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s-text-3">
            <a:extLst>
              <a:ext uri="{FF2B5EF4-FFF2-40B4-BE49-F238E27FC236}">
                <a16:creationId xmlns:a16="http://schemas.microsoft.com/office/drawing/2014/main" id="{D379D884-D0E2-4164-A428-F8FFB4826CC5}"/>
              </a:ext>
            </a:extLst>
          </p:cNvPr>
          <p:cNvSpPr>
            <a:spLocks noGrp="1"/>
          </p:cNvSpPr>
          <p:nvPr/>
        </p:nvSpPr>
        <p:spPr>
          <a:xfrm>
            <a:off x="6217250" y="3450000"/>
            <a:ext cx="1802750" cy="7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2200" b="1" i="0">
                <a:solidFill>
                  <a:srgbClr val="3D6375"/>
                </a:solidFill>
              </a:rPr>
              <a:t>0,38 МБ</a:t>
            </a:r>
          </a:p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292929"/>
                </a:solidFill>
              </a:rPr>
              <a:t>размер в float16 — в 90 раз меньше таблицы</a:t>
            </a:r>
          </a:p>
        </p:txBody>
      </p:sp>
      <p:sp>
        <p:nvSpPr>
          <p:cNvPr id="13" name="chart-caption">
            <a:extLst>
              <a:ext uri="{FF2B5EF4-FFF2-40B4-BE49-F238E27FC236}">
                <a16:creationId xmlns:a16="http://schemas.microsoft.com/office/drawing/2014/main" id="{5B38BA3C-7FCA-4942-9E41-BFD5C368FDE5}"/>
              </a:ext>
            </a:extLst>
          </p:cNvPr>
          <p:cNvSpPr>
            <a:spLocks noGrp="1"/>
          </p:cNvSpPr>
          <p:nvPr/>
        </p:nvSpPr>
        <p:spPr>
          <a:xfrm>
            <a:off x="857250" y="3801181"/>
            <a:ext cx="505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rgbClr val="5F6B72"/>
                </a:solidFill>
              </a:rPr>
              <a:t>Шкалы логарифмические; у PINN нарушений нет, поэтому столбцы нулевые.</a:t>
            </a:r>
          </a:p>
        </p:txBody>
      </p:sp>
    </p:spTree>
    <p:extLst>
      <p:ext uri="{BB962C8B-B14F-4D97-AF65-F5344CB8AC3E}">
        <p14:creationId xmlns:p14="http://schemas.microsoft.com/office/powerpoint/2010/main" val="233626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5AD94CA-5903-47AF-86E3-30C2383D5A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5C3853-CD1C-41FD-B042-D78AF8E2B1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added-content">
            <a:extLst>
              <a:ext uri="{FF2B5EF4-FFF2-40B4-BE49-F238E27FC236}">
                <a16:creationId xmlns:a16="http://schemas.microsoft.com/office/drawing/2014/main" id="{6087CF99-A067-4487-B49F-3DB324B9249C}"/>
              </a:ext>
            </a:extLst>
          </p:cNvPr>
          <p:cNvSpPr>
            <a:spLocks noGrp="1"/>
          </p:cNvSpPr>
          <p:nvPr/>
        </p:nvSpPr>
        <p:spPr>
          <a:xfrm>
            <a:off x="762000" y="571500"/>
            <a:ext cx="752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292929"/>
                </a:solidFill>
              </a:defRPr>
            </a:defPPr>
            <a:lvl1pPr>
              <a:buNone/>
              <a:defRPr sz="2550" b="1">
                <a:solidFill>
                  <a:srgbClr val="292929"/>
                </a:solidFill>
              </a:defRPr>
            </a:lvl1pPr>
            <a:lvl2pPr>
              <a:buNone/>
              <a:defRPr sz="2550" b="1">
                <a:solidFill>
                  <a:srgbClr val="292929"/>
                </a:solidFill>
              </a:defRPr>
            </a:lvl2pPr>
            <a:lvl3pPr>
              <a:buNone/>
              <a:defRPr sz="2550" b="1">
                <a:solidFill>
                  <a:srgbClr val="292929"/>
                </a:solidFill>
              </a:defRPr>
            </a:lvl3pPr>
            <a:lvl4pPr>
              <a:buNone/>
              <a:defRPr sz="2550" b="1">
                <a:solidFill>
                  <a:srgbClr val="292929"/>
                </a:solidFill>
              </a:defRPr>
            </a:lvl4pPr>
            <a:lvl5pPr>
              <a:buNone/>
              <a:defRPr sz="2550" b="1">
                <a:solidFill>
                  <a:srgbClr val="292929"/>
                </a:solidFill>
              </a:defRPr>
            </a:lvl5pPr>
            <a:lvl6pPr>
              <a:buNone/>
              <a:defRPr sz="2550" b="1">
                <a:solidFill>
                  <a:srgbClr val="292929"/>
                </a:solidFill>
              </a:defRPr>
            </a:lvl6pPr>
            <a:lvl7pPr>
              <a:buNone/>
              <a:defRPr sz="2550" b="1">
                <a:solidFill>
                  <a:srgbClr val="292929"/>
                </a:solidFill>
              </a:defRPr>
            </a:lvl7pPr>
            <a:lvl8pPr>
              <a:buNone/>
              <a:defRPr sz="2550" b="1">
                <a:solidFill>
                  <a:srgbClr val="292929"/>
                </a:solidFill>
              </a:defRPr>
            </a:lvl8pPr>
            <a:lvl9pPr>
              <a:buNone/>
              <a:defRPr sz="255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550" b="1">
                <a:solidFill>
                  <a:srgbClr val="292929"/>
                </a:solidFill>
              </a:defRPr>
            </a:pPr>
            <a:r>
              <a:rPr sz="2550" b="1">
                <a:solidFill>
                  <a:srgbClr val="292929"/>
                </a:solidFill>
              </a:rPr>
              <a:t>PINN: распределение ошибок по домену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CC273E-234F-406C-A727-CD63A92E6C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4375" y="1317026"/>
            <a:ext cx="7667625" cy="2652323"/>
          </a:xfrm>
          <a:prstGeom prst="rect">
            <a:avLst/>
          </a:prstGeom>
        </p:spPr>
      </p:pic>
      <p:sp>
        <p:nvSpPr>
          <p:cNvPr id="6" name="added-content">
            <a:extLst>
              <a:ext uri="{FF2B5EF4-FFF2-40B4-BE49-F238E27FC236}">
                <a16:creationId xmlns:a16="http://schemas.microsoft.com/office/drawing/2014/main" id="{C78DB8C7-9972-4707-9E9D-DE874495E0C5}"/>
              </a:ext>
            </a:extLst>
          </p:cNvPr>
          <p:cNvSpPr>
            <a:spLocks noGrp="1"/>
          </p:cNvSpPr>
          <p:nvPr/>
        </p:nvSpPr>
        <p:spPr>
          <a:xfrm>
            <a:off x="809625" y="4257675"/>
            <a:ext cx="752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292929"/>
                </a:solidFill>
              </a:defRPr>
            </a:defPPr>
            <a:lvl1pPr>
              <a:buNone/>
              <a:defRPr sz="1425" b="0">
                <a:solidFill>
                  <a:srgbClr val="292929"/>
                </a:solidFill>
              </a:defRPr>
            </a:lvl1pPr>
            <a:lvl2pPr>
              <a:buNone/>
              <a:defRPr sz="1425" b="0">
                <a:solidFill>
                  <a:srgbClr val="292929"/>
                </a:solidFill>
              </a:defRPr>
            </a:lvl2pPr>
            <a:lvl3pPr>
              <a:buNone/>
              <a:defRPr sz="1425" b="0">
                <a:solidFill>
                  <a:srgbClr val="292929"/>
                </a:solidFill>
              </a:defRPr>
            </a:lvl3pPr>
            <a:lvl4pPr>
              <a:buNone/>
              <a:defRPr sz="1425" b="0">
                <a:solidFill>
                  <a:srgbClr val="292929"/>
                </a:solidFill>
              </a:defRPr>
            </a:lvl4pPr>
            <a:lvl5pPr>
              <a:buNone/>
              <a:defRPr sz="1425" b="0">
                <a:solidFill>
                  <a:srgbClr val="292929"/>
                </a:solidFill>
              </a:defRPr>
            </a:lvl5pPr>
            <a:lvl6pPr>
              <a:buNone/>
              <a:defRPr sz="1425" b="0">
                <a:solidFill>
                  <a:srgbClr val="292929"/>
                </a:solidFill>
              </a:defRPr>
            </a:lvl6pPr>
            <a:lvl7pPr>
              <a:buNone/>
              <a:defRPr sz="1425" b="0">
                <a:solidFill>
                  <a:srgbClr val="292929"/>
                </a:solidFill>
              </a:defRPr>
            </a:lvl7pPr>
            <a:lvl8pPr>
              <a:buNone/>
              <a:defRPr sz="1425" b="0">
                <a:solidFill>
                  <a:srgbClr val="292929"/>
                </a:solidFill>
              </a:defRPr>
            </a:lvl8pPr>
            <a:lvl9pPr>
              <a:buNone/>
              <a:defRPr sz="1425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425" b="0">
                <a:solidFill>
                  <a:srgbClr val="292929"/>
                </a:solidFill>
              </a:defRPr>
            </a:pPr>
            <a:r>
              <a:rPr sz="1425" b="0">
                <a:solidFill>
                  <a:srgbClr val="292929"/>
                </a:solidFill>
              </a:rPr>
              <a:t>Общий test: медиана ошибки P = 0,2263%, E = 0,2454%. Максимумы — 21,67% и 19,71%; малая медиана не исключает локальных ошибок.</a:t>
            </a:r>
          </a:p>
        </p:txBody>
      </p:sp>
      <p:sp>
        <p:nvSpPr>
          <p:cNvPr id="7" name="page-number">
            <a:extLst>
              <a:ext uri="{FF2B5EF4-FFF2-40B4-BE49-F238E27FC236}">
                <a16:creationId xmlns:a16="http://schemas.microsoft.com/office/drawing/2014/main" id="{9B7B29E5-FADE-4AAB-A404-C10E3680D803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dirty="0"/>
              <a:t>2</a:t>
            </a:r>
            <a:r>
              <a:rPr lang="ru-RU" dirty="0"/>
              <a:t>4</a:t>
            </a:r>
            <a:endParaRPr sz="1350" b="0" dirty="0">
              <a:solidFill>
                <a:srgbClr val="2929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946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7451D-65DF-1BCC-A403-75290C23C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31BE9B8-9C21-F534-ED72-8A190AFAF4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6514500-A277-287C-34A6-0A7D8770A7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added-content">
            <a:extLst>
              <a:ext uri="{FF2B5EF4-FFF2-40B4-BE49-F238E27FC236}">
                <a16:creationId xmlns:a16="http://schemas.microsoft.com/office/drawing/2014/main" id="{C7042EF4-C2E8-261E-5055-3726878BB1C3}"/>
              </a:ext>
            </a:extLst>
          </p:cNvPr>
          <p:cNvSpPr>
            <a:spLocks noGrp="1"/>
          </p:cNvSpPr>
          <p:nvPr/>
        </p:nvSpPr>
        <p:spPr>
          <a:xfrm>
            <a:off x="360298" y="234308"/>
            <a:ext cx="7524750" cy="4121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292929"/>
                </a:solidFill>
              </a:defRPr>
            </a:defPPr>
            <a:lvl1pPr>
              <a:buNone/>
              <a:defRPr sz="2550" b="1">
                <a:solidFill>
                  <a:srgbClr val="292929"/>
                </a:solidFill>
              </a:defRPr>
            </a:lvl1pPr>
            <a:lvl2pPr>
              <a:buNone/>
              <a:defRPr sz="2550" b="1">
                <a:solidFill>
                  <a:srgbClr val="292929"/>
                </a:solidFill>
              </a:defRPr>
            </a:lvl2pPr>
            <a:lvl3pPr>
              <a:buNone/>
              <a:defRPr sz="2550" b="1">
                <a:solidFill>
                  <a:srgbClr val="292929"/>
                </a:solidFill>
              </a:defRPr>
            </a:lvl3pPr>
            <a:lvl4pPr>
              <a:buNone/>
              <a:defRPr sz="2550" b="1">
                <a:solidFill>
                  <a:srgbClr val="292929"/>
                </a:solidFill>
              </a:defRPr>
            </a:lvl4pPr>
            <a:lvl5pPr>
              <a:buNone/>
              <a:defRPr sz="2550" b="1">
                <a:solidFill>
                  <a:srgbClr val="292929"/>
                </a:solidFill>
              </a:defRPr>
            </a:lvl5pPr>
            <a:lvl6pPr>
              <a:buNone/>
              <a:defRPr sz="2550" b="1">
                <a:solidFill>
                  <a:srgbClr val="292929"/>
                </a:solidFill>
              </a:defRPr>
            </a:lvl6pPr>
            <a:lvl7pPr>
              <a:buNone/>
              <a:defRPr sz="2550" b="1">
                <a:solidFill>
                  <a:srgbClr val="292929"/>
                </a:solidFill>
              </a:defRPr>
            </a:lvl7pPr>
            <a:lvl8pPr>
              <a:buNone/>
              <a:defRPr sz="2550" b="1">
                <a:solidFill>
                  <a:srgbClr val="292929"/>
                </a:solidFill>
              </a:defRPr>
            </a:lvl8pPr>
            <a:lvl9pPr>
              <a:buNone/>
              <a:defRPr sz="2550" b="1">
                <a:solidFill>
                  <a:srgbClr val="292929"/>
                </a:solidFill>
              </a:defRPr>
            </a:lvl9pPr>
          </a:lstStyle>
          <a:p>
            <a:r>
              <a:rPr lang="ru-RU" dirty="0" err="1"/>
              <a:t>C</a:t>
            </a:r>
            <a:r>
              <a:rPr lang="ru-RU" dirty="0"/>
              <a:t> - оптимизация</a:t>
            </a:r>
          </a:p>
        </p:txBody>
      </p:sp>
      <p:sp>
        <p:nvSpPr>
          <p:cNvPr id="7" name="page-number">
            <a:extLst>
              <a:ext uri="{FF2B5EF4-FFF2-40B4-BE49-F238E27FC236}">
                <a16:creationId xmlns:a16="http://schemas.microsoft.com/office/drawing/2014/main" id="{D99EC89F-9DFB-1715-FFD9-7B66F68BCD81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dirty="0"/>
              <a:t>2</a:t>
            </a:r>
            <a:r>
              <a:rPr lang="ru-RU" dirty="0"/>
              <a:t>5</a:t>
            </a:r>
            <a:endParaRPr sz="1350" b="0" dirty="0">
              <a:solidFill>
                <a:srgbClr val="292929"/>
              </a:solidFill>
            </a:endParaRP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7D62849D-799D-19DA-9692-B2D7F482A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322718"/>
              </p:ext>
            </p:extLst>
          </p:nvPr>
        </p:nvGraphicFramePr>
        <p:xfrm>
          <a:off x="331305" y="712719"/>
          <a:ext cx="7717323" cy="3962400"/>
        </p:xfrm>
        <a:graphic>
          <a:graphicData uri="http://schemas.openxmlformats.org/drawingml/2006/table">
            <a:tbl>
              <a:tblPr firstRow="1" bandRow="1">
                <a:tableStyleId>{9C280C17-D1D7-412A-8E92-77597EBAD8E0}</a:tableStyleId>
              </a:tblPr>
              <a:tblGrid>
                <a:gridCol w="3763617">
                  <a:extLst>
                    <a:ext uri="{9D8B030D-6E8A-4147-A177-3AD203B41FA5}">
                      <a16:colId xmlns:a16="http://schemas.microsoft.com/office/drawing/2014/main" val="3840814687"/>
                    </a:ext>
                  </a:extLst>
                </a:gridCol>
                <a:gridCol w="1381265">
                  <a:extLst>
                    <a:ext uri="{9D8B030D-6E8A-4147-A177-3AD203B41FA5}">
                      <a16:colId xmlns:a16="http://schemas.microsoft.com/office/drawing/2014/main" val="320944812"/>
                    </a:ext>
                  </a:extLst>
                </a:gridCol>
                <a:gridCol w="2572441">
                  <a:extLst>
                    <a:ext uri="{9D8B030D-6E8A-4147-A177-3AD203B41FA5}">
                      <a16:colId xmlns:a16="http://schemas.microsoft.com/office/drawing/2014/main" val="395079355"/>
                    </a:ext>
                  </a:extLst>
                </a:gridCol>
              </a:tblGrid>
              <a:tr h="29535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b="1" dirty="0">
                          <a:effectLst/>
                        </a:rPr>
                        <a:t>модель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b="1">
                          <a:effectLst/>
                        </a:rPr>
                        <a:t>PINN 256×4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b="1" dirty="0">
                          <a:effectLst/>
                        </a:rPr>
                        <a:t>PINN SVD </a:t>
                      </a:r>
                      <a:r>
                        <a:rPr lang="ru-RU" b="1" dirty="0" err="1">
                          <a:effectLst/>
                        </a:rPr>
                        <a:t>r</a:t>
                      </a:r>
                      <a:r>
                        <a:rPr lang="ru-RU" b="1" dirty="0">
                          <a:effectLst/>
                        </a:rPr>
                        <a:t>=64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204787"/>
                  </a:ext>
                </a:extLst>
              </a:tr>
              <a:tr h="29535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b="1">
                          <a:effectLst/>
                        </a:rPr>
                        <a:t>файл весов C, МБ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0.75798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0.38303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608126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b="1">
                          <a:effectLst/>
                        </a:rPr>
                        <a:t>макс. отличие P от PyTorch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0.00001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dirty="0">
                          <a:effectLst/>
                        </a:rPr>
                        <a:t>0.00001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767507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b="1">
                          <a:effectLst/>
                        </a:rPr>
                        <a:t>ошибка P на test, медиана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0.22628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0.34150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834275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b="1">
                          <a:effectLst/>
                        </a:rPr>
                        <a:t>ошибка e на test, медиана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0.24539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0.45727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181236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b="1">
                          <a:effectLst/>
                        </a:rPr>
                        <a:t>10^5 запросов: PyTorch CPU, 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0.74643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0.65310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141550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b="1">
                          <a:effectLst/>
                        </a:rPr>
                        <a:t>10^5 запросов: ONNX Runtime, 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0.55166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0.40040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180310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b="1">
                          <a:effectLst/>
                        </a:rPr>
                        <a:t>10^5 запросов: C (из Python), 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1.53804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1.00129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123752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b="1">
                          <a:effectLst/>
                        </a:rPr>
                        <a:t>10^5 запросов: чистый C, 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1.61200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0.98600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301509"/>
                  </a:ext>
                </a:extLst>
              </a:tr>
              <a:tr h="295355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b="1">
                          <a:effectLst/>
                        </a:rPr>
                        <a:t>1 запрос: PyTorch, мкс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684.01757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628.52435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846977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b="1">
                          <a:effectLst/>
                        </a:rPr>
                        <a:t>1 запрос: ONNX Runtime, мкс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98.81140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78.45600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95156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b="1">
                          <a:effectLst/>
                        </a:rPr>
                        <a:t>1 запрос: C (из Python), мкс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41.97806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21.85355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535406"/>
                  </a:ext>
                </a:extLst>
              </a:tr>
              <a:tr h="304776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b="1">
                          <a:effectLst/>
                        </a:rPr>
                        <a:t>1 запрос: чистый C, мкс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effectLst/>
                        </a:rPr>
                        <a:t>34.19000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dirty="0">
                          <a:effectLst/>
                        </a:rPr>
                        <a:t>17.07000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7605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524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09AD7-E86A-B23D-78F7-64DFAF70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F7FE546-B94F-312A-2E1A-F33F982BFF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2D3721-01D9-0C08-969C-DA72057B54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added-content">
            <a:extLst>
              <a:ext uri="{FF2B5EF4-FFF2-40B4-BE49-F238E27FC236}">
                <a16:creationId xmlns:a16="http://schemas.microsoft.com/office/drawing/2014/main" id="{FA24D3B0-B60A-8F9B-1908-7FDCCBBBB917}"/>
              </a:ext>
            </a:extLst>
          </p:cNvPr>
          <p:cNvSpPr>
            <a:spLocks noGrp="1"/>
          </p:cNvSpPr>
          <p:nvPr/>
        </p:nvSpPr>
        <p:spPr>
          <a:xfrm>
            <a:off x="360298" y="234308"/>
            <a:ext cx="7524750" cy="4121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292929"/>
                </a:solidFill>
              </a:defRPr>
            </a:defPPr>
            <a:lvl1pPr>
              <a:buNone/>
              <a:defRPr sz="2550" b="1">
                <a:solidFill>
                  <a:srgbClr val="292929"/>
                </a:solidFill>
              </a:defRPr>
            </a:lvl1pPr>
            <a:lvl2pPr>
              <a:buNone/>
              <a:defRPr sz="2550" b="1">
                <a:solidFill>
                  <a:srgbClr val="292929"/>
                </a:solidFill>
              </a:defRPr>
            </a:lvl2pPr>
            <a:lvl3pPr>
              <a:buNone/>
              <a:defRPr sz="2550" b="1">
                <a:solidFill>
                  <a:srgbClr val="292929"/>
                </a:solidFill>
              </a:defRPr>
            </a:lvl3pPr>
            <a:lvl4pPr>
              <a:buNone/>
              <a:defRPr sz="2550" b="1">
                <a:solidFill>
                  <a:srgbClr val="292929"/>
                </a:solidFill>
              </a:defRPr>
            </a:lvl4pPr>
            <a:lvl5pPr>
              <a:buNone/>
              <a:defRPr sz="2550" b="1">
                <a:solidFill>
                  <a:srgbClr val="292929"/>
                </a:solidFill>
              </a:defRPr>
            </a:lvl5pPr>
            <a:lvl6pPr>
              <a:buNone/>
              <a:defRPr sz="2550" b="1">
                <a:solidFill>
                  <a:srgbClr val="292929"/>
                </a:solidFill>
              </a:defRPr>
            </a:lvl6pPr>
            <a:lvl7pPr>
              <a:buNone/>
              <a:defRPr sz="2550" b="1">
                <a:solidFill>
                  <a:srgbClr val="292929"/>
                </a:solidFill>
              </a:defRPr>
            </a:lvl7pPr>
            <a:lvl8pPr>
              <a:buNone/>
              <a:defRPr sz="2550" b="1">
                <a:solidFill>
                  <a:srgbClr val="292929"/>
                </a:solidFill>
              </a:defRPr>
            </a:lvl8pPr>
            <a:lvl9pPr>
              <a:buNone/>
              <a:defRPr sz="2550" b="1">
                <a:solidFill>
                  <a:srgbClr val="292929"/>
                </a:solidFill>
              </a:defRPr>
            </a:lvl9pPr>
          </a:lstStyle>
          <a:p>
            <a:r>
              <a:rPr lang="ru-RU" dirty="0" err="1"/>
              <a:t>C</a:t>
            </a:r>
            <a:r>
              <a:rPr lang="ru-RU" dirty="0"/>
              <a:t> - оптимизация</a:t>
            </a:r>
          </a:p>
        </p:txBody>
      </p:sp>
      <p:sp>
        <p:nvSpPr>
          <p:cNvPr id="7" name="page-number">
            <a:extLst>
              <a:ext uri="{FF2B5EF4-FFF2-40B4-BE49-F238E27FC236}">
                <a16:creationId xmlns:a16="http://schemas.microsoft.com/office/drawing/2014/main" id="{4E4759DF-CA71-7321-0F22-749F2E394844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dirty="0"/>
              <a:t>2</a:t>
            </a:r>
            <a:r>
              <a:rPr lang="ru-RU" dirty="0"/>
              <a:t>6</a:t>
            </a:r>
            <a:endParaRPr sz="1350" b="0" dirty="0">
              <a:solidFill>
                <a:srgbClr val="292929"/>
              </a:solidFill>
            </a:endParaRP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5F0C732-2872-913D-DF7D-C070C4B7B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12489"/>
              </p:ext>
            </p:extLst>
          </p:nvPr>
        </p:nvGraphicFramePr>
        <p:xfrm>
          <a:off x="132523" y="702781"/>
          <a:ext cx="5579165" cy="3764280"/>
        </p:xfrm>
        <a:graphic>
          <a:graphicData uri="http://schemas.openxmlformats.org/drawingml/2006/table">
            <a:tbl>
              <a:tblPr firstRow="1" bandRow="1">
                <a:tableStyleId>{9C280C17-D1D7-412A-8E92-77597EBAD8E0}</a:tableStyleId>
              </a:tblPr>
              <a:tblGrid>
                <a:gridCol w="2881505">
                  <a:extLst>
                    <a:ext uri="{9D8B030D-6E8A-4147-A177-3AD203B41FA5}">
                      <a16:colId xmlns:a16="http://schemas.microsoft.com/office/drawing/2014/main" val="3840814687"/>
                    </a:ext>
                  </a:extLst>
                </a:gridCol>
                <a:gridCol w="1320493">
                  <a:extLst>
                    <a:ext uri="{9D8B030D-6E8A-4147-A177-3AD203B41FA5}">
                      <a16:colId xmlns:a16="http://schemas.microsoft.com/office/drawing/2014/main" val="320944812"/>
                    </a:ext>
                  </a:extLst>
                </a:gridCol>
                <a:gridCol w="1377167">
                  <a:extLst>
                    <a:ext uri="{9D8B030D-6E8A-4147-A177-3AD203B41FA5}">
                      <a16:colId xmlns:a16="http://schemas.microsoft.com/office/drawing/2014/main" val="395079355"/>
                    </a:ext>
                  </a:extLst>
                </a:gridCol>
              </a:tblGrid>
              <a:tr h="26118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 b="1" dirty="0">
                          <a:effectLst/>
                        </a:rPr>
                        <a:t>модель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 b="1" dirty="0">
                          <a:effectLst/>
                        </a:rPr>
                        <a:t>PINN 256×4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 b="1" dirty="0">
                          <a:effectLst/>
                        </a:rPr>
                        <a:t>PINN SVD </a:t>
                      </a:r>
                      <a:r>
                        <a:rPr lang="ru-RU" sz="1300" b="1" dirty="0" err="1">
                          <a:effectLst/>
                        </a:rPr>
                        <a:t>r</a:t>
                      </a:r>
                      <a:r>
                        <a:rPr lang="ru-RU" sz="1300" b="1" dirty="0">
                          <a:effectLst/>
                        </a:rPr>
                        <a:t>=64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204787"/>
                  </a:ext>
                </a:extLst>
              </a:tr>
              <a:tr h="26118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sz="1300" b="1">
                          <a:effectLst/>
                        </a:rPr>
                        <a:t>файл весов C, МБ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>
                          <a:effectLst/>
                        </a:rPr>
                        <a:t>0.75798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>
                          <a:effectLst/>
                        </a:rPr>
                        <a:t>0.38303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608126"/>
                  </a:ext>
                </a:extLst>
              </a:tr>
              <a:tr h="26118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sz="1300" b="1">
                          <a:effectLst/>
                        </a:rPr>
                        <a:t>макс. отличие P от PyTorch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>
                          <a:effectLst/>
                        </a:rPr>
                        <a:t>0.00001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 dirty="0">
                          <a:effectLst/>
                        </a:rPr>
                        <a:t>0.00001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767507"/>
                  </a:ext>
                </a:extLst>
              </a:tr>
              <a:tr h="26118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sz="1300" b="1">
                          <a:effectLst/>
                        </a:rPr>
                        <a:t>ошибка P на test, медиана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>
                          <a:effectLst/>
                        </a:rPr>
                        <a:t>0.22628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 dirty="0">
                          <a:effectLst/>
                        </a:rPr>
                        <a:t>0.34150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3834275"/>
                  </a:ext>
                </a:extLst>
              </a:tr>
              <a:tr h="26118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sz="1300" b="1">
                          <a:effectLst/>
                        </a:rPr>
                        <a:t>ошибка e на test, медиана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>
                          <a:effectLst/>
                        </a:rPr>
                        <a:t>0.24539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>
                          <a:effectLst/>
                        </a:rPr>
                        <a:t>0.45727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181236"/>
                  </a:ext>
                </a:extLst>
              </a:tr>
              <a:tr h="26118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sz="1300" b="1" dirty="0">
                          <a:effectLst/>
                        </a:rPr>
                        <a:t>10^5 запросов: </a:t>
                      </a:r>
                      <a:r>
                        <a:rPr lang="ru-RU" sz="1300" b="1" dirty="0" err="1">
                          <a:effectLst/>
                        </a:rPr>
                        <a:t>PyTorch</a:t>
                      </a:r>
                      <a:r>
                        <a:rPr lang="ru-RU" sz="1300" b="1" dirty="0">
                          <a:effectLst/>
                        </a:rPr>
                        <a:t> CPU, 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 dirty="0">
                          <a:effectLst/>
                        </a:rPr>
                        <a:t>0.74643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>
                          <a:effectLst/>
                        </a:rPr>
                        <a:t>0.65310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141550"/>
                  </a:ext>
                </a:extLst>
              </a:tr>
              <a:tr h="26118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sz="1300" b="1">
                          <a:effectLst/>
                        </a:rPr>
                        <a:t>10^5 запросов: ONNX Runtime, 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>
                          <a:effectLst/>
                        </a:rPr>
                        <a:t>0.55166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 dirty="0">
                          <a:effectLst/>
                        </a:rPr>
                        <a:t>0.40040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180310"/>
                  </a:ext>
                </a:extLst>
              </a:tr>
              <a:tr h="26118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sz="1300" b="1">
                          <a:effectLst/>
                        </a:rPr>
                        <a:t>10^5 запросов: C (из Python), 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 dirty="0">
                          <a:effectLst/>
                        </a:rPr>
                        <a:t>1.53804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>
                          <a:effectLst/>
                        </a:rPr>
                        <a:t>1.00129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123752"/>
                  </a:ext>
                </a:extLst>
              </a:tr>
              <a:tr h="26118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sz="1300" b="1">
                          <a:effectLst/>
                        </a:rPr>
                        <a:t>10^5 запросов: чистый C, 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>
                          <a:effectLst/>
                        </a:rPr>
                        <a:t>1.61200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 dirty="0">
                          <a:effectLst/>
                        </a:rPr>
                        <a:t>0.98600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301509"/>
                  </a:ext>
                </a:extLst>
              </a:tr>
              <a:tr h="26118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sz="1300" b="1">
                          <a:effectLst/>
                        </a:rPr>
                        <a:t>1 запрос: PyTorch, мкс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>
                          <a:effectLst/>
                        </a:rPr>
                        <a:t>684.01757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 dirty="0">
                          <a:effectLst/>
                        </a:rPr>
                        <a:t>628.52435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846977"/>
                  </a:ext>
                </a:extLst>
              </a:tr>
              <a:tr h="26118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sz="1300" b="1">
                          <a:effectLst/>
                        </a:rPr>
                        <a:t>1 запрос: ONNX Runtime, мкс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 dirty="0">
                          <a:effectLst/>
                        </a:rPr>
                        <a:t>98.81140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 dirty="0">
                          <a:effectLst/>
                        </a:rPr>
                        <a:t>78.45600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95156"/>
                  </a:ext>
                </a:extLst>
              </a:tr>
              <a:tr h="26118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sz="1300" b="1">
                          <a:effectLst/>
                        </a:rPr>
                        <a:t>1 запрос: C (из Python), мкс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>
                          <a:effectLst/>
                        </a:rPr>
                        <a:t>41.97806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>
                          <a:effectLst/>
                        </a:rPr>
                        <a:t>21.85355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535406"/>
                  </a:ext>
                </a:extLst>
              </a:tr>
              <a:tr h="26118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ru-RU" sz="1300" b="1">
                          <a:effectLst/>
                        </a:rPr>
                        <a:t>1 запрос: чистый C, мкс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 dirty="0">
                          <a:effectLst/>
                        </a:rPr>
                        <a:t>34.19000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sz="1300" dirty="0">
                          <a:effectLst/>
                        </a:rPr>
                        <a:t>17.07000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76057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7924AA-D3CF-053E-DC12-94A07186109E}"/>
              </a:ext>
            </a:extLst>
          </p:cNvPr>
          <p:cNvSpPr txBox="1"/>
          <p:nvPr/>
        </p:nvSpPr>
        <p:spPr>
          <a:xfrm>
            <a:off x="5778363" y="619185"/>
            <a:ext cx="25796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/>
              <a:t>PINN 256×4</a:t>
            </a:r>
            <a:r>
              <a:rPr lang="ru-RU" sz="1800" dirty="0"/>
              <a:t>: один запрос - чистый </a:t>
            </a:r>
            <a:r>
              <a:rPr lang="ru-RU" sz="1800" dirty="0" err="1"/>
              <a:t>C</a:t>
            </a:r>
            <a:r>
              <a:rPr lang="ru-RU" sz="1800" dirty="0"/>
              <a:t> 34.2 мкс против </a:t>
            </a:r>
            <a:r>
              <a:rPr lang="ru-RU" sz="1800" dirty="0" err="1"/>
              <a:t>PyTorch</a:t>
            </a:r>
            <a:r>
              <a:rPr lang="ru-RU" sz="1800" dirty="0"/>
              <a:t> 684 мкс (×20) и ONNX 99 мкс (×2.9); точность совпадает с </a:t>
            </a:r>
            <a:r>
              <a:rPr lang="ru-RU" sz="1800" dirty="0" err="1"/>
              <a:t>PyTorch</a:t>
            </a:r>
            <a:r>
              <a:rPr lang="ru-RU" sz="1800" dirty="0"/>
              <a:t> до 5e-06</a:t>
            </a:r>
          </a:p>
          <a:p>
            <a:br>
              <a:rPr lang="ru-RU" sz="1800" dirty="0"/>
            </a:br>
            <a:r>
              <a:rPr lang="ru-RU" sz="1800" b="1" dirty="0"/>
              <a:t>PINN SVD </a:t>
            </a:r>
            <a:r>
              <a:rPr lang="ru-RU" sz="1800" b="1" dirty="0" err="1"/>
              <a:t>r</a:t>
            </a:r>
            <a:r>
              <a:rPr lang="ru-RU" sz="1800" b="1" dirty="0"/>
              <a:t>=64</a:t>
            </a:r>
            <a:r>
              <a:rPr lang="ru-RU" sz="1800" dirty="0"/>
              <a:t>: один запрос - чистый </a:t>
            </a:r>
            <a:r>
              <a:rPr lang="ru-RU" sz="1800" dirty="0" err="1"/>
              <a:t>C</a:t>
            </a:r>
            <a:r>
              <a:rPr lang="ru-RU" sz="1800" dirty="0"/>
              <a:t> 17.1 мкс против </a:t>
            </a:r>
            <a:r>
              <a:rPr lang="ru-RU" sz="1800" dirty="0" err="1"/>
              <a:t>PyTorch</a:t>
            </a:r>
            <a:r>
              <a:rPr lang="ru-RU" sz="1800" dirty="0"/>
              <a:t> 629 мкс (×37) и ONNX 78 мкс (×4.6); точность совпадает с </a:t>
            </a:r>
            <a:r>
              <a:rPr lang="ru-RU" sz="1800" dirty="0" err="1"/>
              <a:t>PyTorch</a:t>
            </a:r>
            <a:r>
              <a:rPr lang="ru-RU" sz="1800" dirty="0"/>
              <a:t> до 8e-06 </a:t>
            </a:r>
            <a:br>
              <a:rPr lang="ru-RU" sz="1800" dirty="0"/>
            </a:b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212052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7371E87-298F-4008-ABA3-3CBF0A6601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432CF2-C216-4B9F-AB4B-FDE0ADA394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page-number">
            <a:extLst>
              <a:ext uri="{FF2B5EF4-FFF2-40B4-BE49-F238E27FC236}">
                <a16:creationId xmlns:a16="http://schemas.microsoft.com/office/drawing/2014/main" id="{0BC4713D-04BF-4BC2-84C4-AFD47ACAB49B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sz="1350" b="0" dirty="0">
                <a:solidFill>
                  <a:srgbClr val="292929"/>
                </a:solidFill>
              </a:rPr>
              <a:t>2</a:t>
            </a:r>
            <a:r>
              <a:rPr lang="ru-RU" sz="1350" b="0" dirty="0">
                <a:solidFill>
                  <a:srgbClr val="292929"/>
                </a:solidFill>
              </a:rPr>
              <a:t>7</a:t>
            </a:r>
            <a:endParaRPr sz="1350" b="0" dirty="0">
              <a:solidFill>
                <a:srgbClr val="292929"/>
              </a:solidFill>
            </a:endParaRP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A87A81A3-64FF-4E32-B4DA-07E2B343AA61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929"/>
                </a:solidFill>
              </a:defRPr>
            </a:defPPr>
            <a:lvl1pPr>
              <a:buNone/>
              <a:defRPr sz="2700" b="1">
                <a:solidFill>
                  <a:srgbClr val="292929"/>
                </a:solidFill>
              </a:defRPr>
            </a:lvl1pPr>
            <a:lvl2pPr>
              <a:buNone/>
              <a:defRPr sz="2700" b="1">
                <a:solidFill>
                  <a:srgbClr val="292929"/>
                </a:solidFill>
              </a:defRPr>
            </a:lvl2pPr>
            <a:lvl3pPr>
              <a:buNone/>
              <a:defRPr sz="2700" b="1">
                <a:solidFill>
                  <a:srgbClr val="292929"/>
                </a:solidFill>
              </a:defRPr>
            </a:lvl3pPr>
            <a:lvl4pPr>
              <a:buNone/>
              <a:defRPr sz="2700" b="1">
                <a:solidFill>
                  <a:srgbClr val="292929"/>
                </a:solidFill>
              </a:defRPr>
            </a:lvl4pPr>
            <a:lvl5pPr>
              <a:buNone/>
              <a:defRPr sz="2700" b="1">
                <a:solidFill>
                  <a:srgbClr val="292929"/>
                </a:solidFill>
              </a:defRPr>
            </a:lvl5pPr>
            <a:lvl6pPr>
              <a:buNone/>
              <a:defRPr sz="2700" b="1">
                <a:solidFill>
                  <a:srgbClr val="292929"/>
                </a:solidFill>
              </a:defRPr>
            </a:lvl6pPr>
            <a:lvl7pPr>
              <a:buNone/>
              <a:defRPr sz="2700" b="1">
                <a:solidFill>
                  <a:srgbClr val="292929"/>
                </a:solidFill>
              </a:defRPr>
            </a:lvl7pPr>
            <a:lvl8pPr>
              <a:buNone/>
              <a:defRPr sz="2700" b="1">
                <a:solidFill>
                  <a:srgbClr val="292929"/>
                </a:solidFill>
              </a:defRPr>
            </a:lvl8pPr>
            <a:lvl9pPr>
              <a:buNone/>
              <a:defRPr sz="27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700" b="1">
                <a:solidFill>
                  <a:srgbClr val="292929"/>
                </a:solidFill>
              </a:defRPr>
            </a:pPr>
            <a:r>
              <a:rPr sz="2700" b="1">
                <a:solidFill>
                  <a:srgbClr val="292929"/>
                </a:solidFill>
              </a:rPr>
              <a:t>Сравнение </a:t>
            </a:r>
            <a:r>
              <a:t>моделей</a:t>
            </a:r>
            <a:endParaRPr sz="2700" b="1">
              <a:solidFill>
                <a:srgbClr val="292929"/>
              </a:solidFill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3453243-93FD-4EC9-A865-8D971745EE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1901249"/>
              </p:ext>
            </p:extLst>
          </p:nvPr>
        </p:nvGraphicFramePr>
        <p:xfrm>
          <a:off x="386508" y="1178199"/>
          <a:ext cx="7900242" cy="3108960"/>
        </p:xfrm>
        <a:graphic>
          <a:graphicData uri="http://schemas.openxmlformats.org/drawingml/2006/table">
            <a:tbl>
              <a:tblPr/>
              <a:tblGrid>
                <a:gridCol w="2135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0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58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7621">
                  <a:extLst>
                    <a:ext uri="{9D8B030D-6E8A-4147-A177-3AD203B41FA5}">
                      <a16:colId xmlns:a16="http://schemas.microsoft.com/office/drawing/2014/main" val="3198130304"/>
                    </a:ext>
                  </a:extLst>
                </a:gridCol>
                <a:gridCol w="1494001">
                  <a:extLst>
                    <a:ext uri="{9D8B030D-6E8A-4147-A177-3AD203B41FA5}">
                      <a16:colId xmlns:a16="http://schemas.microsoft.com/office/drawing/2014/main" val="3037216451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Метрика</a:t>
                      </a:r>
                    </a:p>
                  </a:txBody>
                  <a:tcPr anchor="ctr">
                    <a:lnL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>
                      <a:solidFill>
                        <a:srgbClr val="B1C9D3"/>
                      </a:solidFill>
                      <a:prstDash val="soli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Baseline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B1C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Vanilla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B1C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PINN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B1C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PINN float16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B1C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SVD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>
                      <a:solidFill>
                        <a:srgbClr val="B1C9D3"/>
                      </a:solidFill>
                      <a:prstDash val="soli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9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C-оптимизация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>
                      <a:solidFill>
                        <a:srgbClr val="B1C9D3"/>
                      </a:solidFill>
                      <a:prstDash val="soli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9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Медиана ошибки P, 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0,0005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1,026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0,226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0,231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0,333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0,226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99-й перцентиль P, 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0,0443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9,800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2,591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2,589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2,533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-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Медиана ошибки E, 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0,0040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1,158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0,245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0,253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0,399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0,245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99-й перцентиль E, 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0,1683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27,84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3,168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3,158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3,381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-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Нарушения ∂P/∂ρ ≤ 0, 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0,0473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4,841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-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Нарушения ∂E/∂T &lt; 0, 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0,4572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10,69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-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Размер, МБ</a:t>
                      </a:r>
                    </a:p>
                  </a:txBody>
                  <a:tcPr anchor="ctr">
                    <a:lnL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34,49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0,762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0,762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0,383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 cmpd="sng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0,196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0,758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Время 10⁵ запросов, GPU, с</a:t>
                      </a:r>
                    </a:p>
                  </a:txBody>
                  <a:tcPr anchor="ctr">
                    <a:lnL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-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0,0234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0,0225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0,0225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0,0162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-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Время 10⁵ запросов, CPU, с</a:t>
                      </a:r>
                    </a:p>
                  </a:txBody>
                  <a:tcPr anchor="ctr">
                    <a:lnL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0,0667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-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0,776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mpd="sng">
                      <a:solidFill>
                        <a:srgbClr val="B1C9D3"/>
                      </a:solidFill>
                      <a:prstDash val="soli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0,776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mpd="sng">
                      <a:solidFill>
                        <a:srgbClr val="B1C9D3"/>
                      </a:solidFill>
                      <a:prstDash val="soli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0,738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1,612</a:t>
                      </a:r>
                    </a:p>
                  </a:txBody>
                  <a:tcPr anchor="ctr">
                    <a:lnL w="6668" cmpd="sng">
                      <a:solidFill>
                        <a:srgbClr val="B1C9D3"/>
                      </a:solidFill>
                      <a:prstDash val="solid"/>
                    </a:lnL>
                    <a:lnR w="6668">
                      <a:solidFill>
                        <a:srgbClr val="B1C9D3"/>
                      </a:solidFill>
                      <a:prstDash val="solid"/>
                    </a:lnR>
                    <a:lnT w="6668" cap="flat" cmpd="sng" algn="ctr">
                      <a:solidFill>
                        <a:srgbClr val="B1C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B1C9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5884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6F22122-E4BC-4270-A655-3BB2EAA417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8048625" y="4298712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E17911-F5A9-4C35-985B-3CD99E5D0B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added-content">
            <a:extLst>
              <a:ext uri="{FF2B5EF4-FFF2-40B4-BE49-F238E27FC236}">
                <a16:creationId xmlns:a16="http://schemas.microsoft.com/office/drawing/2014/main" id="{BE4E3CE7-C086-46A6-8728-29F428E46459}"/>
              </a:ext>
            </a:extLst>
          </p:cNvPr>
          <p:cNvSpPr>
            <a:spLocks noGrp="1"/>
          </p:cNvSpPr>
          <p:nvPr/>
        </p:nvSpPr>
        <p:spPr>
          <a:xfrm>
            <a:off x="619125" y="161302"/>
            <a:ext cx="752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292929"/>
                </a:solidFill>
              </a:defRPr>
            </a:defPPr>
            <a:lvl1pPr>
              <a:buNone/>
              <a:defRPr sz="2550" b="1">
                <a:solidFill>
                  <a:srgbClr val="292929"/>
                </a:solidFill>
              </a:defRPr>
            </a:lvl1pPr>
            <a:lvl2pPr>
              <a:buNone/>
              <a:defRPr sz="2550" b="1">
                <a:solidFill>
                  <a:srgbClr val="292929"/>
                </a:solidFill>
              </a:defRPr>
            </a:lvl2pPr>
            <a:lvl3pPr>
              <a:buNone/>
              <a:defRPr sz="2550" b="1">
                <a:solidFill>
                  <a:srgbClr val="292929"/>
                </a:solidFill>
              </a:defRPr>
            </a:lvl3pPr>
            <a:lvl4pPr>
              <a:buNone/>
              <a:defRPr sz="2550" b="1">
                <a:solidFill>
                  <a:srgbClr val="292929"/>
                </a:solidFill>
              </a:defRPr>
            </a:lvl4pPr>
            <a:lvl5pPr>
              <a:buNone/>
              <a:defRPr sz="2550" b="1">
                <a:solidFill>
                  <a:srgbClr val="292929"/>
                </a:solidFill>
              </a:defRPr>
            </a:lvl5pPr>
            <a:lvl6pPr>
              <a:buNone/>
              <a:defRPr sz="2550" b="1">
                <a:solidFill>
                  <a:srgbClr val="292929"/>
                </a:solidFill>
              </a:defRPr>
            </a:lvl6pPr>
            <a:lvl7pPr>
              <a:buNone/>
              <a:defRPr sz="2550" b="1">
                <a:solidFill>
                  <a:srgbClr val="292929"/>
                </a:solidFill>
              </a:defRPr>
            </a:lvl7pPr>
            <a:lvl8pPr>
              <a:buNone/>
              <a:defRPr sz="2550" b="1">
                <a:solidFill>
                  <a:srgbClr val="292929"/>
                </a:solidFill>
              </a:defRPr>
            </a:lvl8pPr>
            <a:lvl9pPr>
              <a:buNone/>
              <a:defRPr sz="255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550" b="1">
                <a:solidFill>
                  <a:srgbClr val="292929"/>
                </a:solidFill>
              </a:defRPr>
            </a:pPr>
            <a:r>
              <a:rPr sz="2550" b="1" dirty="0" err="1">
                <a:solidFill>
                  <a:srgbClr val="292929"/>
                </a:solidFill>
              </a:rPr>
              <a:t>Оптимизация</a:t>
            </a:r>
            <a:r>
              <a:rPr sz="2550" b="1" dirty="0">
                <a:solidFill>
                  <a:srgbClr val="292929"/>
                </a:solidFill>
              </a:rPr>
              <a:t>: </a:t>
            </a:r>
            <a:r>
              <a:rPr sz="2550" b="1" dirty="0" err="1">
                <a:solidFill>
                  <a:srgbClr val="292929"/>
                </a:solidFill>
              </a:rPr>
              <a:t>размер</a:t>
            </a:r>
            <a:r>
              <a:rPr sz="2550" b="1" dirty="0">
                <a:solidFill>
                  <a:srgbClr val="292929"/>
                </a:solidFill>
              </a:rPr>
              <a:t>, CPU </a:t>
            </a:r>
            <a:r>
              <a:rPr sz="2550" b="1" dirty="0" err="1">
                <a:solidFill>
                  <a:srgbClr val="292929"/>
                </a:solidFill>
              </a:rPr>
              <a:t>и</a:t>
            </a:r>
            <a:r>
              <a:rPr sz="2550" b="1" dirty="0">
                <a:solidFill>
                  <a:srgbClr val="292929"/>
                </a:solidFill>
              </a:rPr>
              <a:t> </a:t>
            </a:r>
            <a:r>
              <a:rPr sz="2550" b="1" dirty="0" err="1">
                <a:solidFill>
                  <a:srgbClr val="292929"/>
                </a:solidFill>
              </a:rPr>
              <a:t>точность</a:t>
            </a:r>
            <a:endParaRPr sz="2550" b="1" dirty="0">
              <a:solidFill>
                <a:srgbClr val="292929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532704-F41F-4333-9994-D925D9833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38125" y="557434"/>
            <a:ext cx="7810500" cy="2175076"/>
          </a:xfrm>
          <a:prstGeom prst="rect">
            <a:avLst/>
          </a:prstGeom>
        </p:spPr>
      </p:pic>
      <p:sp>
        <p:nvSpPr>
          <p:cNvPr id="7" name="page-number">
            <a:extLst>
              <a:ext uri="{FF2B5EF4-FFF2-40B4-BE49-F238E27FC236}">
                <a16:creationId xmlns:a16="http://schemas.microsoft.com/office/drawing/2014/main" id="{9B7B29E5-FADE-4AAB-A404-C10E3680D803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t>31</a:t>
            </a:r>
            <a:endParaRPr sz="1350" b="0">
              <a:solidFill>
                <a:srgbClr val="292929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576F64-03C1-D937-8C37-E6014992CB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" r="573" b="4055"/>
          <a:stretch>
            <a:fillRect/>
          </a:stretch>
        </p:blipFill>
        <p:spPr>
          <a:xfrm>
            <a:off x="276225" y="2709321"/>
            <a:ext cx="7727823" cy="233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52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329A28-2F2E-48CF-A843-7CA3DB42DA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E6CD0D-F03B-4622-A138-8D83BC0DD9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sp>
        <p:nvSpPr>
          <p:cNvPr id="4" name="page-number">
            <a:extLst>
              <a:ext uri="{FF2B5EF4-FFF2-40B4-BE49-F238E27FC236}">
                <a16:creationId xmlns:a16="http://schemas.microsoft.com/office/drawing/2014/main" id="{D8831215-6B9F-4C2C-8D42-09DFF5759B1F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lang="ru-RU" dirty="0"/>
              <a:t>29</a:t>
            </a:r>
            <a:endParaRPr sz="1350" b="0" dirty="0">
              <a:solidFill>
                <a:srgbClr val="292929"/>
              </a:solidFill>
            </a:endParaRPr>
          </a:p>
        </p:txBody>
      </p:sp>
      <p:sp>
        <p:nvSpPr>
          <p:cNvPr id="5" name="content">
            <a:extLst>
              <a:ext uri="{FF2B5EF4-FFF2-40B4-BE49-F238E27FC236}">
                <a16:creationId xmlns:a16="http://schemas.microsoft.com/office/drawing/2014/main" id="{D3CF2AB8-34F3-4AAA-95F3-2E3DEEFD2F33}"/>
              </a:ext>
            </a:extLst>
          </p:cNvPr>
          <p:cNvSpPr>
            <a:spLocks noGrp="1"/>
          </p:cNvSpPr>
          <p:nvPr/>
        </p:nvSpPr>
        <p:spPr>
          <a:xfrm>
            <a:off x="762000" y="590550"/>
            <a:ext cx="7524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700" b="1">
                <a:solidFill>
                  <a:srgbClr val="292929"/>
                </a:solidFill>
              </a:defRPr>
            </a:defPPr>
            <a:lvl1pPr>
              <a:buNone/>
              <a:defRPr sz="2700" b="1">
                <a:solidFill>
                  <a:srgbClr val="292929"/>
                </a:solidFill>
              </a:defRPr>
            </a:lvl1pPr>
            <a:lvl2pPr>
              <a:buNone/>
              <a:defRPr sz="2700" b="1">
                <a:solidFill>
                  <a:srgbClr val="292929"/>
                </a:solidFill>
              </a:defRPr>
            </a:lvl2pPr>
            <a:lvl3pPr>
              <a:buNone/>
              <a:defRPr sz="2700" b="1">
                <a:solidFill>
                  <a:srgbClr val="292929"/>
                </a:solidFill>
              </a:defRPr>
            </a:lvl3pPr>
            <a:lvl4pPr>
              <a:buNone/>
              <a:defRPr sz="2700" b="1">
                <a:solidFill>
                  <a:srgbClr val="292929"/>
                </a:solidFill>
              </a:defRPr>
            </a:lvl4pPr>
            <a:lvl5pPr>
              <a:buNone/>
              <a:defRPr sz="2700" b="1">
                <a:solidFill>
                  <a:srgbClr val="292929"/>
                </a:solidFill>
              </a:defRPr>
            </a:lvl5pPr>
            <a:lvl6pPr>
              <a:buNone/>
              <a:defRPr sz="2700" b="1">
                <a:solidFill>
                  <a:srgbClr val="292929"/>
                </a:solidFill>
              </a:defRPr>
            </a:lvl6pPr>
            <a:lvl7pPr>
              <a:buNone/>
              <a:defRPr sz="2700" b="1">
                <a:solidFill>
                  <a:srgbClr val="292929"/>
                </a:solidFill>
              </a:defRPr>
            </a:lvl7pPr>
            <a:lvl8pPr>
              <a:buNone/>
              <a:defRPr sz="2700" b="1">
                <a:solidFill>
                  <a:srgbClr val="292929"/>
                </a:solidFill>
              </a:defRPr>
            </a:lvl8pPr>
            <a:lvl9pPr>
              <a:buNone/>
              <a:defRPr sz="270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700" b="1">
                <a:solidFill>
                  <a:srgbClr val="292929"/>
                </a:solidFill>
              </a:defRPr>
            </a:pPr>
            <a:r>
              <a:rPr sz="2700" b="1">
                <a:solidFill>
                  <a:srgbClr val="292929"/>
                </a:solidFill>
              </a:rPr>
              <a:t>Выводы</a:t>
            </a:r>
          </a:p>
        </p:txBody>
      </p:sp>
      <p:sp>
        <p:nvSpPr>
          <p:cNvPr id="6" name="concl-card-1">
            <a:extLst>
              <a:ext uri="{FF2B5EF4-FFF2-40B4-BE49-F238E27FC236}">
                <a16:creationId xmlns:a16="http://schemas.microsoft.com/office/drawing/2014/main" id="{7FCC4BE6-9A59-4954-B8E7-155DBA5E7F77}"/>
              </a:ext>
            </a:extLst>
          </p:cNvPr>
          <p:cNvSpPr>
            <a:spLocks noGrp="1"/>
          </p:cNvSpPr>
          <p:nvPr/>
        </p:nvSpPr>
        <p:spPr>
          <a:xfrm>
            <a:off x="857250" y="1340000"/>
            <a:ext cx="2298000" cy="1800000"/>
          </a:xfrm>
          <a:prstGeom prst="roundRect">
            <a:avLst>
              <a:gd name="adj" fmla="val 6000"/>
            </a:avLst>
          </a:prstGeom>
          <a:solidFill>
            <a:srgbClr val="EEF3F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concl-text-1">
            <a:extLst>
              <a:ext uri="{FF2B5EF4-FFF2-40B4-BE49-F238E27FC236}">
                <a16:creationId xmlns:a16="http://schemas.microsoft.com/office/drawing/2014/main" id="{F3501DD4-E77A-4FBF-BDB1-C5653A2A71EF}"/>
              </a:ext>
            </a:extLst>
          </p:cNvPr>
          <p:cNvSpPr>
            <a:spLocks noGrp="1"/>
          </p:cNvSpPr>
          <p:nvPr/>
        </p:nvSpPr>
        <p:spPr>
          <a:xfrm>
            <a:off x="977250" y="1460000"/>
            <a:ext cx="2058000" cy="1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3D6375"/>
                </a:solidFill>
              </a:rPr>
              <a:t>Baseline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92929"/>
                </a:solidFill>
              </a:rPr>
              <a:t>Точнее всех: медиана ошибки P 0,0005%. Но хранит всю таблицу (34,5 МБ), а производные разрывны на границах ячеек.</a:t>
            </a:r>
          </a:p>
        </p:txBody>
      </p:sp>
      <p:sp>
        <p:nvSpPr>
          <p:cNvPr id="8" name="concl-card-2">
            <a:extLst>
              <a:ext uri="{FF2B5EF4-FFF2-40B4-BE49-F238E27FC236}">
                <a16:creationId xmlns:a16="http://schemas.microsoft.com/office/drawing/2014/main" id="{6836BA9B-BCE1-457E-8181-9469A32AFD80}"/>
              </a:ext>
            </a:extLst>
          </p:cNvPr>
          <p:cNvSpPr>
            <a:spLocks noGrp="1"/>
          </p:cNvSpPr>
          <p:nvPr/>
        </p:nvSpPr>
        <p:spPr>
          <a:xfrm>
            <a:off x="3344625" y="1340000"/>
            <a:ext cx="2298000" cy="1800000"/>
          </a:xfrm>
          <a:prstGeom prst="roundRect">
            <a:avLst>
              <a:gd name="adj" fmla="val 6000"/>
            </a:avLst>
          </a:prstGeom>
          <a:solidFill>
            <a:srgbClr val="EEF3F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concl-text-2">
            <a:extLst>
              <a:ext uri="{FF2B5EF4-FFF2-40B4-BE49-F238E27FC236}">
                <a16:creationId xmlns:a16="http://schemas.microsoft.com/office/drawing/2014/main" id="{52811D8C-58B6-4D7E-8BEE-9E48867580B9}"/>
              </a:ext>
            </a:extLst>
          </p:cNvPr>
          <p:cNvSpPr>
            <a:spLocks noGrp="1"/>
          </p:cNvSpPr>
          <p:nvPr/>
        </p:nvSpPr>
        <p:spPr>
          <a:xfrm>
            <a:off x="3464625" y="1460000"/>
            <a:ext cx="2058000" cy="1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3D6375"/>
                </a:solidFill>
              </a:rPr>
              <a:t>Vanilla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rgbClr val="292929"/>
                </a:solidFill>
              </a:rPr>
              <a:t>0,76 МБ и в 3 раза быстрее baseline на GPU, но точность 1,03% по P и нарушения устойчивости в 4,8% и 10,7% точек.</a:t>
            </a:r>
          </a:p>
        </p:txBody>
      </p:sp>
      <p:sp>
        <p:nvSpPr>
          <p:cNvPr id="10" name="concl-card-3">
            <a:extLst>
              <a:ext uri="{FF2B5EF4-FFF2-40B4-BE49-F238E27FC236}">
                <a16:creationId xmlns:a16="http://schemas.microsoft.com/office/drawing/2014/main" id="{B0BDC016-D691-4556-AA52-1C5928AD66B9}"/>
              </a:ext>
            </a:extLst>
          </p:cNvPr>
          <p:cNvSpPr>
            <a:spLocks noGrp="1"/>
          </p:cNvSpPr>
          <p:nvPr/>
        </p:nvSpPr>
        <p:spPr>
          <a:xfrm>
            <a:off x="5832000" y="1340000"/>
            <a:ext cx="2298000" cy="1800000"/>
          </a:xfrm>
          <a:prstGeom prst="roundRect">
            <a:avLst>
              <a:gd name="adj" fmla="val 6000"/>
            </a:avLst>
          </a:prstGeom>
          <a:solidFill>
            <a:srgbClr val="EEF3F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concl-text-3">
            <a:extLst>
              <a:ext uri="{FF2B5EF4-FFF2-40B4-BE49-F238E27FC236}">
                <a16:creationId xmlns:a16="http://schemas.microsoft.com/office/drawing/2014/main" id="{82144373-D434-40DA-BF96-5B89E0E125C5}"/>
              </a:ext>
            </a:extLst>
          </p:cNvPr>
          <p:cNvSpPr>
            <a:spLocks noGrp="1"/>
          </p:cNvSpPr>
          <p:nvPr/>
        </p:nvSpPr>
        <p:spPr>
          <a:xfrm>
            <a:off x="5952000" y="1460000"/>
            <a:ext cx="2058000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1" i="0" dirty="0">
                <a:solidFill>
                  <a:srgbClr val="3D6375"/>
                </a:solidFill>
              </a:rPr>
              <a:t>PINN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 dirty="0">
                <a:solidFill>
                  <a:srgbClr val="292929"/>
                </a:solidFill>
              </a:rPr>
              <a:t>Медиана </a:t>
            </a:r>
            <a:r>
              <a:rPr sz="1300" b="0" i="0" dirty="0" err="1">
                <a:solidFill>
                  <a:srgbClr val="292929"/>
                </a:solidFill>
              </a:rPr>
              <a:t>ошибки</a:t>
            </a:r>
            <a:r>
              <a:rPr sz="1300" b="0" i="0" dirty="0">
                <a:solidFill>
                  <a:srgbClr val="292929"/>
                </a:solidFill>
              </a:rPr>
              <a:t> P 0,23%, E 0,25%; </a:t>
            </a:r>
            <a:r>
              <a:rPr sz="1300" b="0" i="0" dirty="0" err="1">
                <a:solidFill>
                  <a:srgbClr val="292929"/>
                </a:solidFill>
              </a:rPr>
              <a:t>нарушений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устойчивости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нет</a:t>
            </a:r>
            <a:r>
              <a:rPr sz="1300" b="0" i="0" dirty="0">
                <a:solidFill>
                  <a:srgbClr val="292929"/>
                </a:solidFill>
              </a:rPr>
              <a:t>. </a:t>
            </a:r>
            <a:r>
              <a:rPr sz="1300" b="0" i="0" dirty="0" err="1">
                <a:solidFill>
                  <a:srgbClr val="292929"/>
                </a:solidFill>
              </a:rPr>
              <a:t>В</a:t>
            </a:r>
            <a:r>
              <a:rPr sz="1300" b="0" i="0" dirty="0">
                <a:solidFill>
                  <a:srgbClr val="292929"/>
                </a:solidFill>
              </a:rPr>
              <a:t> float16 </a:t>
            </a:r>
            <a:r>
              <a:rPr lang="en-US" sz="1300" b="0" i="0" dirty="0">
                <a:solidFill>
                  <a:srgbClr val="292929"/>
                </a:solidFill>
              </a:rPr>
              <a:t>-</a:t>
            </a:r>
            <a:r>
              <a:rPr sz="1300" b="0" i="0" dirty="0">
                <a:solidFill>
                  <a:srgbClr val="292929"/>
                </a:solidFill>
              </a:rPr>
              <a:t> 0,38 МБ </a:t>
            </a:r>
            <a:r>
              <a:rPr sz="1300" b="0" i="0" dirty="0" err="1">
                <a:solidFill>
                  <a:srgbClr val="292929"/>
                </a:solidFill>
              </a:rPr>
              <a:t>без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потери</a:t>
            </a:r>
            <a:r>
              <a:rPr sz="1300" b="0" i="0" dirty="0">
                <a:solidFill>
                  <a:srgbClr val="292929"/>
                </a:solidFill>
              </a:rPr>
              <a:t> </a:t>
            </a:r>
            <a:r>
              <a:rPr sz="1300" b="0" i="0" dirty="0" err="1">
                <a:solidFill>
                  <a:srgbClr val="292929"/>
                </a:solidFill>
              </a:rPr>
              <a:t>точности</a:t>
            </a:r>
            <a:r>
              <a:rPr sz="1300" b="0" i="0" dirty="0">
                <a:solidFill>
                  <a:srgbClr val="292929"/>
                </a:solidFill>
              </a:rPr>
              <a:t>.</a:t>
            </a:r>
          </a:p>
        </p:txBody>
      </p:sp>
      <p:sp>
        <p:nvSpPr>
          <p:cNvPr id="12" name="finding-card">
            <a:extLst>
              <a:ext uri="{FF2B5EF4-FFF2-40B4-BE49-F238E27FC236}">
                <a16:creationId xmlns:a16="http://schemas.microsoft.com/office/drawing/2014/main" id="{7FC48962-FA64-493D-916E-E40D865620FB}"/>
              </a:ext>
            </a:extLst>
          </p:cNvPr>
          <p:cNvSpPr>
            <a:spLocks noGrp="1"/>
          </p:cNvSpPr>
          <p:nvPr/>
        </p:nvSpPr>
        <p:spPr>
          <a:xfrm>
            <a:off x="857250" y="3330000"/>
            <a:ext cx="7272750" cy="950000"/>
          </a:xfrm>
          <a:prstGeom prst="roundRect">
            <a:avLst>
              <a:gd name="adj" fmla="val 6000"/>
            </a:avLst>
          </a:prstGeom>
          <a:solidFill>
            <a:srgbClr val="B1C9D3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finding-text">
            <a:extLst>
              <a:ext uri="{FF2B5EF4-FFF2-40B4-BE49-F238E27FC236}">
                <a16:creationId xmlns:a16="http://schemas.microsoft.com/office/drawing/2014/main" id="{0A5AC0B6-BEB0-4EAF-A1D8-B15B41511485}"/>
              </a:ext>
            </a:extLst>
          </p:cNvPr>
          <p:cNvSpPr>
            <a:spLocks noGrp="1"/>
          </p:cNvSpPr>
          <p:nvPr/>
        </p:nvSpPr>
        <p:spPr>
          <a:xfrm>
            <a:off x="1007250" y="3330000"/>
            <a:ext cx="6972750" cy="9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292929"/>
                </a:solidFill>
              </a:rPr>
              <a:t>Главная находка. </a:t>
            </a:r>
            <a:r>
              <a:rPr sz="1300" b="0" i="0">
                <a:solidFill>
                  <a:srgbClr val="292929"/>
                </a:solidFill>
              </a:rPr>
              <a:t>Исходная таблица сама нарушает согласованность (отношение ≈ 0,5) и содержит скачок при T ≈ 142 K. Это ограничивает точность любой гладкой модели и определило выбор штрафов PINN.</a:t>
            </a:r>
          </a:p>
        </p:txBody>
      </p:sp>
    </p:spTree>
    <p:extLst>
      <p:ext uri="{BB962C8B-B14F-4D97-AF65-F5344CB8AC3E}">
        <p14:creationId xmlns:p14="http://schemas.microsoft.com/office/powerpoint/2010/main" val="2336263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DFC3482-E405-43DA-98A6-307BBE1F69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945" t="7229" r="33206" b="27655"/>
          <a:stretch>
            <a:fillRect/>
          </a:stretch>
        </p:blipFill>
        <p:spPr>
          <a:xfrm>
            <a:off x="7620000" y="4686300"/>
            <a:ext cx="361950" cy="3619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EE590E-50F1-448F-8776-AC8D165696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5354"/>
          <a:stretch>
            <a:fillRect/>
          </a:stretch>
        </p:blipFill>
        <p:spPr>
          <a:xfrm>
            <a:off x="8048625" y="4686300"/>
            <a:ext cx="361950" cy="361950"/>
          </a:xfrm>
          <a:prstGeom prst="rect">
            <a:avLst/>
          </a:prstGeom>
        </p:spPr>
      </p:pic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A3FA4290-2FD4-46CF-9CA1-83B8A52E19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0491"/>
          <a:stretch>
            <a:fillRect/>
          </a:stretch>
        </p:blipFill>
        <p:spPr>
          <a:xfrm>
            <a:off x="5726766" y="1325095"/>
            <a:ext cx="2683809" cy="2683809"/>
          </a:xfrm>
          <a:prstGeom prst="rect">
            <a:avLst/>
          </a:prstGeom>
        </p:spPr>
      </p:pic>
      <p:sp>
        <p:nvSpPr>
          <p:cNvPr id="5" name="page-number">
            <a:extLst>
              <a:ext uri="{FF2B5EF4-FFF2-40B4-BE49-F238E27FC236}">
                <a16:creationId xmlns:a16="http://schemas.microsoft.com/office/drawing/2014/main" id="{91921EE6-112F-469D-83DE-102593C8B2E2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85750" cy="257175"/>
          </a:xfrm>
          <a:prstGeom prst="rect">
            <a:avLst/>
          </a:prstGeom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1350" b="0">
                <a:solidFill>
                  <a:srgbClr val="292929"/>
                </a:solidFill>
              </a:defRPr>
            </a:defPPr>
            <a:lvl1pPr>
              <a:buNone/>
              <a:defRPr sz="1350" b="0">
                <a:solidFill>
                  <a:srgbClr val="292929"/>
                </a:solidFill>
              </a:defRPr>
            </a:lvl1pPr>
            <a:lvl2pPr>
              <a:buNone/>
              <a:defRPr sz="1350" b="0">
                <a:solidFill>
                  <a:srgbClr val="292929"/>
                </a:solidFill>
              </a:defRPr>
            </a:lvl2pPr>
            <a:lvl3pPr>
              <a:buNone/>
              <a:defRPr sz="1350" b="0">
                <a:solidFill>
                  <a:srgbClr val="292929"/>
                </a:solidFill>
              </a:defRPr>
            </a:lvl3pPr>
            <a:lvl4pPr>
              <a:buNone/>
              <a:defRPr sz="1350" b="0">
                <a:solidFill>
                  <a:srgbClr val="292929"/>
                </a:solidFill>
              </a:defRPr>
            </a:lvl4pPr>
            <a:lvl5pPr>
              <a:buNone/>
              <a:defRPr sz="1350" b="0">
                <a:solidFill>
                  <a:srgbClr val="292929"/>
                </a:solidFill>
              </a:defRPr>
            </a:lvl5pPr>
            <a:lvl6pPr>
              <a:buNone/>
              <a:defRPr sz="1350" b="0">
                <a:solidFill>
                  <a:srgbClr val="292929"/>
                </a:solidFill>
              </a:defRPr>
            </a:lvl6pPr>
            <a:lvl7pPr>
              <a:buNone/>
              <a:defRPr sz="1350" b="0">
                <a:solidFill>
                  <a:srgbClr val="292929"/>
                </a:solidFill>
              </a:defRPr>
            </a:lvl7pPr>
            <a:lvl8pPr>
              <a:buNone/>
              <a:defRPr sz="1350" b="0">
                <a:solidFill>
                  <a:srgbClr val="292929"/>
                </a:solidFill>
              </a:defRPr>
            </a:lvl8pPr>
            <a:lvl9pPr>
              <a:buNone/>
              <a:defRPr sz="1350" b="0">
                <a:solidFill>
                  <a:srgbClr val="292929"/>
                </a:solidFill>
              </a:defRPr>
            </a:lvl9pPr>
          </a:lstStyle>
          <a:p>
            <a:pPr>
              <a:buNone/>
              <a:defRPr sz="1350" b="0">
                <a:solidFill>
                  <a:srgbClr val="292929"/>
                </a:solidFill>
              </a:defRPr>
            </a:pPr>
            <a:r>
              <a:rPr sz="1350" b="0" dirty="0">
                <a:solidFill>
                  <a:srgbClr val="292929"/>
                </a:solidFill>
              </a:rPr>
              <a:t>3</a:t>
            </a:r>
            <a:r>
              <a:rPr lang="ru-RU" sz="1350" b="0" dirty="0">
                <a:solidFill>
                  <a:srgbClr val="292929"/>
                </a:solidFill>
              </a:rPr>
              <a:t>0</a:t>
            </a:r>
            <a:endParaRPr sz="1350" b="0" dirty="0">
              <a:solidFill>
                <a:srgbClr val="292929"/>
              </a:solidFill>
            </a:endParaRP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424E790-E4E3-4AF0-A591-3945C29F7294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704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550" b="1">
                <a:solidFill>
                  <a:srgbClr val="292929"/>
                </a:solidFill>
              </a:defRPr>
            </a:defPPr>
            <a:lvl1pPr>
              <a:buNone/>
              <a:defRPr sz="2550" b="1">
                <a:solidFill>
                  <a:srgbClr val="292929"/>
                </a:solidFill>
              </a:defRPr>
            </a:lvl1pPr>
            <a:lvl2pPr>
              <a:buNone/>
              <a:defRPr sz="2550" b="1">
                <a:solidFill>
                  <a:srgbClr val="292929"/>
                </a:solidFill>
              </a:defRPr>
            </a:lvl2pPr>
            <a:lvl3pPr>
              <a:buNone/>
              <a:defRPr sz="2550" b="1">
                <a:solidFill>
                  <a:srgbClr val="292929"/>
                </a:solidFill>
              </a:defRPr>
            </a:lvl3pPr>
            <a:lvl4pPr>
              <a:buNone/>
              <a:defRPr sz="2550" b="1">
                <a:solidFill>
                  <a:srgbClr val="292929"/>
                </a:solidFill>
              </a:defRPr>
            </a:lvl4pPr>
            <a:lvl5pPr>
              <a:buNone/>
              <a:defRPr sz="2550" b="1">
                <a:solidFill>
                  <a:srgbClr val="292929"/>
                </a:solidFill>
              </a:defRPr>
            </a:lvl5pPr>
            <a:lvl6pPr>
              <a:buNone/>
              <a:defRPr sz="2550" b="1">
                <a:solidFill>
                  <a:srgbClr val="292929"/>
                </a:solidFill>
              </a:defRPr>
            </a:lvl6pPr>
            <a:lvl7pPr>
              <a:buNone/>
              <a:defRPr sz="2550" b="1">
                <a:solidFill>
                  <a:srgbClr val="292929"/>
                </a:solidFill>
              </a:defRPr>
            </a:lvl7pPr>
            <a:lvl8pPr>
              <a:buNone/>
              <a:defRPr sz="2550" b="1">
                <a:solidFill>
                  <a:srgbClr val="292929"/>
                </a:solidFill>
              </a:defRPr>
            </a:lvl8pPr>
            <a:lvl9pPr>
              <a:buNone/>
              <a:defRPr sz="255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2550" b="1">
                <a:solidFill>
                  <a:srgbClr val="292929"/>
                </a:solidFill>
              </a:defRPr>
            </a:pPr>
            <a:r>
              <a:rPr sz="2550" b="1">
                <a:solidFill>
                  <a:srgbClr val="292929"/>
                </a:solidFill>
              </a:rPr>
              <a:t>Репозиторий решения</a:t>
            </a:r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3E66F1B8-3C02-428F-B577-19656BF0AD7D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4745691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2025" b="0">
                <a:solidFill>
                  <a:srgbClr val="292929"/>
                </a:solidFill>
              </a:defRPr>
            </a:defPPr>
            <a:lvl1pPr>
              <a:buNone/>
              <a:defRPr sz="2025" b="0">
                <a:solidFill>
                  <a:srgbClr val="292929"/>
                </a:solidFill>
              </a:defRPr>
            </a:lvl1pPr>
            <a:lvl2pPr>
              <a:buNone/>
              <a:defRPr sz="2025" b="0">
                <a:solidFill>
                  <a:srgbClr val="292929"/>
                </a:solidFill>
              </a:defRPr>
            </a:lvl2pPr>
            <a:lvl3pPr>
              <a:buNone/>
              <a:defRPr sz="2025" b="0">
                <a:solidFill>
                  <a:srgbClr val="292929"/>
                </a:solidFill>
              </a:defRPr>
            </a:lvl3pPr>
            <a:lvl4pPr>
              <a:buNone/>
              <a:defRPr sz="2025" b="0">
                <a:solidFill>
                  <a:srgbClr val="292929"/>
                </a:solidFill>
              </a:defRPr>
            </a:lvl4pPr>
            <a:lvl5pPr>
              <a:buNone/>
              <a:defRPr sz="2025" b="0">
                <a:solidFill>
                  <a:srgbClr val="292929"/>
                </a:solidFill>
              </a:defRPr>
            </a:lvl5pPr>
            <a:lvl6pPr>
              <a:buNone/>
              <a:defRPr sz="2025" b="0">
                <a:solidFill>
                  <a:srgbClr val="292929"/>
                </a:solidFill>
              </a:defRPr>
            </a:lvl6pPr>
            <a:lvl7pPr>
              <a:buNone/>
              <a:defRPr sz="2025" b="0">
                <a:solidFill>
                  <a:srgbClr val="292929"/>
                </a:solidFill>
              </a:defRPr>
            </a:lvl7pPr>
            <a:lvl8pPr>
              <a:buNone/>
              <a:defRPr sz="2025" b="0">
                <a:solidFill>
                  <a:srgbClr val="292929"/>
                </a:solidFill>
              </a:defRPr>
            </a:lvl8pPr>
            <a:lvl9pPr>
              <a:buNone/>
              <a:defRPr sz="2025" b="0">
                <a:solidFill>
                  <a:srgbClr val="292929"/>
                </a:solidFill>
              </a:defRPr>
            </a:lvl9pPr>
          </a:lstStyle>
          <a:p>
            <a:pPr>
              <a:buNone/>
              <a:defRPr sz="2025" b="0">
                <a:solidFill>
                  <a:srgbClr val="292929"/>
                </a:solidFill>
              </a:defRPr>
            </a:pPr>
            <a:r>
              <a:rPr sz="2025" b="0">
                <a:solidFill>
                  <a:srgbClr val="292929"/>
                </a:solidFill>
              </a:rPr>
              <a:t>github.com/Antibote/pinn-eos-aluminum</a:t>
            </a:r>
          </a:p>
        </p:txBody>
      </p:sp>
      <p:sp>
        <p:nvSpPr>
          <p:cNvPr id="8" name="content">
            <a:extLst>
              <a:ext uri="{FF2B5EF4-FFF2-40B4-BE49-F238E27FC236}">
                <a16:creationId xmlns:a16="http://schemas.microsoft.com/office/drawing/2014/main" id="{40168C44-8FB0-4F01-AAF9-9731B356BF1A}"/>
              </a:ext>
            </a:extLst>
          </p:cNvPr>
          <p:cNvSpPr>
            <a:spLocks noGrp="1"/>
          </p:cNvSpPr>
          <p:nvPr/>
        </p:nvSpPr>
        <p:spPr>
          <a:xfrm>
            <a:off x="857250" y="3232337"/>
            <a:ext cx="7048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>
              <a:defRPr sz="3150" b="1">
                <a:solidFill>
                  <a:srgbClr val="292929"/>
                </a:solidFill>
              </a:defRPr>
            </a:defPPr>
            <a:lvl1pPr>
              <a:buNone/>
              <a:defRPr sz="3150" b="1">
                <a:solidFill>
                  <a:srgbClr val="292929"/>
                </a:solidFill>
              </a:defRPr>
            </a:lvl1pPr>
            <a:lvl2pPr>
              <a:buNone/>
              <a:defRPr sz="3150" b="1">
                <a:solidFill>
                  <a:srgbClr val="292929"/>
                </a:solidFill>
              </a:defRPr>
            </a:lvl2pPr>
            <a:lvl3pPr>
              <a:buNone/>
              <a:defRPr sz="3150" b="1">
                <a:solidFill>
                  <a:srgbClr val="292929"/>
                </a:solidFill>
              </a:defRPr>
            </a:lvl3pPr>
            <a:lvl4pPr>
              <a:buNone/>
              <a:defRPr sz="3150" b="1">
                <a:solidFill>
                  <a:srgbClr val="292929"/>
                </a:solidFill>
              </a:defRPr>
            </a:lvl4pPr>
            <a:lvl5pPr>
              <a:buNone/>
              <a:defRPr sz="3150" b="1">
                <a:solidFill>
                  <a:srgbClr val="292929"/>
                </a:solidFill>
              </a:defRPr>
            </a:lvl5pPr>
            <a:lvl6pPr>
              <a:buNone/>
              <a:defRPr sz="3150" b="1">
                <a:solidFill>
                  <a:srgbClr val="292929"/>
                </a:solidFill>
              </a:defRPr>
            </a:lvl6pPr>
            <a:lvl7pPr>
              <a:buNone/>
              <a:defRPr sz="3150" b="1">
                <a:solidFill>
                  <a:srgbClr val="292929"/>
                </a:solidFill>
              </a:defRPr>
            </a:lvl7pPr>
            <a:lvl8pPr>
              <a:buNone/>
              <a:defRPr sz="3150" b="1">
                <a:solidFill>
                  <a:srgbClr val="292929"/>
                </a:solidFill>
              </a:defRPr>
            </a:lvl8pPr>
            <a:lvl9pPr>
              <a:buNone/>
              <a:defRPr sz="3150" b="1">
                <a:solidFill>
                  <a:srgbClr val="292929"/>
                </a:solidFill>
              </a:defRPr>
            </a:lvl9pPr>
          </a:lstStyle>
          <a:p>
            <a:pPr>
              <a:buNone/>
              <a:defRPr sz="3150" b="1">
                <a:solidFill>
                  <a:srgbClr val="292929"/>
                </a:solidFill>
              </a:defRPr>
            </a:pPr>
            <a:r>
              <a:rPr sz="3150" b="1" dirty="0" err="1">
                <a:solidFill>
                  <a:srgbClr val="292929"/>
                </a:solidFill>
              </a:rPr>
              <a:t>Спасибо</a:t>
            </a:r>
            <a:r>
              <a:rPr sz="3150" b="1" dirty="0">
                <a:solidFill>
                  <a:srgbClr val="292929"/>
                </a:solidFill>
              </a:rPr>
              <a:t> </a:t>
            </a:r>
            <a:r>
              <a:rPr sz="3150" b="1" dirty="0" err="1">
                <a:solidFill>
                  <a:srgbClr val="292929"/>
                </a:solidFill>
              </a:rPr>
              <a:t>за</a:t>
            </a:r>
            <a:r>
              <a:rPr sz="3150" b="1" dirty="0">
                <a:solidFill>
                  <a:srgbClr val="292929"/>
                </a:solidFill>
              </a:rPr>
              <a:t> </a:t>
            </a:r>
            <a:r>
              <a:rPr sz="3150" b="1" dirty="0" err="1">
                <a:solidFill>
                  <a:srgbClr val="292929"/>
                </a:solidFill>
              </a:rPr>
              <a:t>внимание</a:t>
            </a:r>
            <a:r>
              <a:rPr sz="3150" b="1" dirty="0">
                <a:solidFill>
                  <a:srgbClr val="292929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48206629"/>
      </p:ext>
    </p:extLst>
  </p:cSld>
  <p:clrMapOvr>
    <a:masterClrMapping/>
  </p:clrMapOvr>
</p:sld>
</file>

<file path=ppt/theme/theme1.xml><?xml version="1.0" encoding="utf-8"?>
<a:theme xmlns:a="http://schemas.openxmlformats.org/drawingml/2006/main" name="Formal Style Case Report by Slidesgo">
  <a:themeElements>
    <a:clrScheme name="Simple Light">
      <a:dk1>
        <a:srgbClr val="292929"/>
      </a:dk1>
      <a:lt1>
        <a:srgbClr val="FFFFFF"/>
      </a:lt1>
      <a:dk2>
        <a:srgbClr val="D9D9D9"/>
      </a:dk2>
      <a:lt2>
        <a:srgbClr val="B1C9D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9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ormal Style Case Report by Slidesgo">
  <a:themeElements>
    <a:clrScheme name="Simple Light">
      <a:dk1>
        <a:srgbClr val="292929"/>
      </a:dk1>
      <a:lt1>
        <a:srgbClr val="FFFFFF"/>
      </a:lt1>
      <a:dk2>
        <a:srgbClr val="D9D9D9"/>
      </a:dk2>
      <a:lt2>
        <a:srgbClr val="B1C9D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9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3197</Words>
  <Application>Microsoft Macintosh PowerPoint</Application>
  <DocSecurity>0</DocSecurity>
  <PresentationFormat>Экран (16:9)</PresentationFormat>
  <Paragraphs>448</Paragraphs>
  <Slides>32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32</vt:i4>
      </vt:variant>
    </vt:vector>
  </HeadingPairs>
  <TitlesOfParts>
    <vt:vector size="40" baseType="lpstr">
      <vt:lpstr>Calibri</vt:lpstr>
      <vt:lpstr>Open Sans</vt:lpstr>
      <vt:lpstr>Cambria Math</vt:lpstr>
      <vt:lpstr>Proxima Nova</vt:lpstr>
      <vt:lpstr>Sora</vt:lpstr>
      <vt:lpstr>Arial</vt:lpstr>
      <vt:lpstr>Formal Style Case Report by Slidesgo</vt:lpstr>
      <vt:lpstr>Slidesgo Final Pages</vt:lpstr>
      <vt:lpstr>Нейросетевая аппроксимация широкодиапазонного уравнения состояния вещества с учетом термодинамических ограничений</vt:lpstr>
      <vt:lpstr>Цель</vt:lpstr>
      <vt:lpstr>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Асимметрия и эксцесс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PINN: карта и сечения скорости звука без учета свойств термодинамики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87</cp:lastModifiedBy>
  <cp:revision>4</cp:revision>
  <dcterms:created xsi:type="dcterms:W3CDTF">2026-10-28T16:52:21Z</dcterms:created>
  <dcterms:modified xsi:type="dcterms:W3CDTF">2026-10-28T18:36:18Z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2026-10-28T16:55:40Z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c09ae06f-d37a-40fe-bfdf-af69913b0099</vt:lpwstr>
  </property>
  <property fmtid="{D5CDD505-2E9C-101B-9397-08002B2CF9AE}" pid="7" name="MSIP_Label_defa4170-0d19-0005-0004-bc88714345d2_ActionId">
    <vt:lpwstr>195dd0a1-66da-48f6-93dd-4d46e99a0a55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